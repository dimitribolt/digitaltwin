
<file path=[Content_Types].xml><?xml version="1.0" encoding="utf-8"?>
<Types xmlns="http://schemas.openxmlformats.org/package/2006/content-types">
  <Default Extension="xml" ContentType="application/vnd.openxmlformats-package.core-properties+xml"/>
  <Default Extension="png" ContentType="image/png"/>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792e60c2a384971" /><Relationship Type="http://schemas.openxmlformats.org/officeDocument/2006/relationships/extended-properties" Target="/docProps/app.xml" Id="Rfd1d5728b7dc4acb" /><Relationship Type="http://schemas.openxmlformats.org/officeDocument/2006/relationships/officeDocument" Target="/ppt/presentation.xml" Id="Rb2b793c6af104fa1" /></Relationships>
</file>

<file path=ppt/presentation.xml><?xml version="1.0" encoding="utf-8"?>
<p:presentation xmlns:p="http://schemas.openxmlformats.org/presentationml/2006/main">
  <p:sldMasterIdLst>
    <p:sldMasterId xmlns:r="http://schemas.openxmlformats.org/officeDocument/2006/relationships" id="2147483648" r:id="Redde2f86b45d4944"/>
  </p:sldMasterIdLst>
  <p:notesMasterIdLst>
    <p:notesMasterId xmlns:r="http://schemas.openxmlformats.org/officeDocument/2006/relationships" r:id="R2ef367b9954f41ba"/>
  </p:notesMasterIdLst>
  <p:sldIdLst>
    <p:sldId xmlns:r="http://schemas.openxmlformats.org/officeDocument/2006/relationships" id="256" r:id="R42fccd9cd8c041b4"/>
    <p:sldId xmlns:r="http://schemas.openxmlformats.org/officeDocument/2006/relationships" id="257" r:id="R049c5160f05a439e"/>
    <p:sldId xmlns:r="http://schemas.openxmlformats.org/officeDocument/2006/relationships" id="258" r:id="Rd86889f6eae14280"/>
    <p:sldId xmlns:r="http://schemas.openxmlformats.org/officeDocument/2006/relationships" id="259" r:id="R324468acef724ece"/>
    <p:sldId xmlns:r="http://schemas.openxmlformats.org/officeDocument/2006/relationships" id="260" r:id="R4ff65e2e64ea41c9"/>
    <p:sldId xmlns:r="http://schemas.openxmlformats.org/officeDocument/2006/relationships" id="261" r:id="Rb87c770b9f784c8f"/>
    <p:sldId xmlns:r="http://schemas.openxmlformats.org/officeDocument/2006/relationships" id="262" r:id="R1f3b9f5f115441b4"/>
    <p:sldId xmlns:r="http://schemas.openxmlformats.org/officeDocument/2006/relationships" id="263" r:id="R1389d3760f5145d3"/>
    <p:sldId xmlns:r="http://schemas.openxmlformats.org/officeDocument/2006/relationships" id="264" r:id="R6630122ac4754aaf"/>
    <p:sldId xmlns:r="http://schemas.openxmlformats.org/officeDocument/2006/relationships" id="265" r:id="Rabd281c997c240df"/>
    <p:sldId xmlns:r="http://schemas.openxmlformats.org/officeDocument/2006/relationships" id="266" r:id="R5df3ec46641b4cea"/>
    <p:sldId xmlns:r="http://schemas.openxmlformats.org/officeDocument/2006/relationships" id="267" r:id="R4d377ccee6df4979"/>
    <p:sldId xmlns:r="http://schemas.openxmlformats.org/officeDocument/2006/relationships" id="268" r:id="R725dc99cbafe44ae"/>
    <p:sldId xmlns:r="http://schemas.openxmlformats.org/officeDocument/2006/relationships" id="269" r:id="Re2639d051568401d"/>
    <p:sldId xmlns:r="http://schemas.openxmlformats.org/officeDocument/2006/relationships" id="270" r:id="R0085fe745edf4c12"/>
    <p:sldId xmlns:r="http://schemas.openxmlformats.org/officeDocument/2006/relationships" id="271" r:id="R75df9f8728cf41bf"/>
    <p:sldId xmlns:r="http://schemas.openxmlformats.org/officeDocument/2006/relationships" id="272" r:id="R22927551f37d401a"/>
    <p:sldId xmlns:r="http://schemas.openxmlformats.org/officeDocument/2006/relationships" id="273" r:id="Rc6956e6fc7ef468c"/>
    <p:sldId xmlns:r="http://schemas.openxmlformats.org/officeDocument/2006/relationships" id="274" r:id="Rced449eea86c4de7"/>
    <p:sldId xmlns:r="http://schemas.openxmlformats.org/officeDocument/2006/relationships" id="275" r:id="Ra7bd03221eac418a"/>
    <p:sldId xmlns:r="http://schemas.openxmlformats.org/officeDocument/2006/relationships" id="276" r:id="R7415c37ffa1a4686"/>
    <p:sldId xmlns:r="http://schemas.openxmlformats.org/officeDocument/2006/relationships" id="277" r:id="R760a7a730e554a56"/>
    <p:sldId xmlns:r="http://schemas.openxmlformats.org/officeDocument/2006/relationships" id="278" r:id="R35583ab1e46e4d6d"/>
    <p:sldId xmlns:r="http://schemas.openxmlformats.org/officeDocument/2006/relationships" id="279" r:id="R8accd47ab2f546a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11fffae522543fd" /><Relationship Type="http://schemas.openxmlformats.org/officeDocument/2006/relationships/slideMaster" Target="/ppt/slideMasters/slideMaster1.xml" Id="Redde2f86b45d4944" /><Relationship Type="http://schemas.openxmlformats.org/officeDocument/2006/relationships/notesMaster" Target="/ppt/notesMasters/notesMaster1.xml" Id="R2ef367b9954f41ba" /><Relationship Type="http://schemas.openxmlformats.org/officeDocument/2006/relationships/presProps" Target="/ppt/presProps.xml" Id="R050f511fea4944d6" /><Relationship Type="http://schemas.openxmlformats.org/officeDocument/2006/relationships/tableStyles" Target="/ppt/tableStyles.xml" Id="R38cd6f3a3e384d52" /><Relationship Type="http://schemas.openxmlformats.org/officeDocument/2006/relationships/slide" Target="/ppt/slides/slide1.xml" Id="R42fccd9cd8c041b4" /><Relationship Type="http://schemas.openxmlformats.org/officeDocument/2006/relationships/slide" Target="/ppt/slides/slide2.xml" Id="R049c5160f05a439e" /><Relationship Type="http://schemas.openxmlformats.org/officeDocument/2006/relationships/slide" Target="/ppt/slides/slide3.xml" Id="Rd86889f6eae14280" /><Relationship Type="http://schemas.openxmlformats.org/officeDocument/2006/relationships/slide" Target="/ppt/slides/slide4.xml" Id="R324468acef724ece" /><Relationship Type="http://schemas.openxmlformats.org/officeDocument/2006/relationships/slide" Target="/ppt/slides/slide5.xml" Id="R4ff65e2e64ea41c9" /><Relationship Type="http://schemas.openxmlformats.org/officeDocument/2006/relationships/slide" Target="/ppt/slides/slide6.xml" Id="Rb87c770b9f784c8f" /><Relationship Type="http://schemas.openxmlformats.org/officeDocument/2006/relationships/slide" Target="/ppt/slides/slide7.xml" Id="R1f3b9f5f115441b4" /><Relationship Type="http://schemas.openxmlformats.org/officeDocument/2006/relationships/slide" Target="/ppt/slides/slide8.xml" Id="R1389d3760f5145d3" /><Relationship Type="http://schemas.openxmlformats.org/officeDocument/2006/relationships/slide" Target="/ppt/slides/slide9.xml" Id="R6630122ac4754aaf" /><Relationship Type="http://schemas.openxmlformats.org/officeDocument/2006/relationships/slide" Target="/ppt/slides/slide10.xml" Id="Rabd281c997c240df" /><Relationship Type="http://schemas.openxmlformats.org/officeDocument/2006/relationships/slide" Target="/ppt/slides/slide11.xml" Id="R5df3ec46641b4cea" /><Relationship Type="http://schemas.openxmlformats.org/officeDocument/2006/relationships/slide" Target="/ppt/slides/slide12.xml" Id="R4d377ccee6df4979" /><Relationship Type="http://schemas.openxmlformats.org/officeDocument/2006/relationships/slide" Target="/ppt/slides/slide13.xml" Id="R725dc99cbafe44ae" /><Relationship Type="http://schemas.openxmlformats.org/officeDocument/2006/relationships/slide" Target="/ppt/slides/slide14.xml" Id="Re2639d051568401d" /><Relationship Type="http://schemas.openxmlformats.org/officeDocument/2006/relationships/slide" Target="/ppt/slides/slide15.xml" Id="R0085fe745edf4c12" /><Relationship Type="http://schemas.openxmlformats.org/officeDocument/2006/relationships/slide" Target="/ppt/slides/slide16.xml" Id="R75df9f8728cf41bf" /><Relationship Type="http://schemas.openxmlformats.org/officeDocument/2006/relationships/slide" Target="/ppt/slides/slide17.xml" Id="R22927551f37d401a" /><Relationship Type="http://schemas.openxmlformats.org/officeDocument/2006/relationships/slide" Target="/ppt/slides/slide18.xml" Id="Rc6956e6fc7ef468c" /><Relationship Type="http://schemas.openxmlformats.org/officeDocument/2006/relationships/slide" Target="/ppt/slides/slide19.xml" Id="Rced449eea86c4de7" /><Relationship Type="http://schemas.openxmlformats.org/officeDocument/2006/relationships/slide" Target="/ppt/slides/slide20.xml" Id="Ra7bd03221eac418a" /><Relationship Type="http://schemas.openxmlformats.org/officeDocument/2006/relationships/slide" Target="/ppt/slides/slide21.xml" Id="R7415c37ffa1a4686" /><Relationship Type="http://schemas.openxmlformats.org/officeDocument/2006/relationships/slide" Target="/ppt/slides/slide22.xml" Id="R760a7a730e554a56" /><Relationship Type="http://schemas.openxmlformats.org/officeDocument/2006/relationships/slide" Target="/ppt/slides/slide23.xml" Id="R35583ab1e46e4d6d" /><Relationship Type="http://schemas.openxmlformats.org/officeDocument/2006/relationships/slide" Target="/ppt/slides/slide24.xml" Id="R8accd47ab2f546a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c3368c7658a403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77d6f9dc6624ebe" /><Relationship Type="http://schemas.openxmlformats.org/officeDocument/2006/relationships/notesMaster" Target="/ppt/notesMasters/notesMaster1.xml" Id="R2f3db4e010e043f7"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7634491d9a45b7" /><Relationship Type="http://schemas.openxmlformats.org/officeDocument/2006/relationships/notesMaster" Target="/ppt/notesMasters/notesMaster1.xml" Id="R3787e5d728454f32" /></Relationships>
</file>

<file path=ppt/notesSlides/_rels/notesSlide3.xml.rels>&#65279;<?xml version="1.0" encoding="utf-8"?><Relationships xmlns="http://schemas.openxmlformats.org/package/2006/relationships"><Relationship Type="http://schemas.openxmlformats.org/officeDocument/2006/relationships/slide" Target="/ppt/slides/slide3.xml" Id="Rd226e0a699224c68" /><Relationship Type="http://schemas.openxmlformats.org/officeDocument/2006/relationships/notesMaster" Target="/ppt/notesMasters/notesMaster1.xml" Id="R7ef1ad88edb44bc2" /></Relationships>
</file>

<file path=ppt/notesSlides/_rels/notesSlide4.xml.rels>&#65279;<?xml version="1.0" encoding="utf-8"?><Relationships xmlns="http://schemas.openxmlformats.org/package/2006/relationships"><Relationship Type="http://schemas.openxmlformats.org/officeDocument/2006/relationships/slide" Target="/ppt/slides/slide4.xml" Id="Ra2089aa273ec4ec5" /><Relationship Type="http://schemas.openxmlformats.org/officeDocument/2006/relationships/notesMaster" Target="/ppt/notesMasters/notesMaster1.xml" Id="R820cbb7320c44c4d"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a0de35401b40f1" /><Relationship Type="http://schemas.openxmlformats.org/officeDocument/2006/relationships/notesMaster" Target="/ppt/notesMasters/notesMaster1.xml" Id="Re6cd3666cc8949f0" /></Relationships>
</file>

<file path=ppt/notesSlides/_rels/notesSlide6.xml.rels>&#65279;<?xml version="1.0" encoding="utf-8"?><Relationships xmlns="http://schemas.openxmlformats.org/package/2006/relationships"><Relationship Type="http://schemas.openxmlformats.org/officeDocument/2006/relationships/slide" Target="/ppt/slides/slide6.xml" Id="Rd837b157561f4779" /><Relationship Type="http://schemas.openxmlformats.org/officeDocument/2006/relationships/notesMaster" Target="/ppt/notesMasters/notesMaster1.xml" Id="Rbda4795029da4162" /></Relationships>
</file>

<file path=ppt/notesSlides/_rels/notesSlide7.xml.rels>&#65279;<?xml version="1.0" encoding="utf-8"?><Relationships xmlns="http://schemas.openxmlformats.org/package/2006/relationships"><Relationship Type="http://schemas.openxmlformats.org/officeDocument/2006/relationships/slide" Target="/ppt/slides/slide7.xml" Id="R042db6fbe2bc49ee" /><Relationship Type="http://schemas.openxmlformats.org/officeDocument/2006/relationships/notesMaster" Target="/ppt/notesMasters/notesMaster1.xml" Id="Ref2efa1e0bc24521" /></Relationships>
</file>

<file path=ppt/notesSlides/_rels/notesSlide8.xml.rels>&#65279;<?xml version="1.0" encoding="utf-8"?><Relationships xmlns="http://schemas.openxmlformats.org/package/2006/relationships"><Relationship Type="http://schemas.openxmlformats.org/officeDocument/2006/relationships/slide" Target="/ppt/slides/slide8.xml" Id="R5a0bb1586a6842f7" /><Relationship Type="http://schemas.openxmlformats.org/officeDocument/2006/relationships/notesMaster" Target="/ppt/notesMasters/notesMaster1.xml" Id="R1d793fd214124ed1" /></Relationships>
</file>

<file path=ppt/notesSlides/_rels/notesSlide9.xml.rels>&#65279;<?xml version="1.0" encoding="utf-8"?><Relationships xmlns="http://schemas.openxmlformats.org/package/2006/relationships"><Relationship Type="http://schemas.openxmlformats.org/officeDocument/2006/relationships/slide" Target="/ppt/slides/slide9.xml" Id="R3513f3f09f1e4ce1" /><Relationship Type="http://schemas.openxmlformats.org/officeDocument/2006/relationships/notesMaster" Target="/ppt/notesMasters/notesMaster1.xml" Id="R73c84a2f596d48f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790389108544ebb" /><Relationship Type="http://schemas.openxmlformats.org/officeDocument/2006/relationships/notesMaster" Target="/ppt/notesMasters/notesMaster1.xml" Id="Rf6652dbe08ca437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ec7514718a24210" /><Relationship Type="http://schemas.openxmlformats.org/officeDocument/2006/relationships/notesMaster" Target="/ppt/notesMasters/notesMaster1.xml" Id="Rab4f884b0847421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1c9f0b0c7b74c64" /><Relationship Type="http://schemas.openxmlformats.org/officeDocument/2006/relationships/notesMaster" Target="/ppt/notesMasters/notesMaster1.xml" Id="Rbfe9d7e21d6d499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bbaad4600344c1a" /><Relationship Type="http://schemas.openxmlformats.org/officeDocument/2006/relationships/notesMaster" Target="/ppt/notesMasters/notesMaster1.xml" Id="R4c153688cbd14c6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a781becd37c427c" /><Relationship Type="http://schemas.openxmlformats.org/officeDocument/2006/relationships/notesMaster" Target="/ppt/notesMasters/notesMaster1.xml" Id="Rae5f0fb81027447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54c1e9417f142c1" /><Relationship Type="http://schemas.openxmlformats.org/officeDocument/2006/relationships/notesMaster" Target="/ppt/notesMasters/notesMaster1.xml" Id="R7fa6d0d2a191423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e1eb8c0ce1b4b4b" /><Relationship Type="http://schemas.openxmlformats.org/officeDocument/2006/relationships/notesMaster" Target="/ppt/notesMasters/notesMaster1.xml" Id="R50662c79ca3c4f5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7fff064daeb4299" /><Relationship Type="http://schemas.openxmlformats.org/officeDocument/2006/relationships/notesMaster" Target="/ppt/notesMasters/notesMaster1.xml" Id="Rbe7b5ad781a3432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16d2e396d7348ec" /><Relationship Type="http://schemas.openxmlformats.org/officeDocument/2006/relationships/notesMaster" Target="/ppt/notesMasters/notesMaster1.xml" Id="R3a71c6b48be54b8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ebad5d76a3c4b10" /><Relationship Type="http://schemas.openxmlformats.org/officeDocument/2006/relationships/notesMaster" Target="/ppt/notesMasters/notesMaster1.xml" Id="Rd5be2f1c01d04a3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91e1d465d234fc6" /><Relationship Type="http://schemas.openxmlformats.org/officeDocument/2006/relationships/notesMaster" Target="/ppt/notesMasters/notesMaster1.xml" Id="Rcc48fd5e062b422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4cf72b1288a443c" /><Relationship Type="http://schemas.openxmlformats.org/officeDocument/2006/relationships/notesMaster" Target="/ppt/notesMasters/notesMaster1.xml" Id="R93a069a6397e483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92634c0e1f549b0" /><Relationship Type="http://schemas.openxmlformats.org/officeDocument/2006/relationships/notesMaster" Target="/ppt/notesMasters/notesMaster1.xml" Id="R7b73040cc9c1456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ded80a90e3b4da4" /><Relationship Type="http://schemas.openxmlformats.org/officeDocument/2006/relationships/notesMaster" Target="/ppt/notesMasters/notesMaster1.xml" Id="Re34ebbe974904cc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d9c081ad08f419a" /><Relationship Type="http://schemas.openxmlformats.org/officeDocument/2006/relationships/notesMaster" Target="/ppt/notesMasters/notesMaster1.xml" Id="R9f16a20bb76948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Research groups are already developing climate-control strategies for Biosphere 2. I propose a shared simulation environment to support their work through additional scenario testing and reproducible evaluation. The same environment would help students test their projects, interpret the results, and refine their control designs. This Virtual Proving Ground would accept a scheduled strategy with 64 control values and simulate its response across 36 RainForest climate channels. Teams could explore climate and energy outcomes, with uncertainty and operating limits visible in each result. Strategy authors would retain ownership of their methods, and Biosphere 2 operations would retain authority over field studies. I am asking for a scoped, offline, sixteen-week Proof of Concept.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platform would build on the climate-control research already underway. Research groups would bring their strategies and research questions to a shared set of scenarios. Together with domain experts, they could choose initial conditions, weather cases, and performance measures relevant to each study. The simulator would return trajectories and uncertainty estimates for discussion by the teams. Authors could use those results alongside their own analyses, models, and experimental evidence. A common record of inputs and assumptions would make additional comparisons easier to reproduce. Students could use the same workflow to understand how their designs behave under different conditions. The contribution is an additional research and teaching tool. Its results would describe behavior within the tested model and scenarios, with the model's own validation limits stated explicitly.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equation describes the forward-simulation step proposed for our platform. Let x sub k denote the measured climate state and u sub k denote the 64-component control vector. Weather and other external context enter through w sub k. The engine estimates the next state through a forward map, x sub k plus one equals F theta of x sub k, u sub k, and w sub k. The resulting trajectories support scenario comparisons using agreed climate, energy, and equipment measures. F theta could represent a gray-box, temporal machine-learning, physics, or hybrid model. The interface could also accommodate a model contributed by a research group. Each engine would document its assumptions and validation evidence. Comparable outputs would include trajectories, uncertainty, constraint flags, and diagnostics for the same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scenario testing could help researchers and operators prepare field studies together. Climate responses involve delays and interactions among air handlers, fans, valves, and outdoor conditions. Simulation would offer another way to explore these effects when discussing operating limits and monitoring plans. Biosphere 2 describes a facility supported by twenty-six air handlers and notes that loss of power on a sunny day could irreparably damage biomes within about twenty minutes. These figures describe the facility's environmental support. They do not measure the risk of a particular strategy or assess any research group's methods. Our proposed testbed would remain offline. Researchers and operators could review its predicted trajectories and uncertainty alongside other evidence when planning separately authorized field studies.</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https://biosphere2.org/about/about-biosphere-2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supports a shared workflow with clear responsibilities. A student, researcher, or engineering team creates a strategy outside the platform. The strategy enters as a timestamped schedule of complete 64-value control vectors. The platform checks units, bounds, timestamps, and missing values. It then combines the schedule with an initial climate state and a weather or operating scenario. A selected simulation engine advances the 36-channel climate state through time. The evaluation layer calculates climate error, energy indicators, stability, constraint violations, and uncertainty. The interface lets authors and operators inspect the results together. Strategy authors retain control of their methods. The platform does not generate, optimize, or silently rewrite submissions. A versioned run record supports reproducible research, while Biosphere 2 operations retains authority over facility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strategy format is intentionally plain. At each timestamp, the file contains one complete vector u of 64 absolute values. These values represent fifteen temperature setpoints, seven supply-fan commands, and forty-two valve, damper, or related operating commands in the current inventory. A value remains active until the next timestamp. Using complete vectors avoids ambiguity about inherited settings and makes every replay deterministic. The first version can accept JSON and CSV. Before simulation, the platform checks the schema, time order, units, admissible ranges, and missing controls. This contract also supports research. A PID controller, a model predictive controller, and a reinforcement-learning agent can all produce the same external file format. We can therefore compare algorithms without coupling the platform to one method.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demonstration shows how a user would work with the proposed system. On the left, the platform loads a prepared strategy containing five snapshots, each with 64 absolute control values. The center shows a deliberately simplified RainForest model. We do not need survey-grade geometry for this decision. Four towers and eighteen physical measurement points are enough to explain the spatial structure. Each point carries temperature and relative humidity, giving 36 climate channels. The timeline replays the scheduled controls. The user can switch between temperature and humidity, select a point, and inspect its trajectory. At the midpoint, the interface raises an illustrative constraint flag so the reviewer can see where an unsafe or undesirable trend would appear. The label at the bottom is essential: this scenario is not yet model-generated. The interface proves the workflow and communication design. Building and validating the causal simulation engine is the work of the proposed Proof of Concept.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https://rainforest-virtual-proving-ground.bolt.linkpc.net/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interface would help teams interpret each simulation result. The first output is the full 36-channel trajectory so we can see spatial differences among the four towers and vertical sensor levels. The second is a time series for any selected point, together with target bands and hard limits. The third is a scorecard for energy, climate performance, and stability. The fourth is uncertainty. If the engine has little support for a proposed control combination or weather condition, the interface must say so. Every warning needs a reason that a reviewer can trace to a channel, timestamp, threshold, and input schedule. These details would help researchers discuss the modeled behavior and help students understand their project results. A flag identifies a condition within that simulation, subject to the engine's assumptions and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Proof of Concept would remain offline. It would not write commands to Biosphere 2 equipment. Every strategy would pass basic schema and bound checks before simulation. The system would preserve the submitted file, model version, scenario, software version, and result so another reviewer can reproduce the run. Any future field experiment would require a separate operating procedure, a named operator, approved limits, rollback conditions, and explicit authorization. This boundary matters because model confidence does not equal operational authority. A good prediction supports a decision. It does not replace the people responsible for the facility. The first milestone is therefore evidence for review, not autonomous control.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stable simulation contract would allow research groups to contribute different engines through a common interface. The input contains the initial 36-channel state, the 64-control schedule, weather and other context, plus the simulation horizon. The output contains predicted trajectories, uncertainty, constraint events, energy indicators, and diagnostic information. One engine may be an LSTM trained on synchronized historical data. Another may be a state-space model that exposes physical coefficients. An adapter may wrap EnergyPlus, Modelica, or a hybrid model. Teams could run the same scenario and strategy through several engines and discuss differences in the results. Each model would retain its documented assumptions, version, and attribution. Our PoC would evaluate candidate engines for its intended use while keeping the strategy interface and teaching workflow stable.</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https://fmi-standard.org/docs/main/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initial benchmark could include four complementary model families. A gray-box state-space model offers interpretable time constants and can work with less data, but it may miss complex nonlinear interactions. A temporal machine-learning model such as an LSTM can learn delays and nonlinear behavior from historical sequences, but it needs synchronized controls, sensors, and context, and it requires careful out-of-distribution checks. A physics-based model in EnergyPlus or Modelica can represent envelopes and HVAC components explicitly, but calibration for a unique biome can be labor intensive. A hybrid model can impose physical structure and learn the residual behavior that the simplified physics misses. The Proof of Concept should not promise that one family will win. It should define test windows, error metrics, uncertainty checks, and computational requirements, then select the simplest engine that meets the operational use case.</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https://simulationresearch.lbl.gov/modelica/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proposal builds on established simulation practice. BOPTEST demonstrates how external control algorithms can interact with a common test environment and receive standardized performance indicators. EnergyPlus and the Modelica Buildings Library provide mature foundations for dynamic building and HVAC simulation. The Functional Mock-up Interface defines a standard way to package and exchange simulation models or coordinate co-simulation. ASHRAE Standard 140 provides a systematic philosophy for testing building energy simulation programs. These precedents support the architecture: a stable interface, versioned test cases, repeatable metrics, and replaceable engines. They do not certify the present RainForest app, and none of them can be applied to this biome without data preparation and calibration. Our implementation would use these foundations while documenting and validating its own RainForest-specific assumptions.</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https://ibpsa.github.io/project1-boptest/index.html</a:t>
            </a:r>
          </a:p>
          <a:p xmlns:a="http://schemas.openxmlformats.org/drawingml/2006/main">
            <a:r>
              <a:t/>
            </a:r>
          </a:p>
          <a:p xmlns:a="http://schemas.openxmlformats.org/drawingml/2006/main">
            <a:r>
              <a:t>https://ibpsa.github.io/project1-boptest/docs-userguide/introduction.html</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https://simulationresearch.lbl.gov/modelica/</a:t>
            </a:r>
          </a:p>
          <a:p xmlns:a="http://schemas.openxmlformats.org/drawingml/2006/main">
            <a:r>
              <a:t/>
            </a:r>
          </a:p>
          <a:p xmlns:a="http://schemas.openxmlformats.org/drawingml/2006/main">
            <a:r>
              <a:t>https://fmi-standard.org/docs/main/</a:t>
            </a:r>
          </a:p>
          <a:p xmlns:a="http://schemas.openxmlformats.org/drawingml/2006/main">
            <a:r>
              <a:t/>
            </a:r>
          </a:p>
          <a:p xmlns:a="http://schemas.openxmlformats.org/drawingml/2006/main">
            <a:r>
              <a:t>https://data.ashrae.org/standard140/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central purpose of the simulator is student learning. Students would develop a climate-control project, test it against documented scenarios, and examine the resulting trajectories. With faculty feedback, they could investigate why a design behaves differently across conditions and then revise it. This process would provide practice in experimental design, interpreting uncertainty, and connecting mathematical methods to a real environmental system. A documented strategy format would let students explore PID, MPC, reinforcement learning, or other approaches using the same interface. Versioned runs would help them explain and reproduce their findings. Student code would remain in an offline environment, separate from facility equipment. Hackathons, focused research projects, and possible publications could extend this educational use. The primary outcome would be students developing stronger research and engineering skills through guided experimentation.</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https://ibpsa.github.io/project1-boptest/index.html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platform would support research on energy use while maintaining the climate conditions the biome requires. Teams could compare schedules under agreed scenarios and examine climate trajectories alongside fan demand, valve motion, and other equipment indicators. Authors could explore when different strategies deliver similar climate performance with different energy requirements. These comparisons would complement the teams' existing analyses and help inform jointly planned field studies. Energy-cost savings are a potential benefit to investigate. Our PoC would first need calibrated energy relationships and validation against measurements, so I am not proposing a savings percentage or dollar figure today. Reproducible scenario results could also support research proposals, student projects, and grant applications, with assumptions and model limitations attached to each result.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https://biosphere2.org/research/user-facility-information/energy-and-water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 fits into four stages. During weeks one through four, we align the 64-control inventory with the 36 climate channels, weather and operating context, energy signals, timestamps, units, and operating limits. This stage also defines training and holdout periods for independent assessment of our models. During weeks five through eight, we build and benchmark at least two practical engine families, quantify forecast error, and add uncertainty or out-of-distribution diagnostics. During weeks nine through twelve, we implement the stable module interface, scenario definitions, climate and energy indicators, constraint logic, and the review interface. During weeks thirteen through sixteen, we replay historical periods, compare predictions with measured outcomes, conduct operator review, and run acceptance tests. The final deliverable is not a claim of autonomous control. It is a working offline testbed, a validation report, documented limitations, and a recommendation on Phase 2 investment.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am asking for approval to build the sixteen-week offline Proof of Concept. The project needs a Biosphere 2 operations liaison and authorized access to synchronized control histories, RainForest climate measurements, relevant weather and operating context, energy signals, and known operating limits. I would lead the implementation under the academic supervision of Dr. Ildar Gabitov. Researchers and Biosphere 2 staff would help define relevant scenarios and review the assumptions and acceptance criteria. At the end, leadership would receive the working testbed, model benchmark, validation evidence, limitations, and a Phase 2 recommendation. No equipment connection is part of this request. The proposed PoC would support existing climate-control research and give students a shared environment for testing and improving their projects.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our prototype and the work proposed for this project. We already have a 64-control inventory, a 36-channel RainForest measurement schema, data-pipeline code, a timestamped strategy format, and an illustrative interface with a simplified three-dimensional RainForest model. Our displayed trajectories are not yet generated by a validated causal engine. Our PoC must establish synchronized training and validation data, select and calibrate an engine, quantify uncertainty, define energy indicators, and validate operating constraints. These are development requirements for our implementation, not an assessment of other groups' models or validation work. The schematic geometry is sufficient for this phase. Survey-grade CAD, E57 conversion, live equipment write access, and autonomous operation remain outside our scope.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alignment is the first technical risk for our implementation. We need commanded values and, where available, actual actuator states. We need temperature and humidity measurements with sensor quality information. We need weather, schedules, maintenance events, and changes in operating mode because they can explain apparent dynamics. Energy or equipment-power indicators are necessary before the system can support savings claims. The evaluation must preserve chronological holdout periods and include seasonal and unusual operating conditions. Acceptance should examine prediction error by channel and horizon, constraint-event detection, calibration of uncertainty, robustness to missing signals, and whether the engine rejects unsupported scenarios rather than returning false confidence.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Q&amp;A answers for questions one through three. The key message is that one global accuracy number is insufficient. Acceptance thresholds depend on horizon, channel, and decision. Missing data requires explicit quality flags and degraded modes. Causal claims require time-aligned controls, context, historical interventions, and carefully governed field tests only after offline validation.</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1. How accurate must the simulator be before it is useful?</a:t>
            </a:r>
          </a:p>
          <a:p xmlns:a="http://schemas.openxmlformats.org/drawingml/2006/main">
            <a:r>
              <a:t>The threshold depends on the decision. A model used to rank strategies may be useful before it is accurate enough to support a tightly bounded field trial. The PoC will report error by channel, forecast horizon, season, and operating region. It will also test whether uncertainty expands when the proposed strategy differs from the training data. Biosphere 2 operations should approve acceptance thresholds for each use case.</a:t>
            </a:r>
          </a:p>
          <a:p xmlns:a="http://schemas.openxmlformats.org/drawingml/2006/main">
            <a:r>
              <a:t/>
            </a:r>
          </a:p>
          <a:p xmlns:a="http://schemas.openxmlformats.org/drawingml/2006/main">
            <a:r>
              <a:t>2. What happens when sensors are missing or unreliable?</a:t>
            </a:r>
          </a:p>
          <a:p xmlns:a="http://schemas.openxmlformats.org/drawingml/2006/main">
            <a:r>
              <a:t>The platform will preserve quality flags, identify missing channels, and use only documented imputation or state-estimation methods. Results will show when the engine runs in a degraded mode. If the missing information makes a conclusion unreliable, the simulator should reject the run or widen its uncertainty rather than fill the gap silently.</a:t>
            </a:r>
          </a:p>
          <a:p xmlns:a="http://schemas.openxmlformats.org/drawingml/2006/main">
            <a:r>
              <a:t/>
            </a:r>
          </a:p>
          <a:p xmlns:a="http://schemas.openxmlformats.org/drawingml/2006/main">
            <a:r>
              <a:t>3. How will you prove that controls caused the predicted climate response?</a:t>
            </a:r>
          </a:p>
          <a:p xmlns:a="http://schemas.openxmlformats.org/drawingml/2006/main">
            <a:r>
              <a:t>Historical correlation alone cannot prove causality. The PoC will align command histories, actual actuator states when available, sensor measurements, weather, schedules, and operating modes. It will test models on untouched chronological periods and examine natural or documented interventions. Any later field identification experiment would require a separate operator-approved protocol with safe bounds and rollback conditions.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Q&amp;A answers for questions four through six. The PoC has no write path to equipment. Biosphere 2 operations retains authority for any future trial. Security begins with offline data access, least privilege, versioned artifacts, and separation between the research environment and operational controls.</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4. Could this system damage equipment or the biome?</a:t>
            </a:r>
          </a:p>
          <a:p xmlns:a="http://schemas.openxmlformats.org/drawingml/2006/main">
            <a:r>
              <a:t>The proposed PoC cannot write to facility equipment. It is an offline advisory testbed. It validates file structure and control bounds, then returns predicted consequences for review. A future equipment connection would require a separate project, safety case, operating procedure, cybersecurity review, named authority, and tested rollback path.</a:t>
            </a:r>
          </a:p>
          <a:p xmlns:a="http://schemas.openxmlformats.org/drawingml/2006/main">
            <a:r>
              <a:t/>
            </a:r>
          </a:p>
          <a:p xmlns:a="http://schemas.openxmlformats.org/drawingml/2006/main">
            <a:r>
              <a:t>5. Who decides whether a strategy can be tested in the real facility?</a:t>
            </a:r>
          </a:p>
          <a:p xmlns:a="http://schemas.openxmlformats.org/drawingml/2006/main">
            <a:r>
              <a:t>Biosphere 2 operations retains that authority. Model developers can provide evidence and recommendations, but model confidence does not authorize deployment. Any field trial should have an approved scope, operator, time window, limits, monitoring plan, and stop conditions.</a:t>
            </a:r>
          </a:p>
          <a:p xmlns:a="http://schemas.openxmlformats.org/drawingml/2006/main">
            <a:r>
              <a:t/>
            </a:r>
          </a:p>
          <a:p xmlns:a="http://schemas.openxmlformats.org/drawingml/2006/main">
            <a:r>
              <a:t>6. How will cybersecurity and access control be handled?</a:t>
            </a:r>
          </a:p>
          <a:p xmlns:a="http://schemas.openxmlformats.org/drawingml/2006/main">
            <a:r>
              <a:t>The first phase uses offline copies of authorized data and has no operational write path. Access should follow least privilege. Strategy files, models, scenarios, and results will be versioned. Research services should remain separated from building-control networks. Any later integration would require review by the responsible University and Biosphere 2 security teams.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Q&amp;A answers for questions seven through nine. EnergyPlus offers a strong foundation but still needs a defensible representation and calibration for this unusual biome. LSTM is a candidate for temporal nonlinear behavior, not a predetermined winner. A common engine contract, with possible FMI or FMU adapters, lets the platform compare and replace models without changing the strategy workflow.</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7. Why not use EnergyPlus as the entire solution?</a:t>
            </a:r>
          </a:p>
          <a:p xmlns:a="http://schemas.openxmlformats.org/drawingml/2006/main">
            <a:r>
              <a:t>EnergyPlus is a mature engine for whole-building and HVAC simulation, but the RainForest is an unusual, highly coupled biome. A useful EnergyPlus model would still require geometry, system representation, parameter calibration, and validation against facility data. The PoC treats EnergyPlus as one candidate or component and compares it with lower-order and data-driven alternatives.</a:t>
            </a:r>
          </a:p>
          <a:p xmlns:a="http://schemas.openxmlformats.org/drawingml/2006/main">
            <a:r>
              <a:t/>
            </a:r>
          </a:p>
          <a:p xmlns:a="http://schemas.openxmlformats.org/drawingml/2006/main">
            <a:r>
              <a:t>8. Why are you considering an LSTM?</a:t>
            </a:r>
          </a:p>
          <a:p xmlns:a="http://schemas.openxmlformats.org/drawingml/2006/main">
            <a:r>
              <a:t>An LSTM can represent nonlinear temporal relationships and delayed responses in long sensor histories. It may provide a practical surrogate for repeated strategy evaluation. Its limitations are equally important: it needs synchronized causal inputs, can fail outside its training region, and is harder to interpret. The PoC benchmarks it rather than assuming it is the answer.</a:t>
            </a:r>
          </a:p>
          <a:p xmlns:a="http://schemas.openxmlformats.org/drawingml/2006/main">
            <a:r>
              <a:t/>
            </a:r>
          </a:p>
          <a:p xmlns:a="http://schemas.openxmlformats.org/drawingml/2006/main">
            <a:r>
              <a:t>9. How can a new mathematical engine be added later?</a:t>
            </a:r>
          </a:p>
          <a:p xmlns:a="http://schemas.openxmlformats.org/drawingml/2006/main">
            <a:r>
              <a:t>Every engine implements the same input and output contract. It receives an initial state, a 64-control schedule, context, and a horizon. It returns 36-channel trajectories, uncertainty, constraints, energy indicators, and diagnostics. An adapter can wrap a state-space model, a machine-learning service, EnergyPlus, Modelica, or an FMI-compatible model.</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https://fmi-standard.org/docs/main/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Q&amp;A answers for questions ten through twelve. Savings require a calibrated energy baseline and later controlled comparison, so no percentage is promised now. The main resource request is staff access to data and operating knowledge, plus focused implementation time and ordinary compute. Sixteen weeks provides enough time to resolve data alignment, benchmark models, build the testbed, and complete operator-reviewed validation without pretending to deliver production control.</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10. How will you prove energy savings?</a:t>
            </a:r>
          </a:p>
          <a:p xmlns:a="http://schemas.openxmlformats.org/drawingml/2006/main">
            <a:r>
              <a:t>The PoC will first define energy indicators and calibrate them against available equipment or facility energy measurements. It can then compare strategies under identical simulated scenarios. A real savings claim would require an approved baseline and controlled operational validation that accounts for weather and operating differences. No percentage or dollar figure should be claimed before that evidence exists.</a:t>
            </a:r>
          </a:p>
          <a:p xmlns:a="http://schemas.openxmlformats.org/drawingml/2006/main">
            <a:r>
              <a:t/>
            </a:r>
          </a:p>
          <a:p xmlns:a="http://schemas.openxmlformats.org/drawingml/2006/main">
            <a:r>
              <a:t>11. What resources does the Proof of Concept require?</a:t>
            </a:r>
          </a:p>
          <a:p xmlns:a="http://schemas.openxmlformats.org/drawingml/2006/main">
            <a:r>
              <a:t>The essential resources are authorized access to synchronized control, sensor, weather, operating-context, and energy data; regular time with an operations liaison; implementation effort; and ordinary model-training and simulation compute. The first four weeks will determine whether additional instrumentation or specialized software is necessary.</a:t>
            </a:r>
          </a:p>
          <a:p xmlns:a="http://schemas.openxmlformats.org/drawingml/2006/main">
            <a:r>
              <a:t/>
            </a:r>
          </a:p>
          <a:p xmlns:a="http://schemas.openxmlformats.org/drawingml/2006/main">
            <a:r>
              <a:t>12. Why is the schedule sixteen weeks?</a:t>
            </a:r>
          </a:p>
          <a:p xmlns:a="http://schemas.openxmlformats.org/drawingml/2006/main">
            <a:r>
              <a:t>Our proposed sixteen-week schedule covers four stages: data alignment, model benchmarking, platform integration, and historical replay with operator review. It allows time to assess our engine and its limitations, document the scenarios, and prepare a shared testbed for research and teaching. The scope remains narrow enough to end with a clear decision about Phase 2.</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https://biosphere2.org/research/user-facility-information/energy-and-water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Q&amp;A answers for questions thirteen through fifteen. Student algorithms remain outside the operational network and run against versioned benchmark scenarios. Data access, publication review, authorship, and intellectual property follow written University and Biosphere 2 rules. The PoC closes with a governance recommendation that identifies an operational owner, a technical maintainer, release criteria, and a review process for new models and scenarios.</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13. How will you prevent student code from creating operational risk?</a:t>
            </a:r>
          </a:p>
          <a:p xmlns:a="http://schemas.openxmlformats.org/drawingml/2006/main">
            <a:r>
              <a:t>Students will work against offline benchmark scenarios and a documented strategy interface. Their code will not connect to facility equipment. Submissions can run in isolated containers with resource limits. The platform will validate outputs and preserve a complete run record. Only Biosphere 2 operations could authorize any later field evaluation.</a:t>
            </a:r>
          </a:p>
          <a:p xmlns:a="http://schemas.openxmlformats.org/drawingml/2006/main">
            <a:r>
              <a:t/>
            </a:r>
          </a:p>
          <a:p xmlns:a="http://schemas.openxmlformats.org/drawingml/2006/main">
            <a:r>
              <a:t>14. How will publications, data rights, and intellectual property be managed?</a:t>
            </a:r>
          </a:p>
          <a:p xmlns:a="http://schemas.openxmlformats.org/drawingml/2006/main">
            <a:r>
              <a:t>The program should establish written rules before external participation. Those rules should identify which datasets can be shared, how sensitive operating information is protected, how results are reviewed before publication, and how authorship and intellectual property follow University and Biosphere 2 policy. Reproducible benchmark results make those decisions easier to audit.</a:t>
            </a:r>
          </a:p>
          <a:p xmlns:a="http://schemas.openxmlformats.org/drawingml/2006/main">
            <a:r>
              <a:t/>
            </a:r>
          </a:p>
          <a:p xmlns:a="http://schemas.openxmlformats.org/drawingml/2006/main">
            <a:r>
              <a:t>15. Who owns and maintains the platform after the PoC?</a:t>
            </a:r>
          </a:p>
          <a:p xmlns:a="http://schemas.openxmlformats.org/drawingml/2006/main">
            <a:r>
              <a:t>The PoC will end with a governance recommendation rather than assume an owner. A sustainable arrangement needs a Biosphere 2 operational owner, a named technical maintainer, model and scenario release criteria, a review calendar, and a process for incident reporting and retirement of outdated engines. Leadership can decide whether that structure belongs in a research group, operations, or a joint program.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provides the complete source list used in the presentation and a QR code for the live illustrative interface. The external references support the facility context and the simulation architecture. Project-specific counts and workflow descriptions come from the DigitalTwin control and sensor inventories and the current application source. The live app remains labeled as an illustrative scenario until a validated model produces the trajectories.</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https://biosphere2.org/about/about-biosphere-2</a:t>
            </a:r>
          </a:p>
          <a:p xmlns:a="http://schemas.openxmlformats.org/drawingml/2006/main">
            <a:r>
              <a:t/>
            </a:r>
          </a:p>
          <a:p xmlns:a="http://schemas.openxmlformats.org/drawingml/2006/main">
            <a:r>
              <a:t>https://biosphere2.org/research/user-facility-information/energy-and-water</a:t>
            </a:r>
          </a:p>
          <a:p xmlns:a="http://schemas.openxmlformats.org/drawingml/2006/main">
            <a:r>
              <a:t/>
            </a:r>
          </a:p>
          <a:p xmlns:a="http://schemas.openxmlformats.org/drawingml/2006/main">
            <a:r>
              <a:t>https://ibpsa.github.io/project1-boptest/index.html</a:t>
            </a:r>
          </a:p>
          <a:p xmlns:a="http://schemas.openxmlformats.org/drawingml/2006/main">
            <a:r>
              <a:t/>
            </a:r>
          </a:p>
          <a:p xmlns:a="http://schemas.openxmlformats.org/drawingml/2006/main">
            <a:r>
              <a:t>https://ibpsa.github.io/project1-boptest/docs-userguide/introduction.html</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https://simulationresearch.lbl.gov/modelica/</a:t>
            </a:r>
          </a:p>
          <a:p xmlns:a="http://schemas.openxmlformats.org/drawingml/2006/main">
            <a:r>
              <a:t/>
            </a:r>
          </a:p>
          <a:p xmlns:a="http://schemas.openxmlformats.org/drawingml/2006/main">
            <a:r>
              <a:t>https://fmi-standard.org/docs/main/</a:t>
            </a:r>
          </a:p>
          <a:p xmlns:a="http://schemas.openxmlformats.org/drawingml/2006/main">
            <a:r>
              <a:t/>
            </a:r>
          </a:p>
          <a:p xmlns:a="http://schemas.openxmlformats.org/drawingml/2006/main">
            <a:r>
              <a:t>https://data.ashrae.org/standard140/</a:t>
            </a:r>
          </a:p>
          <a:p xmlns:a="http://schemas.openxmlformats.org/drawingml/2006/main">
            <a:r>
              <a:t/>
            </a:r>
          </a:p>
          <a:p xmlns:a="http://schemas.openxmlformats.org/drawingml/2006/main">
            <a:r>
              <a:t>https://rainforest-virtual-proving-ground.bolt.linkpc.net/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73ce5b807ae4a1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ff1c1c71214d92" /><Relationship Type="http://schemas.openxmlformats.org/officeDocument/2006/relationships/slideLayout" Target="/ppt/slideLayouts/slideLayout1.xml" Id="R49c059d215a3454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9c059d215a3454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a40cc97d16849ab" /><Relationship Type="http://schemas.openxmlformats.org/officeDocument/2006/relationships/image" Target="/ppt/media/image.png" Id="R08133307a1664ec2" /><Relationship Type="http://schemas.openxmlformats.org/officeDocument/2006/relationships/notesSlide" Target="/ppt/notesSlides/notesSlide1.xml" Id="R42f3eb0d0db24bc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d677d692e6a4381" /><Relationship Type="http://schemas.openxmlformats.org/officeDocument/2006/relationships/notesSlide" Target="/ppt/notesSlides/notesSlide2.xml" Id="R136f1ec47afc499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fd33dc4d092442c" /><Relationship Type="http://schemas.openxmlformats.org/officeDocument/2006/relationships/notesSlide" Target="/ppt/notesSlides/notesSlide3.xml" Id="R309ab7a515964c1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23dd228a716406e" /><Relationship Type="http://schemas.openxmlformats.org/officeDocument/2006/relationships/notesSlide" Target="/ppt/notesSlides/notesSlide4.xml" Id="Re425028c9b2d40f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9133281db704984" /><Relationship Type="http://schemas.openxmlformats.org/officeDocument/2006/relationships/notesSlide" Target="/ppt/notesSlides/notesSlide5.xml" Id="R8ada074da80641b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1f6e4723e7445ec" /><Relationship Type="http://schemas.openxmlformats.org/officeDocument/2006/relationships/notesSlide" Target="/ppt/notesSlides/notesSlide6.xml" Id="Rfd95227025d540c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387675536f248f8" /><Relationship Type="http://schemas.openxmlformats.org/officeDocument/2006/relationships/image" Target="/ppt/media/image.gif" Id="Re5a84f1e051e4b65" /><Relationship Type="http://schemas.openxmlformats.org/officeDocument/2006/relationships/image" Target="/ppt/media/image2.png" Id="R596a181dab7a4843" /><Relationship Type="http://schemas.openxmlformats.org/officeDocument/2006/relationships/hyperlink" Target="https://rainforest-virtual-proving-ground.bolt.linkpc.net/" TargetMode="External" Id="R70e8343c6ba146df" /><Relationship Type="http://schemas.openxmlformats.org/officeDocument/2006/relationships/notesSlide" Target="/ppt/notesSlides/notesSlide7.xml" Id="Rbef917c2a09646d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74ca95efcf24d74" /><Relationship Type="http://schemas.openxmlformats.org/officeDocument/2006/relationships/image" Target="/ppt/media/image3.png" Id="Rf9d9e7e2319f471e" /><Relationship Type="http://schemas.openxmlformats.org/officeDocument/2006/relationships/notesSlide" Target="/ppt/notesSlides/notesSlide8.xml" Id="R267534a548554a5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501f679eb894119" /><Relationship Type="http://schemas.openxmlformats.org/officeDocument/2006/relationships/notesSlide" Target="/ppt/notesSlides/notesSlide9.xml" Id="R3673715607214fe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ff6ffdb9b784b81" /><Relationship Type="http://schemas.openxmlformats.org/officeDocument/2006/relationships/notesSlide" Target="/ppt/notesSlides/notesSlide10.xml" Id="Rad36451f8ed44a1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2dafde655cf4644" /><Relationship Type="http://schemas.openxmlformats.org/officeDocument/2006/relationships/notesSlide" Target="/ppt/notesSlides/notesSlide11.xml" Id="R5ae329126b484c7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c9ec751751a47fd" /><Relationship Type="http://schemas.openxmlformats.org/officeDocument/2006/relationships/notesSlide" Target="/ppt/notesSlides/notesSlide12.xml" Id="Rc7214661efa84f6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9694b0364994888" /><Relationship Type="http://schemas.openxmlformats.org/officeDocument/2006/relationships/notesSlide" Target="/ppt/notesSlides/notesSlide13.xml" Id="Rdd22b93e0c02477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1f87353273f4a14" /><Relationship Type="http://schemas.openxmlformats.org/officeDocument/2006/relationships/notesSlide" Target="/ppt/notesSlides/notesSlide14.xml" Id="Rca4c69c6f1e542a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bad328131264128" /><Relationship Type="http://schemas.openxmlformats.org/officeDocument/2006/relationships/notesSlide" Target="/ppt/notesSlides/notesSlide15.xml" Id="Rbc84063c625b44b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62cf5b0f0cd40ac" /><Relationship Type="http://schemas.openxmlformats.org/officeDocument/2006/relationships/image" Target="/ppt/media/image4.png" Id="Rb959281fc27a4119" /><Relationship Type="http://schemas.openxmlformats.org/officeDocument/2006/relationships/notesSlide" Target="/ppt/notesSlides/notesSlide16.xml" Id="Ra5d24a21f7f8422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b7a9571c7d24ae4" /><Relationship Type="http://schemas.openxmlformats.org/officeDocument/2006/relationships/notesSlide" Target="/ppt/notesSlides/notesSlide17.xml" Id="R5ba929f11cb442a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21421f9d7594385" /><Relationship Type="http://schemas.openxmlformats.org/officeDocument/2006/relationships/notesSlide" Target="/ppt/notesSlides/notesSlide18.xml" Id="Ra3da95e1d67642f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eb780ffc7c14f44" /><Relationship Type="http://schemas.openxmlformats.org/officeDocument/2006/relationships/notesSlide" Target="/ppt/notesSlides/notesSlide19.xml" Id="R351180acee5d40b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15a392d2de146a0" /><Relationship Type="http://schemas.openxmlformats.org/officeDocument/2006/relationships/notesSlide" Target="/ppt/notesSlides/notesSlide20.xml" Id="Rdafa6a4e6b4343b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adb0d19d07d4fe0" /><Relationship Type="http://schemas.openxmlformats.org/officeDocument/2006/relationships/notesSlide" Target="/ppt/notesSlides/notesSlide21.xml" Id="R1b6861a5565a4a5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d9abbcae13e4f97" /><Relationship Type="http://schemas.openxmlformats.org/officeDocument/2006/relationships/notesSlide" Target="/ppt/notesSlides/notesSlide22.xml" Id="Rb6670f7020af424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bcc66f0501a47f1" /><Relationship Type="http://schemas.openxmlformats.org/officeDocument/2006/relationships/notesSlide" Target="/ppt/notesSlides/notesSlide23.xml" Id="R8b5cab0ff29942b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7de0b9e55034e52" /><Relationship Type="http://schemas.openxmlformats.org/officeDocument/2006/relationships/hyperlink" Target="https://biosphere2.org/about/about-biosphere-2" TargetMode="External" Id="Rb8883be6c8cf44eb" /><Relationship Type="http://schemas.openxmlformats.org/officeDocument/2006/relationships/hyperlink" Target="https://biosphere2.org/research/user-facility-information/energy-and-water" TargetMode="External" Id="R9e76cc7ee3084638" /><Relationship Type="http://schemas.openxmlformats.org/officeDocument/2006/relationships/hyperlink" Target="https://ibpsa.github.io/project1-boptest" TargetMode="External" Id="R85e090a8300846dc" /><Relationship Type="http://schemas.openxmlformats.org/officeDocument/2006/relationships/hyperlink" Target="https://energyplus.net" TargetMode="External" Id="Rb0e35e14d6034732" /><Relationship Type="http://schemas.openxmlformats.org/officeDocument/2006/relationships/hyperlink" Target="https://simulationresearch.lbl.gov/modelica" TargetMode="External" Id="R183068f75dc54ffc" /><Relationship Type="http://schemas.openxmlformats.org/officeDocument/2006/relationships/hyperlink" Target="https://fmi-standard.org" TargetMode="External" Id="R56008020471943c0" /><Relationship Type="http://schemas.openxmlformats.org/officeDocument/2006/relationships/hyperlink" Target="https://data.ashrae.org/standard140" TargetMode="External" Id="R7cdb445718b342da" /><Relationship Type="http://schemas.openxmlformats.org/officeDocument/2006/relationships/image" Target="/ppt/media/image5.png" Id="R30508c979b504468" /><Relationship Type="http://schemas.openxmlformats.org/officeDocument/2006/relationships/hyperlink" Target="https://rainforest-virtual-proving-ground.bolt.linkpc.net/" TargetMode="External" Id="Rfa36d152cb36414b" /><Relationship Type="http://schemas.openxmlformats.org/officeDocument/2006/relationships/notesSlide" Target="/ppt/notesSlides/notesSlide24.xml" Id="Rd249938234fc4ca0" /></Relationships>
</file>

<file path=ppt/slides/slide1.xml><?xml version="1.0" encoding="utf-8"?>
<p:sld xmlns:p="http://schemas.openxmlformats.org/presentationml/2006/main">
  <p:cSld>
    <p:bg>
      <p:bgPr>
        <a:solidFill xmlns:a="http://schemas.openxmlformats.org/drawingml/2006/main">
          <a:srgbClr val="061710"/>
        </a:solidFill>
      </p:bgPr>
    </p:bg>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08133307a1664ec2"/>
          <a:srcRect xmlns:a="http://schemas.openxmlformats.org/drawingml/2006/main" l="21289" t="0" r="21289" b="0"/>
          <a:stretch xmlns:a="http://schemas.openxmlformats.org/drawingml/2006/main">
            <a:fillRect l="0" t="0" r="0" b="0"/>
          </a:stretch>
        </p:blipFill>
        <p:spPr>
          <a:xfrm xmlns:a="http://schemas.openxmlformats.org/drawingml/2006/main">
            <a:off x="5191125" y="0"/>
            <a:ext cx="7000875"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F6711F8-448B-4F6C-B8D1-C923353B26A8}"/>
              </a:ext>
            </a:extLst>
          </p:cNvPr>
          <p:cNvSpPr>
            <a:spLocks xmlns:a="http://schemas.openxmlformats.org/drawingml/2006/main" noGrp="1"/>
          </p:cNvSpPr>
          <p:nvPr/>
        </p:nvSpPr>
        <p:spPr>
          <a:xfrm xmlns:a="http://schemas.openxmlformats.org/drawingml/2006/main">
            <a:off x="0" y="0"/>
            <a:ext cx="6429375" cy="6858000"/>
          </a:xfrm>
          <a:prstGeom xmlns:a="http://schemas.openxmlformats.org/drawingml/2006/main" prst="rect">
            <a:avLst/>
          </a:prstGeom>
          <a:solidFill xmlns:a="http://schemas.openxmlformats.org/drawingml/2006/main">
            <a:srgbClr val="06171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3439E87-2D6E-493E-A625-E719C796E897}"/>
              </a:ext>
            </a:extLst>
          </p:cNvPr>
          <p:cNvSpPr>
            <a:spLocks xmlns:a="http://schemas.openxmlformats.org/drawingml/2006/main" noGrp="1"/>
          </p:cNvSpPr>
          <p:nvPr/>
        </p:nvSpPr>
        <p:spPr>
          <a:xfrm xmlns:a="http://schemas.openxmlformats.org/drawingml/2006/main">
            <a:off x="5905500" y="0"/>
            <a:ext cx="1524000" cy="6858000"/>
          </a:xfrm>
          <a:prstGeom xmlns:a="http://schemas.openxmlformats.org/drawingml/2006/main" prst="rect">
            <a:avLst/>
          </a:prstGeom>
          <a:gradFill xmlns:a="http://schemas.openxmlformats.org/drawingml/2006/main">
            <a:gsLst>
              <a:gs pos="0">
                <a:srgbClr val="061710"/>
              </a:gs>
              <a:gs pos="100000">
                <a:srgbClr val="061710">
                  <a:alpha val="0"/>
                </a:srgbClr>
              </a:gs>
            </a:gsLst>
            <a:lin ang="5400000"/>
          </a:gra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06A1F4F-23DB-4B1E-BF96-F61E7A5C20A7}"/>
              </a:ext>
            </a:extLst>
          </p:cNvPr>
          <p:cNvSpPr>
            <a:spLocks xmlns:a="http://schemas.openxmlformats.org/drawingml/2006/main" noGrp="1"/>
          </p:cNvSpPr>
          <p:nvPr/>
        </p:nvSpPr>
        <p:spPr>
          <a:xfrm xmlns:a="http://schemas.openxmlformats.org/drawingml/2006/main">
            <a:off x="666750" y="6096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1" i="0">
                <a:solidFill>
                  <a:srgbClr val="2FAD79"/>
                </a:solidFill>
                <a:latin typeface="Arimo"/>
                <a:ea typeface="Arimo"/>
                <a:cs typeface="Arimo"/>
              </a:defRPr>
            </a:pPr>
            <a:r>
              <a:rPr sz="1125" b="1" i="0">
                <a:solidFill>
                  <a:srgbClr val="2FAD79"/>
                </a:solidFill>
                <a:latin typeface="Arimo"/>
                <a:ea typeface="Arimo"/>
                <a:cs typeface="Arimo"/>
              </a:rPr>
              <a:t>BIOSPHERE 2  /  RAINFOREST</a:t>
            </a:r>
          </a:p>
        </p:txBody>
      </p:sp>
      <p:sp>
        <p:nvSpPr>
          <p:cNvPr id="5" name="">
            <a:extLst xmlns:a="http://schemas.openxmlformats.org/drawingml/2006/main">
              <a:ext uri="{FF2B5EF4-FFF2-40B4-BE49-F238E27FC236}">
                <a16:creationId xmlns:a16="http://schemas.microsoft.com/office/drawing/2014/main" id="{DC1DA85F-D4B1-4897-AB37-32813E73100E}"/>
              </a:ext>
            </a:extLst>
          </p:cNvPr>
          <p:cNvSpPr>
            <a:spLocks xmlns:a="http://schemas.openxmlformats.org/drawingml/2006/main" noGrp="1"/>
          </p:cNvSpPr>
          <p:nvPr/>
        </p:nvSpPr>
        <p:spPr>
          <a:xfrm xmlns:a="http://schemas.openxmlformats.org/drawingml/2006/main">
            <a:off x="647700" y="1200150"/>
            <a:ext cx="58102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3000"/>
              </a:lnSpc>
              <a:buNone/>
              <a:defRPr sz="4050" b="1" i="0">
                <a:solidFill>
                  <a:srgbClr val="FFFFFF"/>
                </a:solidFill>
                <a:latin typeface="Arimo"/>
                <a:ea typeface="Arimo"/>
                <a:cs typeface="Arimo"/>
              </a:defRPr>
            </a:pPr>
            <a:r>
              <a:rPr sz="4050" b="1" i="0">
                <a:solidFill>
                  <a:srgbClr val="FFFFFF"/>
                </a:solidFill>
                <a:latin typeface="Arimo"/>
                <a:ea typeface="Arimo"/>
                <a:cs typeface="Arimo"/>
              </a:rPr>
              <a:t>Virtual Proving Ground</a:t>
            </a:r>
          </a:p>
          <a:p xmlns:a="http://schemas.openxmlformats.org/drawingml/2006/main">
            <a:pPr algn="l">
              <a:lnSpc>
                <a:spcPct val="93000"/>
              </a:lnSpc>
              <a:buNone/>
              <a:defRPr sz="4050" b="1" i="0">
                <a:solidFill>
                  <a:srgbClr val="FFFFFF"/>
                </a:solidFill>
                <a:latin typeface="Arimo"/>
                <a:ea typeface="Arimo"/>
                <a:cs typeface="Arimo"/>
              </a:defRPr>
            </a:pPr>
            <a:r>
              <a:rPr sz="4050" b="1" i="0">
                <a:solidFill>
                  <a:srgbClr val="FFFFFF"/>
                </a:solidFill>
                <a:latin typeface="Arimo"/>
                <a:ea typeface="Arimo"/>
                <a:cs typeface="Arimo"/>
              </a:rPr>
              <a:t>for RainForest</a:t>
            </a:r>
          </a:p>
          <a:p xmlns:a="http://schemas.openxmlformats.org/drawingml/2006/main">
            <a:pPr algn="l">
              <a:lnSpc>
                <a:spcPct val="93000"/>
              </a:lnSpc>
              <a:buNone/>
              <a:defRPr sz="4050" b="1" i="0">
                <a:solidFill>
                  <a:srgbClr val="FFFFFF"/>
                </a:solidFill>
                <a:latin typeface="Arimo"/>
                <a:ea typeface="Arimo"/>
                <a:cs typeface="Arimo"/>
              </a:defRPr>
            </a:pPr>
            <a:r>
              <a:rPr sz="4050" b="1" i="0">
                <a:solidFill>
                  <a:srgbClr val="FFFFFF"/>
                </a:solidFill>
                <a:latin typeface="Arimo"/>
                <a:ea typeface="Arimo"/>
                <a:cs typeface="Arimo"/>
              </a:rPr>
              <a:t>Climate Strategies</a:t>
            </a:r>
          </a:p>
        </p:txBody>
      </p:sp>
      <p:sp>
        <p:nvSpPr>
          <p:cNvPr id="6" name="">
            <a:extLst xmlns:a="http://schemas.openxmlformats.org/drawingml/2006/main">
              <a:ext uri="{FF2B5EF4-FFF2-40B4-BE49-F238E27FC236}">
                <a16:creationId xmlns:a16="http://schemas.microsoft.com/office/drawing/2014/main" id="{AC19C95F-C384-469B-A426-91898CDC6736}"/>
              </a:ext>
            </a:extLst>
          </p:cNvPr>
          <p:cNvSpPr>
            <a:spLocks xmlns:a="http://schemas.openxmlformats.org/drawingml/2006/main" noGrp="1"/>
          </p:cNvSpPr>
          <p:nvPr/>
        </p:nvSpPr>
        <p:spPr>
          <a:xfrm xmlns:a="http://schemas.openxmlformats.org/drawingml/2006/main">
            <a:off x="685800" y="3848100"/>
            <a:ext cx="495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C5E2D4"/>
                </a:solidFill>
                <a:latin typeface="Arimo"/>
                <a:ea typeface="Arimo"/>
                <a:cs typeface="Arimo"/>
              </a:defRPr>
            </a:pPr>
            <a:r>
              <a:rPr sz="1875" b="0" i="0">
                <a:solidFill>
                  <a:srgbClr val="C5E2D4"/>
                </a:solidFill>
                <a:latin typeface="Arimo"/>
                <a:ea typeface="Arimo"/>
                <a:cs typeface="Arimo"/>
              </a:rPr>
              <a:t>Supporting climate research and student learning</a:t>
            </a:r>
          </a:p>
        </p:txBody>
      </p:sp>
      <p:sp>
        <p:nvSpPr>
          <p:cNvPr id="7" name="">
            <a:extLst xmlns:a="http://schemas.openxmlformats.org/drawingml/2006/main">
              <a:ext uri="{FF2B5EF4-FFF2-40B4-BE49-F238E27FC236}">
                <a16:creationId xmlns:a16="http://schemas.microsoft.com/office/drawing/2014/main" id="{FCD387BF-AF9F-4D24-936C-52F68904DB77}"/>
              </a:ext>
            </a:extLst>
          </p:cNvPr>
          <p:cNvSpPr>
            <a:spLocks xmlns:a="http://schemas.openxmlformats.org/drawingml/2006/main" noGrp="1"/>
          </p:cNvSpPr>
          <p:nvPr/>
        </p:nvSpPr>
        <p:spPr>
          <a:xfrm xmlns:a="http://schemas.openxmlformats.org/drawingml/2006/main">
            <a:off x="666750" y="4810125"/>
            <a:ext cx="2076450" cy="476250"/>
          </a:xfrm>
          <a:prstGeom xmlns:a="http://schemas.openxmlformats.org/drawingml/2006/main" prst="roundRect">
            <a:avLst>
              <a:gd name="adj" fmla="val 24000"/>
            </a:avLst>
          </a:prstGeom>
          <a:solidFill xmlns:a="http://schemas.openxmlformats.org/drawingml/2006/main">
            <a:srgbClr val="0F3B2B"/>
          </a:solidFill>
          <a:ln xmlns:a="http://schemas.openxmlformats.org/drawingml/2006/main" w="0">
            <a:noFill/>
            <a:prstDash val="solid"/>
          </a:ln>
        </p:spPr>
        <p:txBody>
          <a:bodyPr xmlns:a="http://schemas.openxmlformats.org/drawingml/2006/main" lIns="114300" tIns="76200" rIns="114300" bIns="76200" anchor="ctr">
            <a:normAutofit fontScale="93255"/>
          </a:bodyPr>
          <a:lstStyle xmlns:a="http://schemas.openxmlformats.org/drawingml/2006/main"/>
          <a:p xmlns:a="http://schemas.openxmlformats.org/drawingml/2006/main">
            <a:pPr algn="ctr">
              <a:lnSpc>
                <a:spcPct val="100000"/>
              </a:lnSpc>
              <a:buNone/>
              <a:defRPr sz="1425" b="1">
                <a:solidFill>
                  <a:srgbClr val="FFFFFF"/>
                </a:solidFill>
                <a:latin typeface="Arimo"/>
                <a:ea typeface="Arimo"/>
                <a:cs typeface="Arimo"/>
              </a:defRPr>
            </a:pPr>
            <a:r>
              <a:rPr sz="1425" b="1">
                <a:solidFill>
                  <a:srgbClr val="FFFFFF"/>
                </a:solidFill>
                <a:latin typeface="Arimo"/>
                <a:ea typeface="Arimo"/>
                <a:cs typeface="Arimo"/>
              </a:rPr>
              <a:t>64 scheduled controls</a:t>
            </a:r>
          </a:p>
        </p:txBody>
      </p:sp>
      <p:sp>
        <p:nvSpPr>
          <p:cNvPr id="8" name="">
            <a:extLst xmlns:a="http://schemas.openxmlformats.org/drawingml/2006/main">
              <a:ext uri="{FF2B5EF4-FFF2-40B4-BE49-F238E27FC236}">
                <a16:creationId xmlns:a16="http://schemas.microsoft.com/office/drawing/2014/main" id="{5291E87B-B9BF-47DB-A434-0654A9CD9954}"/>
              </a:ext>
            </a:extLst>
          </p:cNvPr>
          <p:cNvSpPr>
            <a:spLocks xmlns:a="http://schemas.openxmlformats.org/drawingml/2006/main" noGrp="1"/>
          </p:cNvSpPr>
          <p:nvPr/>
        </p:nvSpPr>
        <p:spPr>
          <a:xfrm xmlns:a="http://schemas.openxmlformats.org/drawingml/2006/main">
            <a:off x="2876550" y="4810125"/>
            <a:ext cx="2076450" cy="476250"/>
          </a:xfrm>
          <a:prstGeom xmlns:a="http://schemas.openxmlformats.org/drawingml/2006/main" prst="roundRect">
            <a:avLst>
              <a:gd name="adj" fmla="val 24000"/>
            </a:avLst>
          </a:prstGeom>
          <a:solidFill xmlns:a="http://schemas.openxmlformats.org/drawingml/2006/main">
            <a:srgbClr val="0F3B2B"/>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425" b="1">
                <a:solidFill>
                  <a:srgbClr val="FFFFFF"/>
                </a:solidFill>
                <a:latin typeface="Arimo"/>
                <a:ea typeface="Arimo"/>
                <a:cs typeface="Arimo"/>
              </a:defRPr>
            </a:pPr>
            <a:r>
              <a:rPr sz="1425" b="1">
                <a:solidFill>
                  <a:srgbClr val="FFFFFF"/>
                </a:solidFill>
                <a:latin typeface="Arimo"/>
                <a:ea typeface="Arimo"/>
                <a:cs typeface="Arimo"/>
              </a:rPr>
              <a:t>36 climate channels</a:t>
            </a:r>
          </a:p>
        </p:txBody>
      </p:sp>
      <p:sp>
        <p:nvSpPr>
          <p:cNvPr id="9" name="">
            <a:extLst xmlns:a="http://schemas.openxmlformats.org/drawingml/2006/main">
              <a:ext uri="{FF2B5EF4-FFF2-40B4-BE49-F238E27FC236}">
                <a16:creationId xmlns:a16="http://schemas.microsoft.com/office/drawing/2014/main" id="{5FA1351A-0C4E-4ED9-901F-EE1FC4865680}"/>
              </a:ext>
            </a:extLst>
          </p:cNvPr>
          <p:cNvSpPr>
            <a:spLocks xmlns:a="http://schemas.openxmlformats.org/drawingml/2006/main" noGrp="1"/>
          </p:cNvSpPr>
          <p:nvPr/>
        </p:nvSpPr>
        <p:spPr>
          <a:xfrm xmlns:a="http://schemas.openxmlformats.org/drawingml/2006/main">
            <a:off x="666750" y="59245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FFFFFF"/>
                </a:solidFill>
                <a:latin typeface="Arimo"/>
                <a:ea typeface="Arimo"/>
                <a:cs typeface="Arimo"/>
              </a:defRPr>
            </a:pPr>
            <a:r>
              <a:rPr sz="1425" b="1" i="0">
                <a:solidFill>
                  <a:srgbClr val="FFFFFF"/>
                </a:solidFill>
                <a:latin typeface="Arimo"/>
                <a:ea typeface="Arimo"/>
                <a:cs typeface="Arimo"/>
              </a:rPr>
              <a:t>Dimitri Bolt</a:t>
            </a:r>
          </a:p>
        </p:txBody>
      </p:sp>
      <p:sp>
        <p:nvSpPr>
          <p:cNvPr id="10" name="">
            <a:extLst xmlns:a="http://schemas.openxmlformats.org/drawingml/2006/main">
              <a:ext uri="{FF2B5EF4-FFF2-40B4-BE49-F238E27FC236}">
                <a16:creationId xmlns:a16="http://schemas.microsoft.com/office/drawing/2014/main" id="{A4EC5F86-FDCD-414F-8F56-A581436B15F2}"/>
              </a:ext>
            </a:extLst>
          </p:cNvPr>
          <p:cNvSpPr>
            <a:spLocks xmlns:a="http://schemas.openxmlformats.org/drawingml/2006/main" noGrp="1"/>
          </p:cNvSpPr>
          <p:nvPr/>
        </p:nvSpPr>
        <p:spPr>
          <a:xfrm xmlns:a="http://schemas.openxmlformats.org/drawingml/2006/main">
            <a:off x="666750" y="622935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8DB7A5"/>
                </a:solidFill>
                <a:latin typeface="Arimo"/>
                <a:ea typeface="Arimo"/>
                <a:cs typeface="Arimo"/>
              </a:defRPr>
            </a:pPr>
            <a:r>
              <a:rPr sz="1125" b="0" i="0">
                <a:solidFill>
                  <a:srgbClr val="8DB7A5"/>
                </a:solidFill>
                <a:latin typeface="Arimo"/>
                <a:ea typeface="Arimo"/>
                <a:cs typeface="Arimo"/>
              </a:rPr>
              <a:t>Academic supervision: Dr. Ildar Gabitov</a:t>
            </a:r>
          </a:p>
        </p:txBody>
      </p:sp>
    </p:spTree>
    <p:extLst>
      <p:ext uri="{BB962C8B-B14F-4D97-AF65-F5344CB8AC3E}">
        <p14:creationId xmlns:p14="http://schemas.microsoft.com/office/powerpoint/2010/main" val="1376435048"/>
      </p:ext>
    </p:extLst>
  </p:cSld>
</p:sld>
</file>

<file path=ppt/slides/slide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6B1111F-480E-48B6-80DD-8851829D49E4}"/>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2ADA9C9-E38E-480D-8B67-9C51D00C8A3C}"/>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Shared evaluation of climate strategies</a:t>
            </a:r>
          </a:p>
        </p:txBody>
      </p:sp>
      <p:sp>
        <p:nvSpPr>
          <p:cNvPr id="3" name="">
            <a:extLst xmlns:a="http://schemas.openxmlformats.org/drawingml/2006/main">
              <a:ext uri="{FF2B5EF4-FFF2-40B4-BE49-F238E27FC236}">
                <a16:creationId xmlns:a16="http://schemas.microsoft.com/office/drawing/2014/main" id="{5ADD4FF2-18C0-4A1E-9D29-1F22D0CA546C}"/>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Additional scenario testing supports existing research and student projects</a:t>
            </a:r>
          </a:p>
        </p:txBody>
      </p:sp>
      <p:sp>
        <p:nvSpPr>
          <p:cNvPr id="4" name="">
            <a:extLst xmlns:a="http://schemas.openxmlformats.org/drawingml/2006/main">
              <a:ext uri="{FF2B5EF4-FFF2-40B4-BE49-F238E27FC236}">
                <a16:creationId xmlns:a16="http://schemas.microsoft.com/office/drawing/2014/main" id="{E4A0B5B8-82AC-4C0E-B99E-900D0806B04A}"/>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18A30CF2-E8B7-4C98-8794-BFEE98132847}"/>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02</a:t>
            </a:r>
          </a:p>
        </p:txBody>
      </p:sp>
      <p:sp>
        <p:nvSpPr>
          <p:cNvPr id="6" name="">
            <a:extLst xmlns:a="http://schemas.openxmlformats.org/drawingml/2006/main">
              <a:ext uri="{FF2B5EF4-FFF2-40B4-BE49-F238E27FC236}">
                <a16:creationId xmlns:a16="http://schemas.microsoft.com/office/drawing/2014/main" id="{C23396E4-D28E-4627-8AC2-437915638901}"/>
              </a:ext>
            </a:extLst>
          </p:cNvPr>
          <p:cNvSpPr>
            <a:spLocks xmlns:a="http://schemas.openxmlformats.org/drawingml/2006/main" noGrp="1"/>
          </p:cNvSpPr>
          <p:nvPr/>
        </p:nvSpPr>
        <p:spPr>
          <a:xfrm xmlns:a="http://schemas.openxmlformats.org/drawingml/2006/main">
            <a:off x="762000" y="2190750"/>
            <a:ext cx="2667000" cy="1095375"/>
          </a:xfrm>
          <a:prstGeom xmlns:a="http://schemas.openxmlformats.org/drawingml/2006/main" prst="roundRect">
            <a:avLst>
              <a:gd name="adj" fmla="val 1391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Strategies from</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research groups</a:t>
            </a:r>
          </a:p>
        </p:txBody>
      </p:sp>
      <p:sp>
        <p:nvSpPr>
          <p:cNvPr id="7" name="">
            <a:extLst xmlns:a="http://schemas.openxmlformats.org/drawingml/2006/main">
              <a:ext uri="{FF2B5EF4-FFF2-40B4-BE49-F238E27FC236}">
                <a16:creationId xmlns:a16="http://schemas.microsoft.com/office/drawing/2014/main" id="{AF90562F-D969-4628-BA8B-350BBDF6219A}"/>
              </a:ext>
            </a:extLst>
          </p:cNvPr>
          <p:cNvSpPr>
            <a:spLocks xmlns:a="http://schemas.openxmlformats.org/drawingml/2006/main" noGrp="1"/>
          </p:cNvSpPr>
          <p:nvPr/>
        </p:nvSpPr>
        <p:spPr>
          <a:xfrm xmlns:a="http://schemas.openxmlformats.org/drawingml/2006/main">
            <a:off x="4714875" y="2190750"/>
            <a:ext cx="2667000" cy="1095375"/>
          </a:xfrm>
          <a:prstGeom xmlns:a="http://schemas.openxmlformats.org/drawingml/2006/main" prst="roundRect">
            <a:avLst>
              <a:gd name="adj" fmla="val 13913"/>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Shared simulation</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scenarios</a:t>
            </a:r>
          </a:p>
        </p:txBody>
      </p:sp>
      <p:sp>
        <p:nvSpPr>
          <p:cNvPr id="8" name="">
            <a:extLst xmlns:a="http://schemas.openxmlformats.org/drawingml/2006/main">
              <a:ext uri="{FF2B5EF4-FFF2-40B4-BE49-F238E27FC236}">
                <a16:creationId xmlns:a16="http://schemas.microsoft.com/office/drawing/2014/main" id="{932BAAA7-953B-433C-ABDF-72181022720A}"/>
              </a:ext>
            </a:extLst>
          </p:cNvPr>
          <p:cNvSpPr>
            <a:spLocks xmlns:a="http://schemas.openxmlformats.org/drawingml/2006/main" noGrp="1"/>
          </p:cNvSpPr>
          <p:nvPr/>
        </p:nvSpPr>
        <p:spPr>
          <a:xfrm xmlns:a="http://schemas.openxmlformats.org/drawingml/2006/main">
            <a:off x="8572500" y="2190750"/>
            <a:ext cx="2667000" cy="1095375"/>
          </a:xfrm>
          <a:prstGeom xmlns:a="http://schemas.openxmlformats.org/drawingml/2006/main" prst="roundRect">
            <a:avLst>
              <a:gd name="adj" fmla="val 13913"/>
            </a:avLst>
          </a:prstGeom>
          <a:solidFill xmlns:a="http://schemas.openxmlformats.org/drawingml/2006/main">
            <a:srgbClr val="E4EF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Results for</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team discussion</a:t>
            </a:r>
          </a:p>
        </p:txBody>
      </p:sp>
      <p:cxnSp>
        <p:nvCxnSpPr>
          <p:cNvPr id="22" name=""/>
          <p:cNvCxnSpPr>
            <a:stCxn xmlns:a="http://schemas.openxmlformats.org/drawingml/2006/main" id="6" idx="3"/>
            <a:endCxn xmlns:a="http://schemas.openxmlformats.org/drawingml/2006/main" id="7" idx="1"/>
          </p:cNvCxnSpPr>
          <p:nvPr/>
        </p:nvCxnSpPr>
        <p:spPr>
          <a:xfrm xmlns:a="http://schemas.openxmlformats.org/drawingml/2006/main">
            <a:off x="3429000" y="2738438"/>
            <a:ext cx="1285875"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3" name=""/>
          <p:cNvCxnSpPr>
            <a:stCxn xmlns:a="http://schemas.openxmlformats.org/drawingml/2006/main" id="7" idx="3"/>
            <a:endCxn xmlns:a="http://schemas.openxmlformats.org/drawingml/2006/main" id="8" idx="1"/>
          </p:cNvCxnSpPr>
          <p:nvPr/>
        </p:nvCxnSpPr>
        <p:spPr>
          <a:xfrm xmlns:a="http://schemas.openxmlformats.org/drawingml/2006/main">
            <a:off x="7381875" y="2738438"/>
            <a:ext cx="1190625" cy="0"/>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sp>
        <p:nvSpPr>
          <p:cNvPr id="11" name="">
            <a:extLst xmlns:a="http://schemas.openxmlformats.org/drawingml/2006/main">
              <a:ext uri="{FF2B5EF4-FFF2-40B4-BE49-F238E27FC236}">
                <a16:creationId xmlns:a16="http://schemas.microsoft.com/office/drawing/2014/main" id="{9A84BD4C-45A2-46B1-9C3A-6554AEFE3286}"/>
              </a:ext>
            </a:extLst>
          </p:cNvPr>
          <p:cNvSpPr>
            <a:spLocks xmlns:a="http://schemas.openxmlformats.org/drawingml/2006/main" noGrp="1"/>
          </p:cNvSpPr>
          <p:nvPr/>
        </p:nvSpPr>
        <p:spPr>
          <a:xfrm xmlns:a="http://schemas.openxmlformats.org/drawingml/2006/main">
            <a:off x="2047875" y="3762375"/>
            <a:ext cx="809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725" b="1" i="0">
                <a:solidFill>
                  <a:srgbClr val="167A55"/>
                </a:solidFill>
                <a:latin typeface="Arimo"/>
                <a:ea typeface="Arimo"/>
                <a:cs typeface="Arimo"/>
              </a:defRPr>
            </a:pPr>
            <a:r>
              <a:rPr sz="1725" b="1" i="0">
                <a:solidFill>
                  <a:srgbClr val="167A55"/>
                </a:solidFill>
                <a:latin typeface="Arimo"/>
                <a:ea typeface="Arimo"/>
                <a:cs typeface="Arimo"/>
              </a:rPr>
              <a:t>Agreed inputs, documented assumptions, reproducible results</a:t>
            </a:r>
          </a:p>
        </p:txBody>
      </p:sp>
      <p:sp>
        <p:nvSpPr>
          <p:cNvPr id="12" name="">
            <a:extLst xmlns:a="http://schemas.openxmlformats.org/drawingml/2006/main">
              <a:ext uri="{FF2B5EF4-FFF2-40B4-BE49-F238E27FC236}">
                <a16:creationId xmlns:a16="http://schemas.microsoft.com/office/drawing/2014/main" id="{30850B2D-6094-4D41-BBF8-A1DEABED6A6C}"/>
              </a:ext>
            </a:extLst>
          </p:cNvPr>
          <p:cNvSpPr>
            <a:spLocks xmlns:a="http://schemas.openxmlformats.org/drawingml/2006/main" noGrp="1"/>
          </p:cNvSpPr>
          <p:nvPr/>
        </p:nvSpPr>
        <p:spPr>
          <a:xfrm xmlns:a="http://schemas.openxmlformats.org/drawingml/2006/main">
            <a:off x="1905000" y="4552950"/>
            <a:ext cx="7810500" cy="0"/>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13" name="">
            <a:extLst xmlns:a="http://schemas.openxmlformats.org/drawingml/2006/main">
              <a:ext uri="{FF2B5EF4-FFF2-40B4-BE49-F238E27FC236}">
                <a16:creationId xmlns:a16="http://schemas.microsoft.com/office/drawing/2014/main" id="{E1288357-4321-49D6-875D-1599C64284EC}"/>
              </a:ext>
            </a:extLst>
          </p:cNvPr>
          <p:cNvSpPr>
            <a:spLocks xmlns:a="http://schemas.openxmlformats.org/drawingml/2006/main" noGrp="1"/>
          </p:cNvSpPr>
          <p:nvPr/>
        </p:nvSpPr>
        <p:spPr>
          <a:xfrm xmlns:a="http://schemas.openxmlformats.org/drawingml/2006/main">
            <a:off x="1428750" y="4857750"/>
            <a:ext cx="9334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2000"/>
              </a:lnSpc>
              <a:buNone/>
              <a:defRPr sz="2100" b="1" i="0">
                <a:solidFill>
                  <a:srgbClr val="10251D"/>
                </a:solidFill>
                <a:latin typeface="Arimo"/>
                <a:ea typeface="Arimo"/>
                <a:cs typeface="Arimo"/>
              </a:defRPr>
            </a:pPr>
            <a:r>
              <a:rPr sz="2100" b="1" i="0">
                <a:solidFill>
                  <a:srgbClr val="10251D"/>
                </a:solidFill>
                <a:latin typeface="Arimo"/>
                <a:ea typeface="Arimo"/>
                <a:cs typeface="Arimo"/>
              </a:rPr>
              <a:t>Additional scenario testing alongside each team's own analyses and evidence</a:t>
            </a:r>
          </a:p>
        </p:txBody>
      </p:sp>
    </p:spTree>
    <p:extLst>
      <p:ext uri="{BB962C8B-B14F-4D97-AF65-F5344CB8AC3E}">
        <p14:creationId xmlns:p14="http://schemas.microsoft.com/office/powerpoint/2010/main" val="2034432743"/>
      </p:ext>
    </p:extLst>
  </p:cSld>
</p:sld>
</file>

<file path=ppt/slides/slide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2803F27-8CC5-4CF7-AE5E-054A75AD1078}"/>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E21D76E-6EFB-4211-89F1-89987BC50F2E}"/>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Forward models for scenario testing</a:t>
            </a:r>
          </a:p>
        </p:txBody>
      </p:sp>
      <p:sp>
        <p:nvSpPr>
          <p:cNvPr id="3" name="">
            <a:extLst xmlns:a="http://schemas.openxmlformats.org/drawingml/2006/main">
              <a:ext uri="{FF2B5EF4-FFF2-40B4-BE49-F238E27FC236}">
                <a16:creationId xmlns:a16="http://schemas.microsoft.com/office/drawing/2014/main" id="{18A2365D-63E7-409D-9F0A-D237FE7CF626}"/>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Dynamics connect a 64-value action to the next 36-channel climate state</a:t>
            </a:r>
          </a:p>
        </p:txBody>
      </p:sp>
      <p:sp>
        <p:nvSpPr>
          <p:cNvPr id="4" name="">
            <a:extLst xmlns:a="http://schemas.openxmlformats.org/drawingml/2006/main">
              <a:ext uri="{FF2B5EF4-FFF2-40B4-BE49-F238E27FC236}">
                <a16:creationId xmlns:a16="http://schemas.microsoft.com/office/drawing/2014/main" id="{58763983-61BA-47DE-8F84-7131752E422E}"/>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1970D2B4-1E3A-4C2C-AAE6-3870BD0A9382}"/>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03</a:t>
            </a:r>
          </a:p>
        </p:txBody>
      </p:sp>
      <p:sp>
        <p:nvSpPr>
          <p:cNvPr id="6" name="">
            <a:extLst xmlns:a="http://schemas.openxmlformats.org/drawingml/2006/main">
              <a:ext uri="{FF2B5EF4-FFF2-40B4-BE49-F238E27FC236}">
                <a16:creationId xmlns:a16="http://schemas.microsoft.com/office/drawing/2014/main" id="{BE97F8DA-B694-4035-82E7-6E9FC2B7826A}"/>
              </a:ext>
            </a:extLst>
          </p:cNvPr>
          <p:cNvSpPr>
            <a:spLocks xmlns:a="http://schemas.openxmlformats.org/drawingml/2006/main" noGrp="1"/>
          </p:cNvSpPr>
          <p:nvPr/>
        </p:nvSpPr>
        <p:spPr>
          <a:xfrm xmlns:a="http://schemas.openxmlformats.org/drawingml/2006/main">
            <a:off x="762000" y="1657350"/>
            <a:ext cx="1000125" cy="323850"/>
          </a:xfrm>
          <a:prstGeom xmlns:a="http://schemas.openxmlformats.org/drawingml/2006/main" prst="roundRect">
            <a:avLst>
              <a:gd name="adj" fmla="val 50000"/>
            </a:avLst>
          </a:prstGeom>
          <a:solidFill xmlns:a="http://schemas.openxmlformats.org/drawingml/2006/main">
            <a:srgbClr val="30AFC2"/>
          </a:solidFill>
          <a:ln xmlns:a="http://schemas.openxmlformats.org/drawingml/2006/main" w="0">
            <a:noFill/>
            <a:prstDash val="solid"/>
          </a:ln>
        </p:spPr>
        <p:txBody>
          <a:bodyPr xmlns:a="http://schemas.openxmlformats.org/drawingml/2006/main" lIns="114300" tIns="76200" rIns="114300" bIns="76200" anchor="ctr">
            <a:normAutofit fontScale="41884"/>
          </a:bodyPr>
          <a:lstStyle xmlns:a="http://schemas.openxmlformats.org/drawingml/2006/main"/>
          <a:p xmlns:a="http://schemas.openxmlformats.org/drawingml/2006/main">
            <a:pPr algn="ctr">
              <a:lnSpc>
                <a:spcPct val="100000"/>
              </a:lnSpc>
              <a:buNone/>
              <a:defRPr sz="1200" b="1">
                <a:solidFill>
                  <a:srgbClr val="FFFFFF"/>
                </a:solidFill>
                <a:latin typeface="Arimo"/>
                <a:ea typeface="Arimo"/>
                <a:cs typeface="Arimo"/>
              </a:defRPr>
            </a:pPr>
            <a:r>
              <a:rPr sz="1200" b="1">
                <a:solidFill>
                  <a:srgbClr val="FFFFFF"/>
                </a:solidFill>
                <a:latin typeface="Arimo"/>
                <a:ea typeface="Arimo"/>
                <a:cs typeface="Arimo"/>
              </a:rPr>
              <a:t>STATE</a:t>
            </a:r>
          </a:p>
        </p:txBody>
      </p:sp>
      <p:sp>
        <p:nvSpPr>
          <p:cNvPr id="7" name="">
            <a:extLst xmlns:a="http://schemas.openxmlformats.org/drawingml/2006/main">
              <a:ext uri="{FF2B5EF4-FFF2-40B4-BE49-F238E27FC236}">
                <a16:creationId xmlns:a16="http://schemas.microsoft.com/office/drawing/2014/main" id="{D05A436F-13B3-4DD8-9054-9D93A18DE5C1}"/>
              </a:ext>
            </a:extLst>
          </p:cNvPr>
          <p:cNvSpPr>
            <a:spLocks xmlns:a="http://schemas.openxmlformats.org/drawingml/2006/main" noGrp="1"/>
          </p:cNvSpPr>
          <p:nvPr/>
        </p:nvSpPr>
        <p:spPr>
          <a:xfrm xmlns:a="http://schemas.openxmlformats.org/drawingml/2006/main">
            <a:off x="762000" y="2095500"/>
            <a:ext cx="2333625" cy="1095375"/>
          </a:xfrm>
          <a:prstGeom xmlns:a="http://schemas.openxmlformats.org/drawingml/2006/main" prst="roundRect">
            <a:avLst>
              <a:gd name="adj" fmla="val 13913"/>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x(k)</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36 T/RH channels</a:t>
            </a:r>
          </a:p>
        </p:txBody>
      </p:sp>
      <p:sp>
        <p:nvSpPr>
          <p:cNvPr id="8" name="">
            <a:extLst xmlns:a="http://schemas.openxmlformats.org/drawingml/2006/main">
              <a:ext uri="{FF2B5EF4-FFF2-40B4-BE49-F238E27FC236}">
                <a16:creationId xmlns:a16="http://schemas.microsoft.com/office/drawing/2014/main" id="{6273F9D8-3815-4171-90E5-289746E93050}"/>
              </a:ext>
            </a:extLst>
          </p:cNvPr>
          <p:cNvSpPr>
            <a:spLocks xmlns:a="http://schemas.openxmlformats.org/drawingml/2006/main" noGrp="1"/>
          </p:cNvSpPr>
          <p:nvPr/>
        </p:nvSpPr>
        <p:spPr>
          <a:xfrm xmlns:a="http://schemas.openxmlformats.org/drawingml/2006/main">
            <a:off x="3476625" y="1657350"/>
            <a:ext cx="1066800" cy="323850"/>
          </a:xfrm>
          <a:prstGeom xmlns:a="http://schemas.openxmlformats.org/drawingml/2006/main" prst="roundRect">
            <a:avLst>
              <a:gd name="adj" fmla="val 50000"/>
            </a:avLst>
          </a:prstGeom>
          <a:solidFill xmlns:a="http://schemas.openxmlformats.org/drawingml/2006/main">
            <a:srgbClr val="167A55"/>
          </a:solidFill>
          <a:ln xmlns:a="http://schemas.openxmlformats.org/drawingml/2006/main" w="0">
            <a:noFill/>
            <a:prstDash val="solid"/>
          </a:ln>
        </p:spPr>
        <p:txBody>
          <a:bodyPr xmlns:a="http://schemas.openxmlformats.org/drawingml/2006/main" lIns="114300" tIns="76200" rIns="114300" bIns="76200" anchor="ctr">
            <a:normAutofit fontScale="41884"/>
          </a:bodyPr>
          <a:lstStyle xmlns:a="http://schemas.openxmlformats.org/drawingml/2006/main"/>
          <a:p xmlns:a="http://schemas.openxmlformats.org/drawingml/2006/main">
            <a:pPr algn="ctr">
              <a:lnSpc>
                <a:spcPct val="100000"/>
              </a:lnSpc>
              <a:buNone/>
              <a:defRPr sz="1200" b="1">
                <a:solidFill>
                  <a:srgbClr val="FFFFFF"/>
                </a:solidFill>
                <a:latin typeface="Arimo"/>
                <a:ea typeface="Arimo"/>
                <a:cs typeface="Arimo"/>
              </a:defRPr>
            </a:pPr>
            <a:r>
              <a:rPr sz="1200" b="1">
                <a:solidFill>
                  <a:srgbClr val="FFFFFF"/>
                </a:solidFill>
                <a:latin typeface="Arimo"/>
                <a:ea typeface="Arimo"/>
                <a:cs typeface="Arimo"/>
              </a:rPr>
              <a:t>ACTION</a:t>
            </a:r>
          </a:p>
        </p:txBody>
      </p:sp>
      <p:sp>
        <p:nvSpPr>
          <p:cNvPr id="9" name="">
            <a:extLst xmlns:a="http://schemas.openxmlformats.org/drawingml/2006/main">
              <a:ext uri="{FF2B5EF4-FFF2-40B4-BE49-F238E27FC236}">
                <a16:creationId xmlns:a16="http://schemas.microsoft.com/office/drawing/2014/main" id="{3E1966F7-9831-4B87-916B-0468BC5F7708}"/>
              </a:ext>
            </a:extLst>
          </p:cNvPr>
          <p:cNvSpPr>
            <a:spLocks xmlns:a="http://schemas.openxmlformats.org/drawingml/2006/main" noGrp="1"/>
          </p:cNvSpPr>
          <p:nvPr/>
        </p:nvSpPr>
        <p:spPr>
          <a:xfrm xmlns:a="http://schemas.openxmlformats.org/drawingml/2006/main">
            <a:off x="3476625" y="2095500"/>
            <a:ext cx="2333625" cy="1095375"/>
          </a:xfrm>
          <a:prstGeom xmlns:a="http://schemas.openxmlformats.org/drawingml/2006/main" prst="roundRect">
            <a:avLst>
              <a:gd name="adj" fmla="val 1391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u(k)</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64 control values</a:t>
            </a:r>
          </a:p>
        </p:txBody>
      </p:sp>
      <p:sp>
        <p:nvSpPr>
          <p:cNvPr id="10" name="">
            <a:extLst xmlns:a="http://schemas.openxmlformats.org/drawingml/2006/main">
              <a:ext uri="{FF2B5EF4-FFF2-40B4-BE49-F238E27FC236}">
                <a16:creationId xmlns:a16="http://schemas.microsoft.com/office/drawing/2014/main" id="{B3E4AD98-2591-46D3-B27A-AB6A644463EB}"/>
              </a:ext>
            </a:extLst>
          </p:cNvPr>
          <p:cNvSpPr>
            <a:spLocks xmlns:a="http://schemas.openxmlformats.org/drawingml/2006/main" noGrp="1"/>
          </p:cNvSpPr>
          <p:nvPr/>
        </p:nvSpPr>
        <p:spPr>
          <a:xfrm xmlns:a="http://schemas.openxmlformats.org/drawingml/2006/main">
            <a:off x="6191250" y="1657350"/>
            <a:ext cx="1190625" cy="323850"/>
          </a:xfrm>
          <a:prstGeom xmlns:a="http://schemas.openxmlformats.org/drawingml/2006/main" prst="roundRect">
            <a:avLst>
              <a:gd name="adj" fmla="val 50000"/>
            </a:avLst>
          </a:prstGeom>
          <a:solidFill xmlns:a="http://schemas.openxmlformats.org/drawingml/2006/main">
            <a:srgbClr val="E69B3A"/>
          </a:solidFill>
          <a:ln xmlns:a="http://schemas.openxmlformats.org/drawingml/2006/main" w="0">
            <a:noFill/>
            <a:prstDash val="solid"/>
          </a:ln>
        </p:spPr>
        <p:txBody>
          <a:bodyPr xmlns:a="http://schemas.openxmlformats.org/drawingml/2006/main" lIns="114300" tIns="76200" rIns="114300" bIns="76200" anchor="ctr">
            <a:normAutofit fontScale="41884"/>
          </a:bodyPr>
          <a:lstStyle xmlns:a="http://schemas.openxmlformats.org/drawingml/2006/main"/>
          <a:p xmlns:a="http://schemas.openxmlformats.org/drawingml/2006/main">
            <a:pPr algn="ctr">
              <a:lnSpc>
                <a:spcPct val="100000"/>
              </a:lnSpc>
              <a:buNone/>
              <a:defRPr sz="1200" b="1">
                <a:solidFill>
                  <a:srgbClr val="FFFFFF"/>
                </a:solidFill>
                <a:latin typeface="Arimo"/>
                <a:ea typeface="Arimo"/>
                <a:cs typeface="Arimo"/>
              </a:defRPr>
            </a:pPr>
            <a:r>
              <a:rPr sz="1200" b="1">
                <a:solidFill>
                  <a:srgbClr val="FFFFFF"/>
                </a:solidFill>
                <a:latin typeface="Arimo"/>
                <a:ea typeface="Arimo"/>
                <a:cs typeface="Arimo"/>
              </a:rPr>
              <a:t>CONTEXT</a:t>
            </a:r>
          </a:p>
        </p:txBody>
      </p:sp>
      <p:sp>
        <p:nvSpPr>
          <p:cNvPr id="11" name="">
            <a:extLst xmlns:a="http://schemas.openxmlformats.org/drawingml/2006/main">
              <a:ext uri="{FF2B5EF4-FFF2-40B4-BE49-F238E27FC236}">
                <a16:creationId xmlns:a16="http://schemas.microsoft.com/office/drawing/2014/main" id="{313DFA65-0881-4EDE-AD39-4CDA8795897D}"/>
              </a:ext>
            </a:extLst>
          </p:cNvPr>
          <p:cNvSpPr>
            <a:spLocks xmlns:a="http://schemas.openxmlformats.org/drawingml/2006/main" noGrp="1"/>
          </p:cNvSpPr>
          <p:nvPr/>
        </p:nvSpPr>
        <p:spPr>
          <a:xfrm xmlns:a="http://schemas.openxmlformats.org/drawingml/2006/main">
            <a:off x="6191250" y="2095500"/>
            <a:ext cx="2333625" cy="1095375"/>
          </a:xfrm>
          <a:prstGeom xmlns:a="http://schemas.openxmlformats.org/drawingml/2006/main" prst="roundRect">
            <a:avLst>
              <a:gd name="adj" fmla="val 13913"/>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9586"/>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w(k)</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weather and mode</a:t>
            </a:r>
          </a:p>
        </p:txBody>
      </p:sp>
      <p:sp>
        <p:nvSpPr>
          <p:cNvPr id="12" name="">
            <a:extLst xmlns:a="http://schemas.openxmlformats.org/drawingml/2006/main">
              <a:ext uri="{FF2B5EF4-FFF2-40B4-BE49-F238E27FC236}">
                <a16:creationId xmlns:a16="http://schemas.microsoft.com/office/drawing/2014/main" id="{013D2F6C-C809-4CB2-99DB-C3EFA600E975}"/>
              </a:ext>
            </a:extLst>
          </p:cNvPr>
          <p:cNvSpPr>
            <a:spLocks xmlns:a="http://schemas.openxmlformats.org/drawingml/2006/main" noGrp="1"/>
          </p:cNvSpPr>
          <p:nvPr/>
        </p:nvSpPr>
        <p:spPr>
          <a:xfrm xmlns:a="http://schemas.openxmlformats.org/drawingml/2006/main">
            <a:off x="1809750" y="3676650"/>
            <a:ext cx="7810500" cy="895350"/>
          </a:xfrm>
          <a:prstGeom xmlns:a="http://schemas.openxmlformats.org/drawingml/2006/main" prst="roundRect">
            <a:avLst>
              <a:gd name="adj" fmla="val 19149"/>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3075" b="1">
                <a:solidFill>
                  <a:srgbClr val="FFFFFF"/>
                </a:solidFill>
                <a:latin typeface="Arimo"/>
                <a:ea typeface="Arimo"/>
                <a:cs typeface="Arimo"/>
              </a:defRPr>
            </a:pPr>
            <a:r>
              <a:rPr sz="3075" b="1">
                <a:solidFill>
                  <a:srgbClr val="FFFFFF"/>
                </a:solidFill>
                <a:latin typeface="Arimo"/>
                <a:ea typeface="Arimo"/>
                <a:cs typeface="Arimo"/>
              </a:rPr>
              <a:t>x(k+1) = Fθ(x(k), u(k), w(k))</a:t>
            </a:r>
          </a:p>
        </p:txBody>
      </p:sp>
      <p:sp>
        <p:nvSpPr>
          <p:cNvPr id="13" name="">
            <a:extLst xmlns:a="http://schemas.openxmlformats.org/drawingml/2006/main">
              <a:ext uri="{FF2B5EF4-FFF2-40B4-BE49-F238E27FC236}">
                <a16:creationId xmlns:a16="http://schemas.microsoft.com/office/drawing/2014/main" id="{2BEBD6BE-1AE3-45DB-BDED-CCF5DB02F329}"/>
              </a:ext>
            </a:extLst>
          </p:cNvPr>
          <p:cNvSpPr>
            <a:spLocks xmlns:a="http://schemas.openxmlformats.org/drawingml/2006/main" noGrp="1"/>
          </p:cNvSpPr>
          <p:nvPr/>
        </p:nvSpPr>
        <p:spPr>
          <a:xfrm xmlns:a="http://schemas.openxmlformats.org/drawingml/2006/main">
            <a:off x="1857375" y="4905375"/>
            <a:ext cx="771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999"/>
          </a:bodyPr>
          <a:lstStyle xmlns:a="http://schemas.openxmlformats.org/drawingml/2006/main"/>
          <a:p xmlns:a="http://schemas.openxmlformats.org/drawingml/2006/main">
            <a:pPr algn="ctr">
              <a:lnSpc>
                <a:spcPct val="104000"/>
              </a:lnSpc>
              <a:buNone/>
              <a:defRPr sz="2025" b="1" i="0">
                <a:solidFill>
                  <a:srgbClr val="10251D"/>
                </a:solidFill>
                <a:latin typeface="Arimo"/>
                <a:ea typeface="Arimo"/>
                <a:cs typeface="Arimo"/>
              </a:defRPr>
            </a:pPr>
            <a:r>
              <a:rPr sz="2025" b="1" i="0">
                <a:solidFill>
                  <a:srgbClr val="10251D"/>
                </a:solidFill>
                <a:latin typeface="Arimo"/>
                <a:ea typeface="Arimo"/>
                <a:cs typeface="Arimo"/>
              </a:rPr>
              <a:t>Then evaluate climate deviation, energy use, equipment wear, and hard constraints</a:t>
            </a:r>
          </a:p>
        </p:txBody>
      </p:sp>
      <p:sp>
        <p:nvSpPr>
          <p:cNvPr id="14" name="">
            <a:extLst xmlns:a="http://schemas.openxmlformats.org/drawingml/2006/main">
              <a:ext uri="{FF2B5EF4-FFF2-40B4-BE49-F238E27FC236}">
                <a16:creationId xmlns:a16="http://schemas.microsoft.com/office/drawing/2014/main" id="{B5CC5D3D-CACD-4537-9F90-6894984C24ED}"/>
              </a:ext>
            </a:extLst>
          </p:cNvPr>
          <p:cNvSpPr>
            <a:spLocks xmlns:a="http://schemas.openxmlformats.org/drawingml/2006/main" noGrp="1"/>
          </p:cNvSpPr>
          <p:nvPr/>
        </p:nvSpPr>
        <p:spPr>
          <a:xfrm xmlns:a="http://schemas.openxmlformats.org/drawingml/2006/main">
            <a:off x="2381250" y="5715000"/>
            <a:ext cx="742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425" b="0" i="0">
                <a:solidFill>
                  <a:srgbClr val="5E7068"/>
                </a:solidFill>
                <a:latin typeface="Arimo"/>
                <a:ea typeface="Arimo"/>
                <a:cs typeface="Arimo"/>
              </a:defRPr>
            </a:pPr>
            <a:r>
              <a:rPr sz="1425" b="0" i="0">
                <a:solidFill>
                  <a:srgbClr val="5E7068"/>
                </a:solidFill>
                <a:latin typeface="Arimo"/>
                <a:ea typeface="Arimo"/>
                <a:cs typeface="Arimo"/>
              </a:rPr>
              <a:t>Each engine documents its assumptions and validation evidence</a:t>
            </a:r>
          </a:p>
        </p:txBody>
      </p:sp>
    </p:spTree>
    <p:extLst>
      <p:ext uri="{BB962C8B-B14F-4D97-AF65-F5344CB8AC3E}">
        <p14:creationId xmlns:p14="http://schemas.microsoft.com/office/powerpoint/2010/main" val="724591616"/>
      </p:ext>
    </p:extLst>
  </p:cSld>
</p:sld>
</file>

<file path=ppt/slides/slide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92569A4-2369-42D2-A0AF-A0ECE4A6CB90}"/>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F039E6B-C5DE-49CF-A7FE-AF64EFB7A6D5}"/>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Support for planning field studies</a:t>
            </a:r>
          </a:p>
        </p:txBody>
      </p:sp>
      <p:sp>
        <p:nvSpPr>
          <p:cNvPr id="3" name="">
            <a:extLst xmlns:a="http://schemas.openxmlformats.org/drawingml/2006/main">
              <a:ext uri="{FF2B5EF4-FFF2-40B4-BE49-F238E27FC236}">
                <a16:creationId xmlns:a16="http://schemas.microsoft.com/office/drawing/2014/main" id="{BBE8D89D-9762-485D-B121-FDDEAC7CD6ED}"/>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Offline scenario testing complements operator-led review</a:t>
            </a:r>
          </a:p>
        </p:txBody>
      </p:sp>
      <p:sp>
        <p:nvSpPr>
          <p:cNvPr id="4" name="">
            <a:extLst xmlns:a="http://schemas.openxmlformats.org/drawingml/2006/main">
              <a:ext uri="{FF2B5EF4-FFF2-40B4-BE49-F238E27FC236}">
                <a16:creationId xmlns:a16="http://schemas.microsoft.com/office/drawing/2014/main" id="{AE998571-467D-457A-9FFF-38C370B166C2}"/>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CAFB4A6F-9B8D-443A-B832-B91CFC6051A4}"/>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04</a:t>
            </a:r>
          </a:p>
        </p:txBody>
      </p:sp>
      <p:sp>
        <p:nvSpPr>
          <p:cNvPr id="6" name="">
            <a:extLst xmlns:a="http://schemas.openxmlformats.org/drawingml/2006/main">
              <a:ext uri="{FF2B5EF4-FFF2-40B4-BE49-F238E27FC236}">
                <a16:creationId xmlns:a16="http://schemas.microsoft.com/office/drawing/2014/main" id="{98FBE8DB-6F8E-4CAE-A8AC-B3E82443602D}"/>
              </a:ext>
            </a:extLst>
          </p:cNvPr>
          <p:cNvSpPr>
            <a:spLocks xmlns:a="http://schemas.openxmlformats.org/drawingml/2006/main" noGrp="1"/>
          </p:cNvSpPr>
          <p:nvPr/>
        </p:nvSpPr>
        <p:spPr>
          <a:xfrm xmlns:a="http://schemas.openxmlformats.org/drawingml/2006/main">
            <a:off x="809625" y="1762125"/>
            <a:ext cx="20955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949"/>
          </a:bodyPr>
          <a:lstStyle xmlns:a="http://schemas.openxmlformats.org/drawingml/2006/main"/>
          <a:p xmlns:a="http://schemas.openxmlformats.org/drawingml/2006/main">
            <a:pPr algn="ctr">
              <a:lnSpc>
                <a:spcPct val="104000"/>
              </a:lnSpc>
              <a:buNone/>
              <a:defRPr sz="7500" b="1" i="0">
                <a:solidFill>
                  <a:srgbClr val="167A55"/>
                </a:solidFill>
                <a:latin typeface="Arimo"/>
                <a:ea typeface="Arimo"/>
                <a:cs typeface="Arimo"/>
              </a:defRPr>
            </a:pPr>
            <a:r>
              <a:rPr sz="7500" b="1" i="0">
                <a:solidFill>
                  <a:srgbClr val="167A55"/>
                </a:solidFill>
                <a:latin typeface="Arimo"/>
                <a:ea typeface="Arimo"/>
                <a:cs typeface="Arimo"/>
              </a:rPr>
              <a:t>26</a:t>
            </a:r>
          </a:p>
        </p:txBody>
      </p:sp>
      <p:sp>
        <p:nvSpPr>
          <p:cNvPr id="7" name="">
            <a:extLst xmlns:a="http://schemas.openxmlformats.org/drawingml/2006/main">
              <a:ext uri="{FF2B5EF4-FFF2-40B4-BE49-F238E27FC236}">
                <a16:creationId xmlns:a16="http://schemas.microsoft.com/office/drawing/2014/main" id="{2D911486-AC7E-4C69-AB6A-DBBD5D6422B2}"/>
              </a:ext>
            </a:extLst>
          </p:cNvPr>
          <p:cNvSpPr>
            <a:spLocks xmlns:a="http://schemas.openxmlformats.org/drawingml/2006/main" noGrp="1"/>
          </p:cNvSpPr>
          <p:nvPr/>
        </p:nvSpPr>
        <p:spPr>
          <a:xfrm xmlns:a="http://schemas.openxmlformats.org/drawingml/2006/main">
            <a:off x="666750" y="289560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875" b="1" i="0">
                <a:solidFill>
                  <a:srgbClr val="10251D"/>
                </a:solidFill>
                <a:latin typeface="Arimo"/>
                <a:ea typeface="Arimo"/>
                <a:cs typeface="Arimo"/>
              </a:defRPr>
            </a:pPr>
            <a:r>
              <a:rPr sz="1875" b="1" i="0">
                <a:solidFill>
                  <a:srgbClr val="10251D"/>
                </a:solidFill>
                <a:latin typeface="Arimo"/>
                <a:ea typeface="Arimo"/>
                <a:cs typeface="Arimo"/>
              </a:rPr>
              <a:t>air handlers support the facility</a:t>
            </a:r>
          </a:p>
        </p:txBody>
      </p:sp>
      <p:sp>
        <p:nvSpPr>
          <p:cNvPr id="8" name="">
            <a:extLst xmlns:a="http://schemas.openxmlformats.org/drawingml/2006/main">
              <a:ext uri="{FF2B5EF4-FFF2-40B4-BE49-F238E27FC236}">
                <a16:creationId xmlns:a16="http://schemas.microsoft.com/office/drawing/2014/main" id="{E3E13EA5-D23A-499E-893C-B7229F77E550}"/>
              </a:ext>
            </a:extLst>
          </p:cNvPr>
          <p:cNvSpPr>
            <a:spLocks xmlns:a="http://schemas.openxmlformats.org/drawingml/2006/main" noGrp="1"/>
          </p:cNvSpPr>
          <p:nvPr/>
        </p:nvSpPr>
        <p:spPr>
          <a:xfrm xmlns:a="http://schemas.openxmlformats.org/drawingml/2006/main">
            <a:off x="3476625" y="1790700"/>
            <a:ext cx="0" cy="2524125"/>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9" name="">
            <a:extLst xmlns:a="http://schemas.openxmlformats.org/drawingml/2006/main">
              <a:ext uri="{FF2B5EF4-FFF2-40B4-BE49-F238E27FC236}">
                <a16:creationId xmlns:a16="http://schemas.microsoft.com/office/drawing/2014/main" id="{46E6C5AD-84BD-41DA-9E42-A0BEEC526A9E}"/>
              </a:ext>
            </a:extLst>
          </p:cNvPr>
          <p:cNvSpPr>
            <a:spLocks xmlns:a="http://schemas.openxmlformats.org/drawingml/2006/main" noGrp="1"/>
          </p:cNvSpPr>
          <p:nvPr/>
        </p:nvSpPr>
        <p:spPr>
          <a:xfrm xmlns:a="http://schemas.openxmlformats.org/drawingml/2006/main">
            <a:off x="4000500" y="1762125"/>
            <a:ext cx="3714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6450" b="1" i="0">
                <a:solidFill>
                  <a:srgbClr val="E69B3A"/>
                </a:solidFill>
                <a:latin typeface="Arimo"/>
                <a:ea typeface="Arimo"/>
                <a:cs typeface="Arimo"/>
              </a:defRPr>
            </a:pPr>
            <a:r>
              <a:rPr sz="6450" b="1" i="0">
                <a:solidFill>
                  <a:srgbClr val="E69B3A"/>
                </a:solidFill>
                <a:latin typeface="Arimo"/>
                <a:ea typeface="Arimo"/>
                <a:cs typeface="Arimo"/>
              </a:rPr>
              <a:t>about 20</a:t>
            </a:r>
          </a:p>
        </p:txBody>
      </p:sp>
      <p:sp>
        <p:nvSpPr>
          <p:cNvPr id="10" name="">
            <a:extLst xmlns:a="http://schemas.openxmlformats.org/drawingml/2006/main">
              <a:ext uri="{FF2B5EF4-FFF2-40B4-BE49-F238E27FC236}">
                <a16:creationId xmlns:a16="http://schemas.microsoft.com/office/drawing/2014/main" id="{4F7A8F09-2689-48C3-91DF-2EACE1412462}"/>
              </a:ext>
            </a:extLst>
          </p:cNvPr>
          <p:cNvSpPr>
            <a:spLocks xmlns:a="http://schemas.openxmlformats.org/drawingml/2006/main" noGrp="1"/>
          </p:cNvSpPr>
          <p:nvPr/>
        </p:nvSpPr>
        <p:spPr>
          <a:xfrm xmlns:a="http://schemas.openxmlformats.org/drawingml/2006/main">
            <a:off x="4095750" y="2895600"/>
            <a:ext cx="3524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800" b="1" i="0">
                <a:solidFill>
                  <a:srgbClr val="10251D"/>
                </a:solidFill>
                <a:latin typeface="Arimo"/>
                <a:ea typeface="Arimo"/>
                <a:cs typeface="Arimo"/>
              </a:defRPr>
            </a:pPr>
            <a:r>
              <a:rPr sz="1800" b="1" i="0">
                <a:solidFill>
                  <a:srgbClr val="10251D"/>
                </a:solidFill>
                <a:latin typeface="Arimo"/>
                <a:ea typeface="Arimo"/>
                <a:cs typeface="Arimo"/>
              </a:rPr>
              <a:t>minutes before a sunny-day power loss could irreparably damage biomes</a:t>
            </a:r>
          </a:p>
        </p:txBody>
      </p:sp>
      <p:sp>
        <p:nvSpPr>
          <p:cNvPr id="11" name="">
            <a:extLst xmlns:a="http://schemas.openxmlformats.org/drawingml/2006/main">
              <a:ext uri="{FF2B5EF4-FFF2-40B4-BE49-F238E27FC236}">
                <a16:creationId xmlns:a16="http://schemas.microsoft.com/office/drawing/2014/main" id="{8E4CFEFD-1616-46E2-BC95-9121710382EF}"/>
              </a:ext>
            </a:extLst>
          </p:cNvPr>
          <p:cNvSpPr>
            <a:spLocks xmlns:a="http://schemas.openxmlformats.org/drawingml/2006/main" noGrp="1"/>
          </p:cNvSpPr>
          <p:nvPr/>
        </p:nvSpPr>
        <p:spPr>
          <a:xfrm xmlns:a="http://schemas.openxmlformats.org/drawingml/2006/main">
            <a:off x="8096250" y="1790700"/>
            <a:ext cx="0" cy="2524125"/>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12" name="">
            <a:extLst xmlns:a="http://schemas.openxmlformats.org/drawingml/2006/main">
              <a:ext uri="{FF2B5EF4-FFF2-40B4-BE49-F238E27FC236}">
                <a16:creationId xmlns:a16="http://schemas.microsoft.com/office/drawing/2014/main" id="{F43245E1-564F-4748-8E47-47B51C5E8530}"/>
              </a:ext>
            </a:extLst>
          </p:cNvPr>
          <p:cNvSpPr>
            <a:spLocks xmlns:a="http://schemas.openxmlformats.org/drawingml/2006/main" noGrp="1"/>
          </p:cNvSpPr>
          <p:nvPr/>
        </p:nvSpPr>
        <p:spPr>
          <a:xfrm xmlns:a="http://schemas.openxmlformats.org/drawingml/2006/main">
            <a:off x="8620125" y="1962150"/>
            <a:ext cx="2571750" cy="1619250"/>
          </a:xfrm>
          <a:prstGeom xmlns:a="http://schemas.openxmlformats.org/drawingml/2006/main" prst="roundRect">
            <a:avLst>
              <a:gd name="adj" fmla="val 9412"/>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Researchers and</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operators plan</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field studies together</a:t>
            </a:r>
          </a:p>
        </p:txBody>
      </p:sp>
      <p:sp>
        <p:nvSpPr>
          <p:cNvPr id="13" name="">
            <a:extLst xmlns:a="http://schemas.openxmlformats.org/drawingml/2006/main">
              <a:ext uri="{FF2B5EF4-FFF2-40B4-BE49-F238E27FC236}">
                <a16:creationId xmlns:a16="http://schemas.microsoft.com/office/drawing/2014/main" id="{A03277F4-9FD5-43C5-8DBA-D7A91C6C2CC5}"/>
              </a:ext>
            </a:extLst>
          </p:cNvPr>
          <p:cNvSpPr>
            <a:spLocks xmlns:a="http://schemas.openxmlformats.org/drawingml/2006/main" noGrp="1"/>
          </p:cNvSpPr>
          <p:nvPr/>
        </p:nvSpPr>
        <p:spPr>
          <a:xfrm xmlns:a="http://schemas.openxmlformats.org/drawingml/2006/main">
            <a:off x="1143000" y="4762500"/>
            <a:ext cx="990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Facility context from Biosphere 2. The figures describe environmental support, not algorithm-specific risk.</a:t>
            </a:r>
          </a:p>
        </p:txBody>
      </p:sp>
    </p:spTree>
    <p:extLst>
      <p:ext uri="{BB962C8B-B14F-4D97-AF65-F5344CB8AC3E}">
        <p14:creationId xmlns:p14="http://schemas.microsoft.com/office/powerpoint/2010/main" val="1640339558"/>
      </p:ext>
    </p:extLst>
  </p:cSld>
</p:sld>
</file>

<file path=ppt/slides/slide5.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886C75C-54CC-442F-A2EB-60CB67098E01}"/>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DEE989D-A640-487A-86AD-858D7B540584}"/>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Virtual Proving Ground architecture</a:t>
            </a:r>
          </a:p>
        </p:txBody>
      </p:sp>
      <p:sp>
        <p:nvSpPr>
          <p:cNvPr id="3" name="">
            <a:extLst xmlns:a="http://schemas.openxmlformats.org/drawingml/2006/main">
              <a:ext uri="{FF2B5EF4-FFF2-40B4-BE49-F238E27FC236}">
                <a16:creationId xmlns:a16="http://schemas.microsoft.com/office/drawing/2014/main" id="{AD40309D-A761-4358-9660-3203F6D5B9C3}"/>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shared workflow supports strategy authors and Biosphere 2 operations</a:t>
            </a:r>
          </a:p>
        </p:txBody>
      </p:sp>
      <p:sp>
        <p:nvSpPr>
          <p:cNvPr id="4" name="">
            <a:extLst xmlns:a="http://schemas.openxmlformats.org/drawingml/2006/main">
              <a:ext uri="{FF2B5EF4-FFF2-40B4-BE49-F238E27FC236}">
                <a16:creationId xmlns:a16="http://schemas.microsoft.com/office/drawing/2014/main" id="{E6F39F01-FF14-4F9E-A3E9-F503E5124E24}"/>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669D5AAC-D4D3-47E5-82C2-0505A1596812}"/>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05</a:t>
            </a:r>
          </a:p>
        </p:txBody>
      </p:sp>
      <p:sp>
        <p:nvSpPr>
          <p:cNvPr id="6" name="">
            <a:extLst xmlns:a="http://schemas.openxmlformats.org/drawingml/2006/main">
              <a:ext uri="{FF2B5EF4-FFF2-40B4-BE49-F238E27FC236}">
                <a16:creationId xmlns:a16="http://schemas.microsoft.com/office/drawing/2014/main" id="{9A7F03D8-97D9-4409-8973-9A3DCB8319A7}"/>
              </a:ext>
            </a:extLst>
          </p:cNvPr>
          <p:cNvSpPr>
            <a:spLocks xmlns:a="http://schemas.openxmlformats.org/drawingml/2006/main" noGrp="1"/>
          </p:cNvSpPr>
          <p:nvPr/>
        </p:nvSpPr>
        <p:spPr>
          <a:xfrm xmlns:a="http://schemas.openxmlformats.org/drawingml/2006/main">
            <a:off x="495300" y="2419350"/>
            <a:ext cx="1809750" cy="1066800"/>
          </a:xfrm>
          <a:prstGeom xmlns:a="http://schemas.openxmlformats.org/drawingml/2006/main" prst="roundRect">
            <a:avLst>
              <a:gd name="adj" fmla="val 14286"/>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Strategy</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file</a:t>
            </a:r>
          </a:p>
        </p:txBody>
      </p:sp>
      <p:sp>
        <p:nvSpPr>
          <p:cNvPr id="7" name="">
            <a:extLst xmlns:a="http://schemas.openxmlformats.org/drawingml/2006/main">
              <a:ext uri="{FF2B5EF4-FFF2-40B4-BE49-F238E27FC236}">
                <a16:creationId xmlns:a16="http://schemas.microsoft.com/office/drawing/2014/main" id="{A38FEA40-4602-4426-9E8B-7D10F25A2674}"/>
              </a:ext>
            </a:extLst>
          </p:cNvPr>
          <p:cNvSpPr>
            <a:spLocks xmlns:a="http://schemas.openxmlformats.org/drawingml/2006/main" noGrp="1"/>
          </p:cNvSpPr>
          <p:nvPr/>
        </p:nvSpPr>
        <p:spPr>
          <a:xfrm xmlns:a="http://schemas.openxmlformats.org/drawingml/2006/main">
            <a:off x="2800350" y="2419350"/>
            <a:ext cx="1809750" cy="1066800"/>
          </a:xfrm>
          <a:prstGeom xmlns:a="http://schemas.openxmlformats.org/drawingml/2006/main" prst="roundRect">
            <a:avLst>
              <a:gd name="adj" fmla="val 14286"/>
            </a:avLst>
          </a:prstGeom>
          <a:solidFill xmlns:a="http://schemas.openxmlformats.org/drawingml/2006/main">
            <a:srgbClr val="EAF0E5"/>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Validate and</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set scenario</a:t>
            </a:r>
          </a:p>
        </p:txBody>
      </p:sp>
      <p:sp>
        <p:nvSpPr>
          <p:cNvPr id="8" name="">
            <a:extLst xmlns:a="http://schemas.openxmlformats.org/drawingml/2006/main">
              <a:ext uri="{FF2B5EF4-FFF2-40B4-BE49-F238E27FC236}">
                <a16:creationId xmlns:a16="http://schemas.microsoft.com/office/drawing/2014/main" id="{36D99350-98FA-4B3E-944A-C9D42BDC5FD6}"/>
              </a:ext>
            </a:extLst>
          </p:cNvPr>
          <p:cNvSpPr>
            <a:spLocks xmlns:a="http://schemas.openxmlformats.org/drawingml/2006/main" noGrp="1"/>
          </p:cNvSpPr>
          <p:nvPr/>
        </p:nvSpPr>
        <p:spPr>
          <a:xfrm xmlns:a="http://schemas.openxmlformats.org/drawingml/2006/main">
            <a:off x="5105400" y="2419350"/>
            <a:ext cx="1809750" cy="1066800"/>
          </a:xfrm>
          <a:prstGeom xmlns:a="http://schemas.openxmlformats.org/drawingml/2006/main" prst="roundRect">
            <a:avLst>
              <a:gd name="adj" fmla="val 14286"/>
            </a:avLst>
          </a:prstGeom>
          <a:solidFill xmlns:a="http://schemas.openxmlformats.org/drawingml/2006/main">
            <a:srgbClr val="D7EEE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Forward</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model</a:t>
            </a:r>
          </a:p>
        </p:txBody>
      </p:sp>
      <p:sp>
        <p:nvSpPr>
          <p:cNvPr id="9" name="">
            <a:extLst xmlns:a="http://schemas.openxmlformats.org/drawingml/2006/main">
              <a:ext uri="{FF2B5EF4-FFF2-40B4-BE49-F238E27FC236}">
                <a16:creationId xmlns:a16="http://schemas.microsoft.com/office/drawing/2014/main" id="{8792BC1D-D307-4224-BEEB-FD9956451BAC}"/>
              </a:ext>
            </a:extLst>
          </p:cNvPr>
          <p:cNvSpPr>
            <a:spLocks xmlns:a="http://schemas.openxmlformats.org/drawingml/2006/main" noGrp="1"/>
          </p:cNvSpPr>
          <p:nvPr/>
        </p:nvSpPr>
        <p:spPr>
          <a:xfrm xmlns:a="http://schemas.openxmlformats.org/drawingml/2006/main">
            <a:off x="7410450" y="2419350"/>
            <a:ext cx="1809750" cy="1066800"/>
          </a:xfrm>
          <a:prstGeom xmlns:a="http://schemas.openxmlformats.org/drawingml/2006/main" prst="roundRect">
            <a:avLst>
              <a:gd name="adj" fmla="val 14286"/>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Evaluate</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results</a:t>
            </a:r>
          </a:p>
        </p:txBody>
      </p:sp>
      <p:sp>
        <p:nvSpPr>
          <p:cNvPr id="10" name="">
            <a:extLst xmlns:a="http://schemas.openxmlformats.org/drawingml/2006/main">
              <a:ext uri="{FF2B5EF4-FFF2-40B4-BE49-F238E27FC236}">
                <a16:creationId xmlns:a16="http://schemas.microsoft.com/office/drawing/2014/main" id="{A8B95A0D-5524-4057-916E-373B143C0B47}"/>
              </a:ext>
            </a:extLst>
          </p:cNvPr>
          <p:cNvSpPr>
            <a:spLocks xmlns:a="http://schemas.openxmlformats.org/drawingml/2006/main" noGrp="1"/>
          </p:cNvSpPr>
          <p:nvPr/>
        </p:nvSpPr>
        <p:spPr>
          <a:xfrm xmlns:a="http://schemas.openxmlformats.org/drawingml/2006/main">
            <a:off x="9715500" y="2419350"/>
            <a:ext cx="1809750" cy="1066800"/>
          </a:xfrm>
          <a:prstGeom xmlns:a="http://schemas.openxmlformats.org/drawingml/2006/main" prst="roundRect">
            <a:avLst>
              <a:gd name="adj" fmla="val 14286"/>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Operator</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review</a:t>
            </a:r>
          </a:p>
        </p:txBody>
      </p: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a:off x="2305050" y="2952750"/>
            <a:ext cx="49530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9" name=""/>
          <p:cNvCxnSpPr>
            <a:stCxn xmlns:a="http://schemas.openxmlformats.org/drawingml/2006/main" id="7" idx="3"/>
            <a:endCxn xmlns:a="http://schemas.openxmlformats.org/drawingml/2006/main" id="8" idx="1"/>
          </p:cNvCxnSpPr>
          <p:nvPr/>
        </p:nvCxnSpPr>
        <p:spPr>
          <a:xfrm xmlns:a="http://schemas.openxmlformats.org/drawingml/2006/main">
            <a:off x="4610100" y="2952750"/>
            <a:ext cx="49530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30" name=""/>
          <p:cNvCxnSpPr>
            <a:stCxn xmlns:a="http://schemas.openxmlformats.org/drawingml/2006/main" id="8" idx="3"/>
            <a:endCxn xmlns:a="http://schemas.openxmlformats.org/drawingml/2006/main" id="9" idx="1"/>
          </p:cNvCxnSpPr>
          <p:nvPr/>
        </p:nvCxnSpPr>
        <p:spPr>
          <a:xfrm xmlns:a="http://schemas.openxmlformats.org/drawingml/2006/main">
            <a:off x="6915150" y="2952750"/>
            <a:ext cx="495300" cy="0"/>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cxnSp>
        <p:nvCxnSpPr>
          <p:cNvPr id="31" name=""/>
          <p:cNvCxnSpPr>
            <a:stCxn xmlns:a="http://schemas.openxmlformats.org/drawingml/2006/main" id="9" idx="3"/>
            <a:endCxn xmlns:a="http://schemas.openxmlformats.org/drawingml/2006/main" id="10" idx="1"/>
          </p:cNvCxnSpPr>
          <p:nvPr/>
        </p:nvCxnSpPr>
        <p:spPr>
          <a:xfrm xmlns:a="http://schemas.openxmlformats.org/drawingml/2006/main">
            <a:off x="9220200" y="2952750"/>
            <a:ext cx="49530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sp>
        <p:nvSpPr>
          <p:cNvPr id="15" name="">
            <a:extLst xmlns:a="http://schemas.openxmlformats.org/drawingml/2006/main">
              <a:ext uri="{FF2B5EF4-FFF2-40B4-BE49-F238E27FC236}">
                <a16:creationId xmlns:a16="http://schemas.microsoft.com/office/drawing/2014/main" id="{0AEA5567-467A-4ECE-A7F0-5881ED8AF2E0}"/>
              </a:ext>
            </a:extLst>
          </p:cNvPr>
          <p:cNvSpPr>
            <a:spLocks xmlns:a="http://schemas.openxmlformats.org/drawingml/2006/main" noGrp="1"/>
          </p:cNvSpPr>
          <p:nvPr/>
        </p:nvSpPr>
        <p:spPr>
          <a:xfrm xmlns:a="http://schemas.openxmlformats.org/drawingml/2006/main">
            <a:off x="1047750" y="4267200"/>
            <a:ext cx="10096500" cy="723900"/>
          </a:xfrm>
          <a:prstGeom xmlns:a="http://schemas.openxmlformats.org/drawingml/2006/main" prst="roundRect">
            <a:avLst>
              <a:gd name="adj" fmla="val 18421"/>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93839"/>
          </a:bodyPr>
          <a:lstStyle xmlns:a="http://schemas.openxmlformats.org/drawingml/2006/main"/>
          <a:p xmlns:a="http://schemas.openxmlformats.org/drawingml/2006/main">
            <a:pPr algn="ctr">
              <a:lnSpc>
                <a:spcPct val="100000"/>
              </a:lnSpc>
              <a:buNone/>
              <a:defRPr sz="1725" b="1">
                <a:solidFill>
                  <a:srgbClr val="FFFFFF"/>
                </a:solidFill>
                <a:latin typeface="Arimo"/>
                <a:ea typeface="Arimo"/>
                <a:cs typeface="Arimo"/>
              </a:defRPr>
            </a:pPr>
            <a:r>
              <a:rPr sz="1725" b="1">
                <a:solidFill>
                  <a:srgbClr val="FFFFFF"/>
                </a:solidFill>
                <a:latin typeface="Arimo"/>
                <a:ea typeface="Arimo"/>
                <a:cs typeface="Arimo"/>
              </a:rPr>
              <a:t>Versioned run record: submitted schedule, initial state, context, model, metrics, uncertainty, and flags</a:t>
            </a:r>
          </a:p>
        </p:txBody>
      </p:sp>
      <p:sp>
        <p:nvSpPr>
          <p:cNvPr id="16" name="">
            <a:extLst xmlns:a="http://schemas.openxmlformats.org/drawingml/2006/main">
              <a:ext uri="{FF2B5EF4-FFF2-40B4-BE49-F238E27FC236}">
                <a16:creationId xmlns:a16="http://schemas.microsoft.com/office/drawing/2014/main" id="{18FE603A-D19C-470F-A22A-93EA0471B798}"/>
              </a:ext>
            </a:extLst>
          </p:cNvPr>
          <p:cNvSpPr>
            <a:spLocks xmlns:a="http://schemas.openxmlformats.org/drawingml/2006/main" noGrp="1"/>
          </p:cNvSpPr>
          <p:nvPr/>
        </p:nvSpPr>
        <p:spPr>
          <a:xfrm xmlns:a="http://schemas.openxmlformats.org/drawingml/2006/main">
            <a:off x="6096000" y="3486150"/>
            <a:ext cx="0" cy="762000"/>
          </a:xfrm>
          <a:prstGeom xmlns:a="http://schemas.openxmlformats.org/drawingml/2006/main" prst="line">
            <a:avLst/>
          </a:prstGeom>
          <a:noFill xmlns:a="http://schemas.openxmlformats.org/drawingml/2006/main"/>
          <a:ln xmlns:a="http://schemas.openxmlformats.org/drawingml/2006/main" w="28575">
            <a:solidFill>
              <a:srgbClr val="167A55"/>
            </a:solidFill>
            <a:prstDash val="solid"/>
          </a:ln>
        </p:spPr>
      </p:sp>
      <p:sp>
        <p:nvSpPr>
          <p:cNvPr id="17" name="">
            <a:extLst xmlns:a="http://schemas.openxmlformats.org/drawingml/2006/main">
              <a:ext uri="{FF2B5EF4-FFF2-40B4-BE49-F238E27FC236}">
                <a16:creationId xmlns:a16="http://schemas.microsoft.com/office/drawing/2014/main" id="{D7F5BFD4-8464-4B68-B3F5-2CAC5F21E584}"/>
              </a:ext>
            </a:extLst>
          </p:cNvPr>
          <p:cNvSpPr>
            <a:spLocks xmlns:a="http://schemas.openxmlformats.org/drawingml/2006/main" noGrp="1"/>
          </p:cNvSpPr>
          <p:nvPr/>
        </p:nvSpPr>
        <p:spPr>
          <a:xfrm xmlns:a="http://schemas.openxmlformats.org/drawingml/2006/main">
            <a:off x="1666875" y="5314950"/>
            <a:ext cx="885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650" b="1" i="0">
                <a:solidFill>
                  <a:srgbClr val="167A55"/>
                </a:solidFill>
                <a:latin typeface="Arimo"/>
                <a:ea typeface="Arimo"/>
                <a:cs typeface="Arimo"/>
              </a:defRPr>
            </a:pPr>
            <a:r>
              <a:rPr sz="1650" b="1" i="0">
                <a:solidFill>
                  <a:srgbClr val="167A55"/>
                </a:solidFill>
                <a:latin typeface="Arimo"/>
                <a:ea typeface="Arimo"/>
                <a:cs typeface="Arimo"/>
              </a:rPr>
              <a:t>The platform tests externally created strategies. It does not generate or rewrite them.</a:t>
            </a:r>
          </a:p>
        </p:txBody>
      </p:sp>
    </p:spTree>
    <p:extLst>
      <p:ext uri="{BB962C8B-B14F-4D97-AF65-F5344CB8AC3E}">
        <p14:creationId xmlns:p14="http://schemas.microsoft.com/office/powerpoint/2010/main" val="761943246"/>
      </p:ext>
    </p:extLst>
  </p:cSld>
</p:sld>
</file>

<file path=ppt/slides/slide6.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1C0903B-1D55-4B64-A020-E8C6DC5F14BB}"/>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E8080AB-E04C-494E-ADB3-CDEADF915C80}"/>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Climate strategy contract</a:t>
            </a:r>
          </a:p>
        </p:txBody>
      </p:sp>
      <p:sp>
        <p:nvSpPr>
          <p:cNvPr id="3" name="">
            <a:extLst xmlns:a="http://schemas.openxmlformats.org/drawingml/2006/main">
              <a:ext uri="{FF2B5EF4-FFF2-40B4-BE49-F238E27FC236}">
                <a16:creationId xmlns:a16="http://schemas.microsoft.com/office/drawing/2014/main" id="{7F080A2D-46B5-4C95-B4A8-18FE1027A207}"/>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strategy is a timestamped sequence of complete commands</a:t>
            </a:r>
          </a:p>
        </p:txBody>
      </p:sp>
      <p:sp>
        <p:nvSpPr>
          <p:cNvPr id="4" name="">
            <a:extLst xmlns:a="http://schemas.openxmlformats.org/drawingml/2006/main">
              <a:ext uri="{FF2B5EF4-FFF2-40B4-BE49-F238E27FC236}">
                <a16:creationId xmlns:a16="http://schemas.microsoft.com/office/drawing/2014/main" id="{048217A8-5FFA-4C8A-B4DD-6DFDC8304350}"/>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7C466D71-805B-4759-BE47-0A4C300FAA0E}"/>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06</a:t>
            </a:r>
          </a:p>
        </p:txBody>
      </p:sp>
      <p:sp>
        <p:nvSpPr>
          <p:cNvPr id="6" name="">
            <a:extLst xmlns:a="http://schemas.openxmlformats.org/drawingml/2006/main">
              <a:ext uri="{FF2B5EF4-FFF2-40B4-BE49-F238E27FC236}">
                <a16:creationId xmlns:a16="http://schemas.microsoft.com/office/drawing/2014/main" id="{418C375F-C8A8-4F13-A033-81F89C290A4B}"/>
              </a:ext>
            </a:extLst>
          </p:cNvPr>
          <p:cNvSpPr>
            <a:spLocks xmlns:a="http://schemas.openxmlformats.org/drawingml/2006/main" noGrp="1"/>
          </p:cNvSpPr>
          <p:nvPr/>
        </p:nvSpPr>
        <p:spPr>
          <a:xfrm xmlns:a="http://schemas.openxmlformats.org/drawingml/2006/main">
            <a:off x="838200" y="1581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75" b="1" i="0">
                <a:solidFill>
                  <a:srgbClr val="5E7068"/>
                </a:solidFill>
                <a:latin typeface="Arimo"/>
                <a:ea typeface="Arimo"/>
                <a:cs typeface="Arimo"/>
              </a:defRPr>
            </a:pPr>
            <a:r>
              <a:rPr sz="1275" b="1" i="0">
                <a:solidFill>
                  <a:srgbClr val="5E7068"/>
                </a:solidFill>
                <a:latin typeface="Arimo"/>
                <a:ea typeface="Arimo"/>
                <a:cs typeface="Arimo"/>
              </a:rPr>
              <a:t>timestamp</a:t>
            </a:r>
          </a:p>
        </p:txBody>
      </p:sp>
      <p:sp>
        <p:nvSpPr>
          <p:cNvPr id="7" name="">
            <a:extLst xmlns:a="http://schemas.openxmlformats.org/drawingml/2006/main">
              <a:ext uri="{FF2B5EF4-FFF2-40B4-BE49-F238E27FC236}">
                <a16:creationId xmlns:a16="http://schemas.microsoft.com/office/drawing/2014/main" id="{F785F360-1D88-4859-96C6-0FC4348F7918}"/>
              </a:ext>
            </a:extLst>
          </p:cNvPr>
          <p:cNvSpPr>
            <a:spLocks xmlns:a="http://schemas.openxmlformats.org/drawingml/2006/main" noGrp="1"/>
          </p:cNvSpPr>
          <p:nvPr/>
        </p:nvSpPr>
        <p:spPr>
          <a:xfrm xmlns:a="http://schemas.openxmlformats.org/drawingml/2006/main">
            <a:off x="2571750" y="158115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75" b="1" i="0">
                <a:solidFill>
                  <a:srgbClr val="5E7068"/>
                </a:solidFill>
                <a:latin typeface="Arimo"/>
                <a:ea typeface="Arimo"/>
                <a:cs typeface="Arimo"/>
              </a:defRPr>
            </a:pPr>
            <a:r>
              <a:rPr sz="1275" b="1" i="0">
                <a:solidFill>
                  <a:srgbClr val="5E7068"/>
                </a:solidFill>
                <a:latin typeface="Arimo"/>
                <a:ea typeface="Arimo"/>
                <a:cs typeface="Arimo"/>
              </a:rPr>
              <a:t>complete absolute control vector</a:t>
            </a:r>
          </a:p>
        </p:txBody>
      </p:sp>
      <p:sp>
        <p:nvSpPr>
          <p:cNvPr id="8" name="">
            <a:extLst xmlns:a="http://schemas.openxmlformats.org/drawingml/2006/main">
              <a:ext uri="{FF2B5EF4-FFF2-40B4-BE49-F238E27FC236}">
                <a16:creationId xmlns:a16="http://schemas.microsoft.com/office/drawing/2014/main" id="{97A9480D-CA6E-4773-9830-0B3FFF2CEB37}"/>
              </a:ext>
            </a:extLst>
          </p:cNvPr>
          <p:cNvSpPr>
            <a:spLocks xmlns:a="http://schemas.openxmlformats.org/drawingml/2006/main" noGrp="1"/>
          </p:cNvSpPr>
          <p:nvPr/>
        </p:nvSpPr>
        <p:spPr>
          <a:xfrm xmlns:a="http://schemas.openxmlformats.org/drawingml/2006/main">
            <a:off x="762000" y="19526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08:00</a:t>
            </a:r>
          </a:p>
        </p:txBody>
      </p:sp>
      <p:sp>
        <p:nvSpPr>
          <p:cNvPr id="9" name="">
            <a:extLst xmlns:a="http://schemas.openxmlformats.org/drawingml/2006/main">
              <a:ext uri="{FF2B5EF4-FFF2-40B4-BE49-F238E27FC236}">
                <a16:creationId xmlns:a16="http://schemas.microsoft.com/office/drawing/2014/main" id="{7BC1420A-CD92-4ADB-A401-1AE868578A68}"/>
              </a:ext>
            </a:extLst>
          </p:cNvPr>
          <p:cNvSpPr>
            <a:spLocks xmlns:a="http://schemas.openxmlformats.org/drawingml/2006/main" noGrp="1"/>
          </p:cNvSpPr>
          <p:nvPr/>
        </p:nvSpPr>
        <p:spPr>
          <a:xfrm xmlns:a="http://schemas.openxmlformats.org/drawingml/2006/main">
            <a:off x="2476500" y="19526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u(1)  =  [ u0, u1, ... , u63 ]</a:t>
            </a:r>
          </a:p>
        </p:txBody>
      </p:sp>
      <p:sp>
        <p:nvSpPr>
          <p:cNvPr id="10" name="">
            <a:extLst xmlns:a="http://schemas.openxmlformats.org/drawingml/2006/main">
              <a:ext uri="{FF2B5EF4-FFF2-40B4-BE49-F238E27FC236}">
                <a16:creationId xmlns:a16="http://schemas.microsoft.com/office/drawing/2014/main" id="{AC8BD3CE-853F-4268-A12E-49AE13AC05DB}"/>
              </a:ext>
            </a:extLst>
          </p:cNvPr>
          <p:cNvSpPr>
            <a:spLocks xmlns:a="http://schemas.openxmlformats.org/drawingml/2006/main" noGrp="1"/>
          </p:cNvSpPr>
          <p:nvPr/>
        </p:nvSpPr>
        <p:spPr>
          <a:xfrm xmlns:a="http://schemas.openxmlformats.org/drawingml/2006/main">
            <a:off x="762000" y="26384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10:00</a:t>
            </a:r>
          </a:p>
        </p:txBody>
      </p:sp>
      <p:sp>
        <p:nvSpPr>
          <p:cNvPr id="11" name="">
            <a:extLst xmlns:a="http://schemas.openxmlformats.org/drawingml/2006/main">
              <a:ext uri="{FF2B5EF4-FFF2-40B4-BE49-F238E27FC236}">
                <a16:creationId xmlns:a16="http://schemas.microsoft.com/office/drawing/2014/main" id="{C105E80D-54E7-4835-A831-D0DB7F8A9BE5}"/>
              </a:ext>
            </a:extLst>
          </p:cNvPr>
          <p:cNvSpPr>
            <a:spLocks xmlns:a="http://schemas.openxmlformats.org/drawingml/2006/main" noGrp="1"/>
          </p:cNvSpPr>
          <p:nvPr/>
        </p:nvSpPr>
        <p:spPr>
          <a:xfrm xmlns:a="http://schemas.openxmlformats.org/drawingml/2006/main">
            <a:off x="2476500" y="26384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u(2)  =  [ u0, u1, ... , u63 ]</a:t>
            </a:r>
          </a:p>
        </p:txBody>
      </p:sp>
      <p:sp>
        <p:nvSpPr>
          <p:cNvPr id="12" name="">
            <a:extLst xmlns:a="http://schemas.openxmlformats.org/drawingml/2006/main">
              <a:ext uri="{FF2B5EF4-FFF2-40B4-BE49-F238E27FC236}">
                <a16:creationId xmlns:a16="http://schemas.microsoft.com/office/drawing/2014/main" id="{6783E376-508C-4111-9C2B-662BB5F1FEBD}"/>
              </a:ext>
            </a:extLst>
          </p:cNvPr>
          <p:cNvSpPr>
            <a:spLocks xmlns:a="http://schemas.openxmlformats.org/drawingml/2006/main" noGrp="1"/>
          </p:cNvSpPr>
          <p:nvPr/>
        </p:nvSpPr>
        <p:spPr>
          <a:xfrm xmlns:a="http://schemas.openxmlformats.org/drawingml/2006/main">
            <a:off x="762000" y="3324225"/>
            <a:ext cx="1428750" cy="457200"/>
          </a:xfrm>
          <a:prstGeom xmlns:a="http://schemas.openxmlformats.org/drawingml/2006/main" prst="roundRect">
            <a:avLst>
              <a:gd name="adj" fmla="val 33333"/>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12:00</a:t>
            </a:r>
          </a:p>
        </p:txBody>
      </p:sp>
      <p:sp>
        <p:nvSpPr>
          <p:cNvPr id="13" name="">
            <a:extLst xmlns:a="http://schemas.openxmlformats.org/drawingml/2006/main">
              <a:ext uri="{FF2B5EF4-FFF2-40B4-BE49-F238E27FC236}">
                <a16:creationId xmlns:a16="http://schemas.microsoft.com/office/drawing/2014/main" id="{77B9C712-4CFB-4E4F-A02E-C25EAA881FBF}"/>
              </a:ext>
            </a:extLst>
          </p:cNvPr>
          <p:cNvSpPr>
            <a:spLocks xmlns:a="http://schemas.openxmlformats.org/drawingml/2006/main" noGrp="1"/>
          </p:cNvSpPr>
          <p:nvPr/>
        </p:nvSpPr>
        <p:spPr>
          <a:xfrm xmlns:a="http://schemas.openxmlformats.org/drawingml/2006/main">
            <a:off x="2476500" y="3324225"/>
            <a:ext cx="4953000" cy="457200"/>
          </a:xfrm>
          <a:prstGeom xmlns:a="http://schemas.openxmlformats.org/drawingml/2006/main" prst="roundRect">
            <a:avLst>
              <a:gd name="adj" fmla="val 33333"/>
            </a:avLst>
          </a:prstGeom>
          <a:solidFill xmlns:a="http://schemas.openxmlformats.org/drawingml/2006/main">
            <a:srgbClr val="FFF6E6"/>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u(3)  =  [ u0, u1, ... , u63 ]</a:t>
            </a:r>
          </a:p>
        </p:txBody>
      </p:sp>
      <p:sp>
        <p:nvSpPr>
          <p:cNvPr id="14" name="">
            <a:extLst xmlns:a="http://schemas.openxmlformats.org/drawingml/2006/main">
              <a:ext uri="{FF2B5EF4-FFF2-40B4-BE49-F238E27FC236}">
                <a16:creationId xmlns:a16="http://schemas.microsoft.com/office/drawing/2014/main" id="{ED7561D9-750E-4A87-AA64-A9E900C17F61}"/>
              </a:ext>
            </a:extLst>
          </p:cNvPr>
          <p:cNvSpPr>
            <a:spLocks xmlns:a="http://schemas.openxmlformats.org/drawingml/2006/main" noGrp="1"/>
          </p:cNvSpPr>
          <p:nvPr/>
        </p:nvSpPr>
        <p:spPr>
          <a:xfrm xmlns:a="http://schemas.openxmlformats.org/drawingml/2006/main">
            <a:off x="762000" y="40100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14:00</a:t>
            </a:r>
          </a:p>
        </p:txBody>
      </p:sp>
      <p:sp>
        <p:nvSpPr>
          <p:cNvPr id="15" name="">
            <a:extLst xmlns:a="http://schemas.openxmlformats.org/drawingml/2006/main">
              <a:ext uri="{FF2B5EF4-FFF2-40B4-BE49-F238E27FC236}">
                <a16:creationId xmlns:a16="http://schemas.microsoft.com/office/drawing/2014/main" id="{DA80AFCD-CC03-4558-BABE-EC70771C3934}"/>
              </a:ext>
            </a:extLst>
          </p:cNvPr>
          <p:cNvSpPr>
            <a:spLocks xmlns:a="http://schemas.openxmlformats.org/drawingml/2006/main" noGrp="1"/>
          </p:cNvSpPr>
          <p:nvPr/>
        </p:nvSpPr>
        <p:spPr>
          <a:xfrm xmlns:a="http://schemas.openxmlformats.org/drawingml/2006/main">
            <a:off x="2476500" y="40100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u(4)  =  [ u0, u1, ... , u63 ]</a:t>
            </a:r>
          </a:p>
        </p:txBody>
      </p:sp>
      <p:sp>
        <p:nvSpPr>
          <p:cNvPr id="16" name="">
            <a:extLst xmlns:a="http://schemas.openxmlformats.org/drawingml/2006/main">
              <a:ext uri="{FF2B5EF4-FFF2-40B4-BE49-F238E27FC236}">
                <a16:creationId xmlns:a16="http://schemas.microsoft.com/office/drawing/2014/main" id="{B5B8241D-3786-4010-8494-6B2E319FC9BE}"/>
              </a:ext>
            </a:extLst>
          </p:cNvPr>
          <p:cNvSpPr>
            <a:spLocks xmlns:a="http://schemas.openxmlformats.org/drawingml/2006/main" noGrp="1"/>
          </p:cNvSpPr>
          <p:nvPr/>
        </p:nvSpPr>
        <p:spPr>
          <a:xfrm xmlns:a="http://schemas.openxmlformats.org/drawingml/2006/main">
            <a:off x="762000" y="46958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16:00</a:t>
            </a:r>
          </a:p>
        </p:txBody>
      </p:sp>
      <p:sp>
        <p:nvSpPr>
          <p:cNvPr id="17" name="">
            <a:extLst xmlns:a="http://schemas.openxmlformats.org/drawingml/2006/main">
              <a:ext uri="{FF2B5EF4-FFF2-40B4-BE49-F238E27FC236}">
                <a16:creationId xmlns:a16="http://schemas.microsoft.com/office/drawing/2014/main" id="{6968B727-DCBC-48CA-AEC0-A13D43F2E0CD}"/>
              </a:ext>
            </a:extLst>
          </p:cNvPr>
          <p:cNvSpPr>
            <a:spLocks xmlns:a="http://schemas.openxmlformats.org/drawingml/2006/main" noGrp="1"/>
          </p:cNvSpPr>
          <p:nvPr/>
        </p:nvSpPr>
        <p:spPr>
          <a:xfrm xmlns:a="http://schemas.openxmlformats.org/drawingml/2006/main">
            <a:off x="2476500" y="46958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u(5)  =  [ u0, u1, ... , u63 ]</a:t>
            </a:r>
          </a:p>
        </p:txBody>
      </p:sp>
      <p:sp>
        <p:nvSpPr>
          <p:cNvPr id="18" name="">
            <a:extLst xmlns:a="http://schemas.openxmlformats.org/drawingml/2006/main">
              <a:ext uri="{FF2B5EF4-FFF2-40B4-BE49-F238E27FC236}">
                <a16:creationId xmlns:a16="http://schemas.microsoft.com/office/drawing/2014/main" id="{19B379B0-1F0D-4243-B414-B974B66D4048}"/>
              </a:ext>
            </a:extLst>
          </p:cNvPr>
          <p:cNvSpPr>
            <a:spLocks xmlns:a="http://schemas.openxmlformats.org/drawingml/2006/main" noGrp="1"/>
          </p:cNvSpPr>
          <p:nvPr/>
        </p:nvSpPr>
        <p:spPr>
          <a:xfrm xmlns:a="http://schemas.openxmlformats.org/drawingml/2006/main">
            <a:off x="8020050" y="2000250"/>
            <a:ext cx="1428750" cy="876300"/>
          </a:xfrm>
          <a:prstGeom xmlns:a="http://schemas.openxmlformats.org/drawingml/2006/main" prst="roundRect">
            <a:avLst>
              <a:gd name="adj" fmla="val 17391"/>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15</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setpoints</a:t>
            </a:r>
          </a:p>
        </p:txBody>
      </p:sp>
      <p:sp>
        <p:nvSpPr>
          <p:cNvPr id="19" name="">
            <a:extLst xmlns:a="http://schemas.openxmlformats.org/drawingml/2006/main">
              <a:ext uri="{FF2B5EF4-FFF2-40B4-BE49-F238E27FC236}">
                <a16:creationId xmlns:a16="http://schemas.microsoft.com/office/drawing/2014/main" id="{F3C9E812-D43B-4786-891E-3D55F4474A84}"/>
              </a:ext>
            </a:extLst>
          </p:cNvPr>
          <p:cNvSpPr>
            <a:spLocks xmlns:a="http://schemas.openxmlformats.org/drawingml/2006/main" noGrp="1"/>
          </p:cNvSpPr>
          <p:nvPr/>
        </p:nvSpPr>
        <p:spPr>
          <a:xfrm xmlns:a="http://schemas.openxmlformats.org/drawingml/2006/main">
            <a:off x="9601200" y="2000250"/>
            <a:ext cx="1066800" cy="876300"/>
          </a:xfrm>
          <a:prstGeom xmlns:a="http://schemas.openxmlformats.org/drawingml/2006/main" prst="roundRect">
            <a:avLst>
              <a:gd name="adj" fmla="val 17391"/>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7</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fans</a:t>
            </a:r>
          </a:p>
        </p:txBody>
      </p:sp>
      <p:sp>
        <p:nvSpPr>
          <p:cNvPr id="20" name="">
            <a:extLst xmlns:a="http://schemas.openxmlformats.org/drawingml/2006/main">
              <a:ext uri="{FF2B5EF4-FFF2-40B4-BE49-F238E27FC236}">
                <a16:creationId xmlns:a16="http://schemas.microsoft.com/office/drawing/2014/main" id="{226A9F4A-DAEB-4465-BCF0-01924CFF519E}"/>
              </a:ext>
            </a:extLst>
          </p:cNvPr>
          <p:cNvSpPr>
            <a:spLocks xmlns:a="http://schemas.openxmlformats.org/drawingml/2006/main" noGrp="1"/>
          </p:cNvSpPr>
          <p:nvPr/>
        </p:nvSpPr>
        <p:spPr>
          <a:xfrm xmlns:a="http://schemas.openxmlformats.org/drawingml/2006/main">
            <a:off x="8191500" y="3086100"/>
            <a:ext cx="2247900" cy="990600"/>
          </a:xfrm>
          <a:prstGeom xmlns:a="http://schemas.openxmlformats.org/drawingml/2006/main" prst="roundRect">
            <a:avLst>
              <a:gd name="adj" fmla="val 15385"/>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4960"/>
          </a:bodyPr>
          <a:lstStyle xmlns:a="http://schemas.openxmlformats.org/drawingml/2006/main"/>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42</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valves and dampers</a:t>
            </a:r>
          </a:p>
        </p:txBody>
      </p:sp>
      <p:sp>
        <p:nvSpPr>
          <p:cNvPr id="21" name="">
            <a:extLst xmlns:a="http://schemas.openxmlformats.org/drawingml/2006/main">
              <a:ext uri="{FF2B5EF4-FFF2-40B4-BE49-F238E27FC236}">
                <a16:creationId xmlns:a16="http://schemas.microsoft.com/office/drawing/2014/main" id="{638A108C-8FA8-4D79-B6D6-6AD0F0AB6694}"/>
              </a:ext>
            </a:extLst>
          </p:cNvPr>
          <p:cNvSpPr>
            <a:spLocks xmlns:a="http://schemas.openxmlformats.org/drawingml/2006/main" noGrp="1"/>
          </p:cNvSpPr>
          <p:nvPr/>
        </p:nvSpPr>
        <p:spPr>
          <a:xfrm xmlns:a="http://schemas.openxmlformats.org/drawingml/2006/main">
            <a:off x="8096250" y="4552950"/>
            <a:ext cx="2762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172"/>
          </a:bodyPr>
          <a:lstStyle xmlns:a="http://schemas.openxmlformats.org/drawingml/2006/main"/>
          <a:p xmlns:a="http://schemas.openxmlformats.org/drawingml/2006/main">
            <a:pPr algn="ctr">
              <a:lnSpc>
                <a:spcPct val="118000"/>
              </a:lnSpc>
              <a:buNone/>
              <a:defRPr sz="1500" b="1" i="0">
                <a:solidFill>
                  <a:srgbClr val="5E7068"/>
                </a:solidFill>
                <a:latin typeface="Arimo"/>
                <a:ea typeface="Arimo"/>
                <a:cs typeface="Arimo"/>
              </a:defRPr>
            </a:pPr>
            <a:r>
              <a:rPr sz="1500" b="1" i="0">
                <a:solidFill>
                  <a:srgbClr val="5E7068"/>
                </a:solidFill>
                <a:latin typeface="Arimo"/>
                <a:ea typeface="Arimo"/>
                <a:cs typeface="Arimo"/>
              </a:rPr>
              <a:t>JSON or CSV  /  units  /  bounds  /  monotone timestamps  /  no missing controls</a:t>
            </a:r>
          </a:p>
        </p:txBody>
      </p:sp>
    </p:spTree>
    <p:extLst>
      <p:ext uri="{BB962C8B-B14F-4D97-AF65-F5344CB8AC3E}">
        <p14:creationId xmlns:p14="http://schemas.microsoft.com/office/powerpoint/2010/main" val="1590902564"/>
      </p:ext>
    </p:extLst>
  </p:cSld>
</p:sld>
</file>

<file path=ppt/slides/slide7.xml><?xml version="1.0" encoding="utf-8"?>
<p:sld xmlns:p="http://schemas.openxmlformats.org/presentationml/2006/main">
  <p:cSld>
    <p:bg>
      <p:bgPr>
        <a:solidFill xmlns:a="http://schemas.openxmlformats.org/drawingml/2006/main">
          <a:srgbClr val="06171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FA6731-662E-4531-AC0F-FBC7C79A0A9E}"/>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FFFFFF"/>
                </a:solidFill>
                <a:latin typeface="Arimo"/>
                <a:ea typeface="Arimo"/>
                <a:cs typeface="Arimo"/>
              </a:defRPr>
            </a:pPr>
            <a:r>
              <a:rPr sz="2775" b="1" i="0">
                <a:solidFill>
                  <a:srgbClr val="FFFFFF"/>
                </a:solidFill>
                <a:latin typeface="Arimo"/>
                <a:ea typeface="Arimo"/>
                <a:cs typeface="Arimo"/>
              </a:rPr>
              <a:t>Illustrative interface demonstration</a:t>
            </a:r>
          </a:p>
        </p:txBody>
      </p:sp>
      <p:sp>
        <p:nvSpPr>
          <p:cNvPr id="2" name="">
            <a:extLst xmlns:a="http://schemas.openxmlformats.org/drawingml/2006/main">
              <a:ext uri="{FF2B5EF4-FFF2-40B4-BE49-F238E27FC236}">
                <a16:creationId xmlns:a16="http://schemas.microsoft.com/office/drawing/2014/main" id="{9AF4232B-2A98-4E31-A2F7-D04D23E3E9E8}"/>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B8D6C8"/>
                </a:solidFill>
                <a:latin typeface="Arimo"/>
                <a:ea typeface="Arimo"/>
                <a:cs typeface="Arimo"/>
              </a:defRPr>
            </a:pPr>
            <a:r>
              <a:rPr sz="1575" b="0" i="0">
                <a:solidFill>
                  <a:srgbClr val="B8D6C8"/>
                </a:solidFill>
                <a:latin typeface="Arimo"/>
                <a:ea typeface="Arimo"/>
                <a:cs typeface="Arimo"/>
              </a:rPr>
              <a:t>The current app demonstrates the evaluation workflow, not a validated prediction</a:t>
            </a:r>
          </a:p>
        </p:txBody>
      </p:sp>
      <p:sp>
        <p:nvSpPr>
          <p:cNvPr id="3" name="">
            <a:extLst xmlns:a="http://schemas.openxmlformats.org/drawingml/2006/main">
              <a:ext uri="{FF2B5EF4-FFF2-40B4-BE49-F238E27FC236}">
                <a16:creationId xmlns:a16="http://schemas.microsoft.com/office/drawing/2014/main" id="{BDCD5788-FCD3-4A2A-B499-73EA56A34BC8}"/>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7EA998"/>
                </a:solidFill>
                <a:latin typeface="Arimo"/>
                <a:ea typeface="Arimo"/>
                <a:cs typeface="Arimo"/>
              </a:defRPr>
            </a:pPr>
            <a:r>
              <a:rPr sz="900" b="1" i="0">
                <a:solidFill>
                  <a:srgbClr val="7EA998"/>
                </a:solidFill>
                <a:latin typeface="Arimo"/>
                <a:ea typeface="Arimo"/>
                <a:cs typeface="Arimo"/>
              </a:rPr>
              <a:t>RAINFOREST VIRTUAL PROVING GROUND</a:t>
            </a:r>
          </a:p>
        </p:txBody>
      </p:sp>
      <p:sp>
        <p:nvSpPr>
          <p:cNvPr id="4" name="">
            <a:extLst xmlns:a="http://schemas.openxmlformats.org/drawingml/2006/main">
              <a:ext uri="{FF2B5EF4-FFF2-40B4-BE49-F238E27FC236}">
                <a16:creationId xmlns:a16="http://schemas.microsoft.com/office/drawing/2014/main" id="{881953D4-8FA4-47B5-A6F9-F59355ED3BC6}"/>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9DC6B5"/>
                </a:solidFill>
                <a:latin typeface="Arimo"/>
                <a:ea typeface="Arimo"/>
                <a:cs typeface="Arimo"/>
              </a:defRPr>
            </a:pPr>
            <a:r>
              <a:rPr sz="1125" b="1" i="0">
                <a:solidFill>
                  <a:srgbClr val="9DC6B5"/>
                </a:solidFill>
                <a:latin typeface="Arimo"/>
                <a:ea typeface="Arimo"/>
                <a:cs typeface="Arimo"/>
              </a:rPr>
              <a:t>07</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5a84f1e051e4b65"/>
          <a:stretch xmlns:a="http://schemas.openxmlformats.org/drawingml/2006/main"/>
        </p:blipFill>
        <p:spPr>
          <a:xfrm xmlns:a="http://schemas.openxmlformats.org/drawingml/2006/main">
            <a:off x="405342" y="1381125"/>
            <a:ext cx="8466667" cy="4762500"/>
          </a:xfrm>
          <a:prstGeom xmlns:a="http://schemas.openxmlformats.org/drawingml/2006/main" prst="roundRect">
            <a:avLst>
              <a:gd name="adj" fmla="val 3200"/>
            </a:avLst>
          </a:prstGeom>
        </p:spPr>
      </p:pic>
      <p:sp>
        <p:nvSpPr>
          <p:cNvPr id="6" name="">
            <a:extLst xmlns:a="http://schemas.openxmlformats.org/drawingml/2006/main">
              <a:ext uri="{FF2B5EF4-FFF2-40B4-BE49-F238E27FC236}">
                <a16:creationId xmlns:a16="http://schemas.microsoft.com/office/drawing/2014/main" id="{80338A3D-C67D-4B1E-93A2-0EF0F279A56A}"/>
              </a:ext>
            </a:extLst>
          </p:cNvPr>
          <p:cNvSpPr>
            <a:spLocks xmlns:a="http://schemas.openxmlformats.org/drawingml/2006/main" noGrp="1"/>
          </p:cNvSpPr>
          <p:nvPr/>
        </p:nvSpPr>
        <p:spPr>
          <a:xfrm xmlns:a="http://schemas.openxmlformats.org/drawingml/2006/main">
            <a:off x="9124950" y="1504950"/>
            <a:ext cx="2305050" cy="457200"/>
          </a:xfrm>
          <a:prstGeom xmlns:a="http://schemas.openxmlformats.org/drawingml/2006/main" prst="roundRect">
            <a:avLst>
              <a:gd name="adj" fmla="val 33333"/>
            </a:avLst>
          </a:prstGeom>
          <a:solidFill xmlns:a="http://schemas.openxmlformats.org/drawingml/2006/main">
            <a:srgbClr val="0F3B2B"/>
          </a:solidFill>
          <a:ln xmlns:a="http://schemas.openxmlformats.org/drawingml/2006/main" w="0">
            <a:noFill/>
            <a:prstDash val="solid"/>
          </a:ln>
        </p:spPr>
        <p:txBody>
          <a:bodyPr xmlns:a="http://schemas.openxmlformats.org/drawingml/2006/main" lIns="114300" tIns="76200" rIns="114300" bIns="76200" anchor="ctr">
            <a:normAutofit fontScale="86924"/>
          </a:bodyPr>
          <a:lstStyle xmlns:a="http://schemas.openxmlformats.org/drawingml/2006/main"/>
          <a:p xmlns:a="http://schemas.openxmlformats.org/drawingml/2006/main">
            <a:pPr algn="ctr">
              <a:lnSpc>
                <a:spcPct val="100000"/>
              </a:lnSpc>
              <a:buNone/>
              <a:defRPr sz="1425" b="1">
                <a:solidFill>
                  <a:srgbClr val="FFFFFF"/>
                </a:solidFill>
                <a:latin typeface="Arimo"/>
                <a:ea typeface="Arimo"/>
                <a:cs typeface="Arimo"/>
              </a:defRPr>
            </a:pPr>
            <a:r>
              <a:rPr sz="1425" b="1">
                <a:solidFill>
                  <a:srgbClr val="FFFFFF"/>
                </a:solidFill>
                <a:latin typeface="Arimo"/>
                <a:ea typeface="Arimo"/>
                <a:cs typeface="Arimo"/>
              </a:rPr>
              <a:t>35-second interface replay</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596a181dab7a4843"/>
          <a:stretch xmlns:a="http://schemas.openxmlformats.org/drawingml/2006/main"/>
        </p:blipFill>
        <p:spPr>
          <a:xfrm xmlns:a="http://schemas.openxmlformats.org/drawingml/2006/main">
            <a:off x="9353550" y="2305050"/>
            <a:ext cx="1847850" cy="18478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096F9852-2022-4BA3-9B28-0C28EB192F36}"/>
              </a:ext>
            </a:extLst>
          </p:cNvPr>
          <p:cNvSpPr>
            <a:spLocks xmlns:a="http://schemas.openxmlformats.org/drawingml/2006/main" noGrp="1"/>
          </p:cNvSpPr>
          <p:nvPr/>
        </p:nvSpPr>
        <p:spPr>
          <a:xfrm xmlns:a="http://schemas.openxmlformats.org/drawingml/2006/main">
            <a:off x="9353550" y="4286250"/>
            <a:ext cx="1847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1" i="0">
                <a:solidFill>
                  <a:srgbClr val="2FAD79"/>
                </a:solidFill>
                <a:latin typeface="Arimo"/>
                <a:ea typeface="Arimo"/>
                <a:cs typeface="Arimo"/>
              </a:defRPr>
            </a:pPr>
            <a:r>
              <a:rPr sz="1500" b="1" i="0">
                <a:solidFill>
                  <a:srgbClr val="2FAD79"/>
                </a:solidFill>
                <a:latin typeface="Arimo"/>
                <a:ea typeface="Arimo"/>
                <a:cs typeface="Arimo"/>
                <a:hlinkClick xmlns:r="http://schemas.openxmlformats.org/officeDocument/2006/relationships" r:id="R70e8343c6ba146df"/>
              </a:rPr>
              <a:t>Open live demo</a:t>
            </a:r>
          </a:p>
        </p:txBody>
      </p:sp>
      <p:sp>
        <p:nvSpPr>
          <p:cNvPr id="9" name="">
            <a:extLst xmlns:a="http://schemas.openxmlformats.org/drawingml/2006/main">
              <a:ext uri="{FF2B5EF4-FFF2-40B4-BE49-F238E27FC236}">
                <a16:creationId xmlns:a16="http://schemas.microsoft.com/office/drawing/2014/main" id="{FC7D8AA6-B37B-4DE8-82DF-DEB919C254D8}"/>
              </a:ext>
            </a:extLst>
          </p:cNvPr>
          <p:cNvSpPr>
            <a:spLocks xmlns:a="http://schemas.openxmlformats.org/drawingml/2006/main" noGrp="1"/>
          </p:cNvSpPr>
          <p:nvPr/>
        </p:nvSpPr>
        <p:spPr>
          <a:xfrm xmlns:a="http://schemas.openxmlformats.org/drawingml/2006/main">
            <a:off x="9220200" y="5010150"/>
            <a:ext cx="2133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6000"/>
              </a:lnSpc>
              <a:buNone/>
              <a:defRPr sz="1425" b="1" i="0">
                <a:solidFill>
                  <a:srgbClr val="F6C97E"/>
                </a:solidFill>
                <a:latin typeface="Arimo"/>
                <a:ea typeface="Arimo"/>
                <a:cs typeface="Arimo"/>
              </a:defRPr>
            </a:pPr>
            <a:r>
              <a:rPr sz="1425" b="1" i="0">
                <a:solidFill>
                  <a:srgbClr val="F6C97E"/>
                </a:solidFill>
                <a:latin typeface="Arimo"/>
                <a:ea typeface="Arimo"/>
                <a:cs typeface="Arimo"/>
              </a:rPr>
              <a:t>Illustrative scenario</a:t>
            </a:r>
          </a:p>
          <a:p xmlns:a="http://schemas.openxmlformats.org/drawingml/2006/main">
            <a:pPr algn="ctr">
              <a:lnSpc>
                <a:spcPct val="106000"/>
              </a:lnSpc>
              <a:buNone/>
              <a:defRPr sz="1425" b="1" i="0">
                <a:solidFill>
                  <a:srgbClr val="F6C97E"/>
                </a:solidFill>
                <a:latin typeface="Arimo"/>
                <a:ea typeface="Arimo"/>
                <a:cs typeface="Arimo"/>
              </a:defRPr>
            </a:pPr>
            <a:r>
              <a:rPr sz="1425" b="1" i="0">
                <a:solidFill>
                  <a:srgbClr val="F6C97E"/>
                </a:solidFill>
                <a:latin typeface="Arimo"/>
                <a:ea typeface="Arimo"/>
                <a:cs typeface="Arimo"/>
              </a:rPr>
              <a:t>not yet model-generated</a:t>
            </a:r>
          </a:p>
        </p:txBody>
      </p:sp>
    </p:spTree>
    <p:extLst>
      <p:ext uri="{BB962C8B-B14F-4D97-AF65-F5344CB8AC3E}">
        <p14:creationId xmlns:p14="http://schemas.microsoft.com/office/powerpoint/2010/main" val="132867560"/>
      </p:ext>
    </p:extLst>
  </p:cSld>
</p:sld>
</file>

<file path=ppt/slides/slide8.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717F14F-5BD0-4425-9F29-6BC7084E6CF4}"/>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1536C4C-609F-4AD8-8103-6AA09D53B7F9}"/>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Reading the simulation output</a:t>
            </a:r>
          </a:p>
        </p:txBody>
      </p:sp>
      <p:sp>
        <p:nvSpPr>
          <p:cNvPr id="3" name="">
            <a:extLst xmlns:a="http://schemas.openxmlformats.org/drawingml/2006/main">
              <a:ext uri="{FF2B5EF4-FFF2-40B4-BE49-F238E27FC236}">
                <a16:creationId xmlns:a16="http://schemas.microsoft.com/office/drawing/2014/main" id="{4D886D9E-C92A-468E-9344-E90F1DE2D20B}"/>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useful result explains trajectory, uncertainty, and the reason for each flag</a:t>
            </a:r>
          </a:p>
        </p:txBody>
      </p:sp>
      <p:sp>
        <p:nvSpPr>
          <p:cNvPr id="4" name="">
            <a:extLst xmlns:a="http://schemas.openxmlformats.org/drawingml/2006/main">
              <a:ext uri="{FF2B5EF4-FFF2-40B4-BE49-F238E27FC236}">
                <a16:creationId xmlns:a16="http://schemas.microsoft.com/office/drawing/2014/main" id="{0F64CBE8-2D3F-4096-BD70-A9C1E24C0F83}"/>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6EC25371-E26E-4E0F-8F60-2CEDBF24ABC0}"/>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08</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f9d9e7e2319f471e"/>
          <a:stretch xmlns:a="http://schemas.openxmlformats.org/drawingml/2006/main"/>
        </p:blipFill>
        <p:spPr>
          <a:xfrm xmlns:a="http://schemas.openxmlformats.org/drawingml/2006/main">
            <a:off x="533400" y="1524000"/>
            <a:ext cx="6858000" cy="3857625"/>
          </a:xfrm>
          <a:prstGeom xmlns:a="http://schemas.openxmlformats.org/drawingml/2006/main" prst="roundRect">
            <a:avLst>
              <a:gd name="adj" fmla="val 3457"/>
            </a:avLst>
          </a:prstGeom>
        </p:spPr>
      </p:pic>
      <p:sp>
        <p:nvSpPr>
          <p:cNvPr id="7" name="">
            <a:extLst xmlns:a="http://schemas.openxmlformats.org/drawingml/2006/main">
              <a:ext uri="{FF2B5EF4-FFF2-40B4-BE49-F238E27FC236}">
                <a16:creationId xmlns:a16="http://schemas.microsoft.com/office/drawing/2014/main" id="{84DDC7DA-A395-4ADA-BD06-3F03C5722B59}"/>
              </a:ext>
            </a:extLst>
          </p:cNvPr>
          <p:cNvSpPr>
            <a:spLocks xmlns:a="http://schemas.openxmlformats.org/drawingml/2006/main" noGrp="1"/>
          </p:cNvSpPr>
          <p:nvPr/>
        </p:nvSpPr>
        <p:spPr>
          <a:xfrm xmlns:a="http://schemas.openxmlformats.org/drawingml/2006/main">
            <a:off x="7810500" y="16764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16308A4-5DC4-4E44-8C22-4E9CF3BCE5AF}"/>
              </a:ext>
            </a:extLst>
          </p:cNvPr>
          <p:cNvSpPr>
            <a:spLocks xmlns:a="http://schemas.openxmlformats.org/drawingml/2006/main" noGrp="1"/>
          </p:cNvSpPr>
          <p:nvPr/>
        </p:nvSpPr>
        <p:spPr>
          <a:xfrm xmlns:a="http://schemas.openxmlformats.org/drawingml/2006/main">
            <a:off x="8058150" y="160020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36-channel spatial trajectory</a:t>
            </a:r>
          </a:p>
        </p:txBody>
      </p:sp>
      <p:sp>
        <p:nvSpPr>
          <p:cNvPr id="9" name="">
            <a:extLst xmlns:a="http://schemas.openxmlformats.org/drawingml/2006/main">
              <a:ext uri="{FF2B5EF4-FFF2-40B4-BE49-F238E27FC236}">
                <a16:creationId xmlns:a16="http://schemas.microsoft.com/office/drawing/2014/main" id="{B0549333-62D3-4419-A888-5C3456507E62}"/>
              </a:ext>
            </a:extLst>
          </p:cNvPr>
          <p:cNvSpPr>
            <a:spLocks xmlns:a="http://schemas.openxmlformats.org/drawingml/2006/main" noGrp="1"/>
          </p:cNvSpPr>
          <p:nvPr/>
        </p:nvSpPr>
        <p:spPr>
          <a:xfrm xmlns:a="http://schemas.openxmlformats.org/drawingml/2006/main">
            <a:off x="7810500" y="24193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AC9BF4C-4A10-4458-9943-E2868711ABA9}"/>
              </a:ext>
            </a:extLst>
          </p:cNvPr>
          <p:cNvSpPr>
            <a:spLocks xmlns:a="http://schemas.openxmlformats.org/drawingml/2006/main" noGrp="1"/>
          </p:cNvSpPr>
          <p:nvPr/>
        </p:nvSpPr>
        <p:spPr>
          <a:xfrm xmlns:a="http://schemas.openxmlformats.org/drawingml/2006/main">
            <a:off x="8058150" y="234315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Selected sensor time series</a:t>
            </a:r>
          </a:p>
        </p:txBody>
      </p:sp>
      <p:sp>
        <p:nvSpPr>
          <p:cNvPr id="11" name="">
            <a:extLst xmlns:a="http://schemas.openxmlformats.org/drawingml/2006/main">
              <a:ext uri="{FF2B5EF4-FFF2-40B4-BE49-F238E27FC236}">
                <a16:creationId xmlns:a16="http://schemas.microsoft.com/office/drawing/2014/main" id="{A67C2052-1BDA-40C1-85EE-6B06CEED15BE}"/>
              </a:ext>
            </a:extLst>
          </p:cNvPr>
          <p:cNvSpPr>
            <a:spLocks xmlns:a="http://schemas.openxmlformats.org/drawingml/2006/main" noGrp="1"/>
          </p:cNvSpPr>
          <p:nvPr/>
        </p:nvSpPr>
        <p:spPr>
          <a:xfrm xmlns:a="http://schemas.openxmlformats.org/drawingml/2006/main">
            <a:off x="7810500" y="31623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EC9B351-D48F-4E8F-AAB6-B2D8F125EF87}"/>
              </a:ext>
            </a:extLst>
          </p:cNvPr>
          <p:cNvSpPr>
            <a:spLocks xmlns:a="http://schemas.openxmlformats.org/drawingml/2006/main" noGrp="1"/>
          </p:cNvSpPr>
          <p:nvPr/>
        </p:nvSpPr>
        <p:spPr>
          <a:xfrm xmlns:a="http://schemas.openxmlformats.org/drawingml/2006/main">
            <a:off x="8058150" y="308610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Comfort and safety envelope</a:t>
            </a:r>
          </a:p>
        </p:txBody>
      </p:sp>
      <p:sp>
        <p:nvSpPr>
          <p:cNvPr id="13" name="">
            <a:extLst xmlns:a="http://schemas.openxmlformats.org/drawingml/2006/main">
              <a:ext uri="{FF2B5EF4-FFF2-40B4-BE49-F238E27FC236}">
                <a16:creationId xmlns:a16="http://schemas.microsoft.com/office/drawing/2014/main" id="{B2151DE1-FA0F-455E-BB18-1F8F9C73E7B1}"/>
              </a:ext>
            </a:extLst>
          </p:cNvPr>
          <p:cNvSpPr>
            <a:spLocks xmlns:a="http://schemas.openxmlformats.org/drawingml/2006/main" noGrp="1"/>
          </p:cNvSpPr>
          <p:nvPr/>
        </p:nvSpPr>
        <p:spPr>
          <a:xfrm xmlns:a="http://schemas.openxmlformats.org/drawingml/2006/main">
            <a:off x="7810500" y="39052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E67B729-DA36-4214-B35B-129BA5BB4893}"/>
              </a:ext>
            </a:extLst>
          </p:cNvPr>
          <p:cNvSpPr>
            <a:spLocks xmlns:a="http://schemas.openxmlformats.org/drawingml/2006/main" noGrp="1"/>
          </p:cNvSpPr>
          <p:nvPr/>
        </p:nvSpPr>
        <p:spPr>
          <a:xfrm xmlns:a="http://schemas.openxmlformats.org/drawingml/2006/main">
            <a:off x="8058150" y="382905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Energy and stability indicators</a:t>
            </a:r>
          </a:p>
        </p:txBody>
      </p:sp>
      <p:sp>
        <p:nvSpPr>
          <p:cNvPr id="15" name="">
            <a:extLst xmlns:a="http://schemas.openxmlformats.org/drawingml/2006/main">
              <a:ext uri="{FF2B5EF4-FFF2-40B4-BE49-F238E27FC236}">
                <a16:creationId xmlns:a16="http://schemas.microsoft.com/office/drawing/2014/main" id="{911935AA-6F3D-46BA-9262-781AE2DB2482}"/>
              </a:ext>
            </a:extLst>
          </p:cNvPr>
          <p:cNvSpPr>
            <a:spLocks xmlns:a="http://schemas.openxmlformats.org/drawingml/2006/main" noGrp="1"/>
          </p:cNvSpPr>
          <p:nvPr/>
        </p:nvSpPr>
        <p:spPr>
          <a:xfrm xmlns:a="http://schemas.openxmlformats.org/drawingml/2006/main">
            <a:off x="7810500" y="46482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5B3F418-7048-411A-A32A-4AAA345B1747}"/>
              </a:ext>
            </a:extLst>
          </p:cNvPr>
          <p:cNvSpPr>
            <a:spLocks xmlns:a="http://schemas.openxmlformats.org/drawingml/2006/main" noGrp="1"/>
          </p:cNvSpPr>
          <p:nvPr/>
        </p:nvSpPr>
        <p:spPr>
          <a:xfrm xmlns:a="http://schemas.openxmlformats.org/drawingml/2006/main">
            <a:off x="8058150" y="457200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Uncertainty and diagnostic reason</a:t>
            </a:r>
          </a:p>
        </p:txBody>
      </p:sp>
      <p:sp>
        <p:nvSpPr>
          <p:cNvPr id="17" name="">
            <a:extLst xmlns:a="http://schemas.openxmlformats.org/drawingml/2006/main">
              <a:ext uri="{FF2B5EF4-FFF2-40B4-BE49-F238E27FC236}">
                <a16:creationId xmlns:a16="http://schemas.microsoft.com/office/drawing/2014/main" id="{B76B5ED6-22EB-4B67-91DA-B90E0682E9E8}"/>
              </a:ext>
            </a:extLst>
          </p:cNvPr>
          <p:cNvSpPr>
            <a:spLocks xmlns:a="http://schemas.openxmlformats.org/drawingml/2006/main" noGrp="1"/>
          </p:cNvSpPr>
          <p:nvPr/>
        </p:nvSpPr>
        <p:spPr>
          <a:xfrm xmlns:a="http://schemas.openxmlformats.org/drawingml/2006/main">
            <a:off x="1285875" y="5638800"/>
            <a:ext cx="9525000" cy="514350"/>
          </a:xfrm>
          <a:prstGeom xmlns:a="http://schemas.openxmlformats.org/drawingml/2006/main" prst="roundRect">
            <a:avLst>
              <a:gd name="adj" fmla="val 22222"/>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Every warning traces to a channel, timestamp, threshold, and submitted control schedule</a:t>
            </a:r>
          </a:p>
        </p:txBody>
      </p:sp>
    </p:spTree>
    <p:extLst>
      <p:ext uri="{BB962C8B-B14F-4D97-AF65-F5344CB8AC3E}">
        <p14:creationId xmlns:p14="http://schemas.microsoft.com/office/powerpoint/2010/main" val="281447571"/>
      </p:ext>
    </p:extLst>
  </p:cSld>
</p:sld>
</file>

<file path=ppt/slides/slide9.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3F5809B-3D4A-4886-8FB3-5582BA13E52D}"/>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54B118E-6467-421E-AC12-7053291CD80B}"/>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550" b="1" i="0">
                <a:solidFill>
                  <a:srgbClr val="10251D"/>
                </a:solidFill>
                <a:latin typeface="Arimo"/>
                <a:ea typeface="Arimo"/>
                <a:cs typeface="Arimo"/>
              </a:defRPr>
            </a:pPr>
            <a:r>
              <a:rPr sz="2550" b="1" i="0">
                <a:solidFill>
                  <a:srgbClr val="10251D"/>
                </a:solidFill>
                <a:latin typeface="Arimo"/>
                <a:ea typeface="Arimo"/>
                <a:cs typeface="Arimo"/>
              </a:rPr>
              <a:t>Human approval and operational boundaries</a:t>
            </a:r>
          </a:p>
        </p:txBody>
      </p:sp>
      <p:sp>
        <p:nvSpPr>
          <p:cNvPr id="3" name="">
            <a:extLst xmlns:a="http://schemas.openxmlformats.org/drawingml/2006/main">
              <a:ext uri="{FF2B5EF4-FFF2-40B4-BE49-F238E27FC236}">
                <a16:creationId xmlns:a16="http://schemas.microsoft.com/office/drawing/2014/main" id="{9E257E07-231A-42C8-8CD7-808941A2195B}"/>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first phase remains offline and advisory</a:t>
            </a:r>
          </a:p>
        </p:txBody>
      </p:sp>
      <p:sp>
        <p:nvSpPr>
          <p:cNvPr id="4" name="">
            <a:extLst xmlns:a="http://schemas.openxmlformats.org/drawingml/2006/main">
              <a:ext uri="{FF2B5EF4-FFF2-40B4-BE49-F238E27FC236}">
                <a16:creationId xmlns:a16="http://schemas.microsoft.com/office/drawing/2014/main" id="{60C5B552-B483-4E7A-A58C-AD68D201377B}"/>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F20946EC-454D-466F-B862-1147BB6F026C}"/>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09</a:t>
            </a:r>
          </a:p>
        </p:txBody>
      </p:sp>
      <p:sp>
        <p:nvSpPr>
          <p:cNvPr id="6" name="">
            <a:extLst xmlns:a="http://schemas.openxmlformats.org/drawingml/2006/main">
              <a:ext uri="{FF2B5EF4-FFF2-40B4-BE49-F238E27FC236}">
                <a16:creationId xmlns:a16="http://schemas.microsoft.com/office/drawing/2014/main" id="{6225259E-79D9-441A-9949-E212094A974F}"/>
              </a:ext>
            </a:extLst>
          </p:cNvPr>
          <p:cNvSpPr>
            <a:spLocks xmlns:a="http://schemas.openxmlformats.org/drawingml/2006/main" noGrp="1"/>
          </p:cNvSpPr>
          <p:nvPr/>
        </p:nvSpPr>
        <p:spPr>
          <a:xfrm xmlns:a="http://schemas.openxmlformats.org/drawingml/2006/main">
            <a:off x="704850" y="1924050"/>
            <a:ext cx="2952750" cy="647700"/>
          </a:xfrm>
          <a:prstGeom xmlns:a="http://schemas.openxmlformats.org/drawingml/2006/main" prst="roundRect">
            <a:avLst>
              <a:gd name="adj" fmla="val 23529"/>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94906"/>
          </a:bodyPr>
          <a:lstStyle xmlns:a="http://schemas.openxmlformats.org/drawingml/2006/main"/>
          <a:p xmlns:a="http://schemas.openxmlformats.org/drawingml/2006/main">
            <a:pPr algn="ctr">
              <a:lnSpc>
                <a:spcPct val="100000"/>
              </a:lnSpc>
              <a:buNone/>
              <a:defRPr sz="2025" b="1">
                <a:solidFill>
                  <a:srgbClr val="10251D"/>
                </a:solidFill>
                <a:latin typeface="Arimo"/>
                <a:ea typeface="Arimo"/>
                <a:cs typeface="Arimo"/>
              </a:defRPr>
            </a:pPr>
            <a:r>
              <a:rPr sz="2025" b="1">
                <a:solidFill>
                  <a:srgbClr val="10251D"/>
                </a:solidFill>
                <a:latin typeface="Arimo"/>
                <a:ea typeface="Arimo"/>
                <a:cs typeface="Arimo"/>
              </a:rPr>
              <a:t>Research environment</a:t>
            </a:r>
          </a:p>
        </p:txBody>
      </p:sp>
      <p:sp>
        <p:nvSpPr>
          <p:cNvPr id="7" name="">
            <a:extLst xmlns:a="http://schemas.openxmlformats.org/drawingml/2006/main">
              <a:ext uri="{FF2B5EF4-FFF2-40B4-BE49-F238E27FC236}">
                <a16:creationId xmlns:a16="http://schemas.microsoft.com/office/drawing/2014/main" id="{842487A8-BC63-45B7-BF47-2CD6581700DE}"/>
              </a:ext>
            </a:extLst>
          </p:cNvPr>
          <p:cNvSpPr>
            <a:spLocks xmlns:a="http://schemas.openxmlformats.org/drawingml/2006/main" noGrp="1"/>
          </p:cNvSpPr>
          <p:nvPr/>
        </p:nvSpPr>
        <p:spPr>
          <a:xfrm xmlns:a="http://schemas.openxmlformats.org/drawingml/2006/main">
            <a:off x="952500" y="29813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0EC8B44-63AF-44A4-AF1C-F781A5F7BC78}"/>
              </a:ext>
            </a:extLst>
          </p:cNvPr>
          <p:cNvSpPr>
            <a:spLocks xmlns:a="http://schemas.openxmlformats.org/drawingml/2006/main" noGrp="1"/>
          </p:cNvSpPr>
          <p:nvPr/>
        </p:nvSpPr>
        <p:spPr>
          <a:xfrm xmlns:a="http://schemas.openxmlformats.org/drawingml/2006/main">
            <a:off x="1200150" y="2905125"/>
            <a:ext cx="2514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Upload strategy</a:t>
            </a:r>
          </a:p>
        </p:txBody>
      </p:sp>
      <p:sp>
        <p:nvSpPr>
          <p:cNvPr id="9" name="">
            <a:extLst xmlns:a="http://schemas.openxmlformats.org/drawingml/2006/main">
              <a:ext uri="{FF2B5EF4-FFF2-40B4-BE49-F238E27FC236}">
                <a16:creationId xmlns:a16="http://schemas.microsoft.com/office/drawing/2014/main" id="{B1F75D3C-5B6C-4BF0-B4B0-0EFA0D39BED7}"/>
              </a:ext>
            </a:extLst>
          </p:cNvPr>
          <p:cNvSpPr>
            <a:spLocks xmlns:a="http://schemas.openxmlformats.org/drawingml/2006/main" noGrp="1"/>
          </p:cNvSpPr>
          <p:nvPr/>
        </p:nvSpPr>
        <p:spPr>
          <a:xfrm xmlns:a="http://schemas.openxmlformats.org/drawingml/2006/main">
            <a:off x="952500" y="36099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474B974-DABE-420A-89F4-81E8F58EE2E5}"/>
              </a:ext>
            </a:extLst>
          </p:cNvPr>
          <p:cNvSpPr>
            <a:spLocks xmlns:a="http://schemas.openxmlformats.org/drawingml/2006/main" noGrp="1"/>
          </p:cNvSpPr>
          <p:nvPr/>
        </p:nvSpPr>
        <p:spPr>
          <a:xfrm xmlns:a="http://schemas.openxmlformats.org/drawingml/2006/main">
            <a:off x="1200150" y="3533775"/>
            <a:ext cx="2514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Simulate and score</a:t>
            </a:r>
          </a:p>
        </p:txBody>
      </p:sp>
      <p:sp>
        <p:nvSpPr>
          <p:cNvPr id="11" name="">
            <a:extLst xmlns:a="http://schemas.openxmlformats.org/drawingml/2006/main">
              <a:ext uri="{FF2B5EF4-FFF2-40B4-BE49-F238E27FC236}">
                <a16:creationId xmlns:a16="http://schemas.microsoft.com/office/drawing/2014/main" id="{68EAA2DF-5687-4C5F-8AA1-E10512B31F67}"/>
              </a:ext>
            </a:extLst>
          </p:cNvPr>
          <p:cNvSpPr>
            <a:spLocks xmlns:a="http://schemas.openxmlformats.org/drawingml/2006/main" noGrp="1"/>
          </p:cNvSpPr>
          <p:nvPr/>
        </p:nvSpPr>
        <p:spPr>
          <a:xfrm xmlns:a="http://schemas.openxmlformats.org/drawingml/2006/main">
            <a:off x="952500" y="42386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E199783-6172-44EC-9D40-042E1CBE74AB}"/>
              </a:ext>
            </a:extLst>
          </p:cNvPr>
          <p:cNvSpPr>
            <a:spLocks xmlns:a="http://schemas.openxmlformats.org/drawingml/2006/main" noGrp="1"/>
          </p:cNvSpPr>
          <p:nvPr/>
        </p:nvSpPr>
        <p:spPr>
          <a:xfrm xmlns:a="http://schemas.openxmlformats.org/drawingml/2006/main">
            <a:off x="1200150" y="4162425"/>
            <a:ext cx="2514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Preserve run record</a:t>
            </a:r>
          </a:p>
        </p:txBody>
      </p:sp>
      <p:sp>
        <p:nvSpPr>
          <p:cNvPr id="13" name="">
            <a:extLst xmlns:a="http://schemas.openxmlformats.org/drawingml/2006/main">
              <a:ext uri="{FF2B5EF4-FFF2-40B4-BE49-F238E27FC236}">
                <a16:creationId xmlns:a16="http://schemas.microsoft.com/office/drawing/2014/main" id="{B329545D-7F55-484A-A5AC-B5C267E720D1}"/>
              </a:ext>
            </a:extLst>
          </p:cNvPr>
          <p:cNvSpPr>
            <a:spLocks xmlns:a="http://schemas.openxmlformats.org/drawingml/2006/main" noGrp="1"/>
          </p:cNvSpPr>
          <p:nvPr/>
        </p:nvSpPr>
        <p:spPr>
          <a:xfrm xmlns:a="http://schemas.openxmlformats.org/drawingml/2006/main">
            <a:off x="4953000" y="1619250"/>
            <a:ext cx="57150" cy="3905250"/>
          </a:xfrm>
          <a:prstGeom xmlns:a="http://schemas.openxmlformats.org/drawingml/2006/main" prst="rect">
            <a:avLst/>
          </a:prstGeom>
          <a:solidFill xmlns:a="http://schemas.openxmlformats.org/drawingml/2006/main">
            <a:srgbClr val="B8524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4BB76AB-A0A6-4FE2-9B9D-760DF69257E0}"/>
              </a:ext>
            </a:extLst>
          </p:cNvPr>
          <p:cNvSpPr>
            <a:spLocks xmlns:a="http://schemas.openxmlformats.org/drawingml/2006/main" noGrp="1"/>
          </p:cNvSpPr>
          <p:nvPr/>
        </p:nvSpPr>
        <p:spPr>
          <a:xfrm xmlns:a="http://schemas.openxmlformats.org/drawingml/2006/main">
            <a:off x="4400550" y="2952750"/>
            <a:ext cx="1143000" cy="1143000"/>
          </a:xfrm>
          <a:prstGeom xmlns:a="http://schemas.openxmlformats.org/drawingml/2006/main" prst="ellipse">
            <a:avLst/>
          </a:prstGeom>
          <a:solidFill xmlns:a="http://schemas.openxmlformats.org/drawingml/2006/main">
            <a:srgbClr val="FBFCF8"/>
          </a:solidFill>
          <a:ln xmlns:a="http://schemas.openxmlformats.org/drawingml/2006/main" w="47625">
            <a:solidFill>
              <a:srgbClr val="B85246"/>
            </a:solidFill>
            <a:prstDash val="solid"/>
          </a:ln>
        </p:spPr>
      </p:sp>
      <p:sp>
        <p:nvSpPr>
          <p:cNvPr id="15" name="">
            <a:extLst xmlns:a="http://schemas.openxmlformats.org/drawingml/2006/main">
              <a:ext uri="{FF2B5EF4-FFF2-40B4-BE49-F238E27FC236}">
                <a16:creationId xmlns:a16="http://schemas.microsoft.com/office/drawing/2014/main" id="{2EB09659-999A-4865-A24B-95492DCEFBF1}"/>
              </a:ext>
            </a:extLst>
          </p:cNvPr>
          <p:cNvSpPr>
            <a:spLocks xmlns:a="http://schemas.openxmlformats.org/drawingml/2006/main" noGrp="1"/>
          </p:cNvSpPr>
          <p:nvPr/>
        </p:nvSpPr>
        <p:spPr>
          <a:xfrm xmlns:a="http://schemas.openxmlformats.org/drawingml/2006/main">
            <a:off x="4619625" y="3171825"/>
            <a:ext cx="704850" cy="704850"/>
          </a:xfrm>
          <a:prstGeom xmlns:a="http://schemas.openxmlformats.org/drawingml/2006/main" prst="line">
            <a:avLst/>
          </a:prstGeom>
          <a:noFill xmlns:a="http://schemas.openxmlformats.org/drawingml/2006/main"/>
          <a:ln xmlns:a="http://schemas.openxmlformats.org/drawingml/2006/main" w="57150">
            <a:solidFill>
              <a:srgbClr val="B85246"/>
            </a:solidFill>
            <a:prstDash val="solid"/>
          </a:ln>
        </p:spPr>
      </p:sp>
      <p:sp>
        <p:nvSpPr>
          <p:cNvPr id="16" name="">
            <a:extLst xmlns:a="http://schemas.openxmlformats.org/drawingml/2006/main">
              <a:ext uri="{FF2B5EF4-FFF2-40B4-BE49-F238E27FC236}">
                <a16:creationId xmlns:a16="http://schemas.microsoft.com/office/drawing/2014/main" id="{A3C33396-5379-4D80-AD29-D56EE8C8516C}"/>
              </a:ext>
            </a:extLst>
          </p:cNvPr>
          <p:cNvSpPr>
            <a:spLocks xmlns:a="http://schemas.openxmlformats.org/drawingml/2006/main" noGrp="1"/>
          </p:cNvSpPr>
          <p:nvPr/>
        </p:nvSpPr>
        <p:spPr>
          <a:xfrm xmlns:a="http://schemas.openxmlformats.org/drawingml/2006/main">
            <a:off x="4038600" y="4295775"/>
            <a:ext cx="190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425" b="1" i="0">
                <a:solidFill>
                  <a:srgbClr val="B85246"/>
                </a:solidFill>
                <a:latin typeface="Arimo"/>
                <a:ea typeface="Arimo"/>
                <a:cs typeface="Arimo"/>
              </a:defRPr>
            </a:pPr>
            <a:r>
              <a:rPr sz="1425" b="1" i="0">
                <a:solidFill>
                  <a:srgbClr val="B85246"/>
                </a:solidFill>
                <a:latin typeface="Arimo"/>
                <a:ea typeface="Arimo"/>
                <a:cs typeface="Arimo"/>
              </a:rPr>
              <a:t>NO WRITE PATH</a:t>
            </a:r>
          </a:p>
        </p:txBody>
      </p:sp>
      <p:sp>
        <p:nvSpPr>
          <p:cNvPr id="17" name="">
            <a:extLst xmlns:a="http://schemas.openxmlformats.org/drawingml/2006/main">
              <a:ext uri="{FF2B5EF4-FFF2-40B4-BE49-F238E27FC236}">
                <a16:creationId xmlns:a16="http://schemas.microsoft.com/office/drawing/2014/main" id="{0DF176C5-3A10-4FD6-8FC1-2C15DFB758FB}"/>
              </a:ext>
            </a:extLst>
          </p:cNvPr>
          <p:cNvSpPr>
            <a:spLocks xmlns:a="http://schemas.openxmlformats.org/drawingml/2006/main" noGrp="1"/>
          </p:cNvSpPr>
          <p:nvPr/>
        </p:nvSpPr>
        <p:spPr>
          <a:xfrm xmlns:a="http://schemas.openxmlformats.org/drawingml/2006/main">
            <a:off x="6715125" y="1924050"/>
            <a:ext cx="3714750" cy="647700"/>
          </a:xfrm>
          <a:prstGeom xmlns:a="http://schemas.openxmlformats.org/drawingml/2006/main" prst="roundRect">
            <a:avLst>
              <a:gd name="adj" fmla="val 23529"/>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2025" b="1">
                <a:solidFill>
                  <a:srgbClr val="10251D"/>
                </a:solidFill>
                <a:latin typeface="Arimo"/>
                <a:ea typeface="Arimo"/>
                <a:cs typeface="Arimo"/>
              </a:defRPr>
            </a:pPr>
            <a:r>
              <a:rPr sz="2025" b="1">
                <a:solidFill>
                  <a:srgbClr val="10251D"/>
                </a:solidFill>
                <a:latin typeface="Arimo"/>
                <a:ea typeface="Arimo"/>
                <a:cs typeface="Arimo"/>
              </a:rPr>
              <a:t>Biosphere 2 operations</a:t>
            </a:r>
          </a:p>
        </p:txBody>
      </p:sp>
      <p:sp>
        <p:nvSpPr>
          <p:cNvPr id="18" name="">
            <a:extLst xmlns:a="http://schemas.openxmlformats.org/drawingml/2006/main">
              <a:ext uri="{FF2B5EF4-FFF2-40B4-BE49-F238E27FC236}">
                <a16:creationId xmlns:a16="http://schemas.microsoft.com/office/drawing/2014/main" id="{6481846A-78A4-481F-9F50-EAEE16A90815}"/>
              </a:ext>
            </a:extLst>
          </p:cNvPr>
          <p:cNvSpPr>
            <a:spLocks xmlns:a="http://schemas.openxmlformats.org/drawingml/2006/main" noGrp="1"/>
          </p:cNvSpPr>
          <p:nvPr/>
        </p:nvSpPr>
        <p:spPr>
          <a:xfrm xmlns:a="http://schemas.openxmlformats.org/drawingml/2006/main">
            <a:off x="6953250" y="2981325"/>
            <a:ext cx="104775" cy="104775"/>
          </a:xfrm>
          <a:prstGeom xmlns:a="http://schemas.openxmlformats.org/drawingml/2006/main" prst="ellipse">
            <a:avLst/>
          </a:prstGeom>
          <a:solidFill xmlns:a="http://schemas.openxmlformats.org/drawingml/2006/main">
            <a:srgbClr val="30AFC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3E38C04-DD1D-4342-903B-AFEDC7B66D9C}"/>
              </a:ext>
            </a:extLst>
          </p:cNvPr>
          <p:cNvSpPr>
            <a:spLocks xmlns:a="http://schemas.openxmlformats.org/drawingml/2006/main" noGrp="1"/>
          </p:cNvSpPr>
          <p:nvPr/>
        </p:nvSpPr>
        <p:spPr>
          <a:xfrm xmlns:a="http://schemas.openxmlformats.org/drawingml/2006/main">
            <a:off x="7200900" y="2905125"/>
            <a:ext cx="3181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Review evidence</a:t>
            </a:r>
          </a:p>
        </p:txBody>
      </p:sp>
      <p:sp>
        <p:nvSpPr>
          <p:cNvPr id="20" name="">
            <a:extLst xmlns:a="http://schemas.openxmlformats.org/drawingml/2006/main">
              <a:ext uri="{FF2B5EF4-FFF2-40B4-BE49-F238E27FC236}">
                <a16:creationId xmlns:a16="http://schemas.microsoft.com/office/drawing/2014/main" id="{34F2287F-13D5-42C4-865F-B97791E02237}"/>
              </a:ext>
            </a:extLst>
          </p:cNvPr>
          <p:cNvSpPr>
            <a:spLocks xmlns:a="http://schemas.openxmlformats.org/drawingml/2006/main" noGrp="1"/>
          </p:cNvSpPr>
          <p:nvPr/>
        </p:nvSpPr>
        <p:spPr>
          <a:xfrm xmlns:a="http://schemas.openxmlformats.org/drawingml/2006/main">
            <a:off x="6953250" y="3609975"/>
            <a:ext cx="104775" cy="104775"/>
          </a:xfrm>
          <a:prstGeom xmlns:a="http://schemas.openxmlformats.org/drawingml/2006/main" prst="ellipse">
            <a:avLst/>
          </a:prstGeom>
          <a:solidFill xmlns:a="http://schemas.openxmlformats.org/drawingml/2006/main">
            <a:srgbClr val="30AFC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16111CE-530B-4A00-BB53-0ADA16673FB5}"/>
              </a:ext>
            </a:extLst>
          </p:cNvPr>
          <p:cNvSpPr>
            <a:spLocks xmlns:a="http://schemas.openxmlformats.org/drawingml/2006/main" noGrp="1"/>
          </p:cNvSpPr>
          <p:nvPr/>
        </p:nvSpPr>
        <p:spPr>
          <a:xfrm xmlns:a="http://schemas.openxmlformats.org/drawingml/2006/main">
            <a:off x="7200900" y="3533775"/>
            <a:ext cx="3181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Approve any future protocol</a:t>
            </a:r>
          </a:p>
        </p:txBody>
      </p:sp>
      <p:sp>
        <p:nvSpPr>
          <p:cNvPr id="22" name="">
            <a:extLst xmlns:a="http://schemas.openxmlformats.org/drawingml/2006/main">
              <a:ext uri="{FF2B5EF4-FFF2-40B4-BE49-F238E27FC236}">
                <a16:creationId xmlns:a16="http://schemas.microsoft.com/office/drawing/2014/main" id="{D917C786-9B71-4D38-9220-9571C416A397}"/>
              </a:ext>
            </a:extLst>
          </p:cNvPr>
          <p:cNvSpPr>
            <a:spLocks xmlns:a="http://schemas.openxmlformats.org/drawingml/2006/main" noGrp="1"/>
          </p:cNvSpPr>
          <p:nvPr/>
        </p:nvSpPr>
        <p:spPr>
          <a:xfrm xmlns:a="http://schemas.openxmlformats.org/drawingml/2006/main">
            <a:off x="6953250" y="4238625"/>
            <a:ext cx="104775" cy="104775"/>
          </a:xfrm>
          <a:prstGeom xmlns:a="http://schemas.openxmlformats.org/drawingml/2006/main" prst="ellipse">
            <a:avLst/>
          </a:prstGeom>
          <a:solidFill xmlns:a="http://schemas.openxmlformats.org/drawingml/2006/main">
            <a:srgbClr val="30AFC2"/>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404CCDA-4668-4485-9D84-786384DF949C}"/>
              </a:ext>
            </a:extLst>
          </p:cNvPr>
          <p:cNvSpPr>
            <a:spLocks xmlns:a="http://schemas.openxmlformats.org/drawingml/2006/main" noGrp="1"/>
          </p:cNvSpPr>
          <p:nvPr/>
        </p:nvSpPr>
        <p:spPr>
          <a:xfrm xmlns:a="http://schemas.openxmlformats.org/drawingml/2006/main">
            <a:off x="7200900" y="4162425"/>
            <a:ext cx="3181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Retain stop authority</a:t>
            </a:r>
          </a:p>
        </p:txBody>
      </p:sp>
      <p:sp>
        <p:nvSpPr>
          <p:cNvPr id="24" name="">
            <a:extLst xmlns:a="http://schemas.openxmlformats.org/drawingml/2006/main">
              <a:ext uri="{FF2B5EF4-FFF2-40B4-BE49-F238E27FC236}">
                <a16:creationId xmlns:a16="http://schemas.microsoft.com/office/drawing/2014/main" id="{60EF68D5-C3D3-43C0-A6B0-3CCF7341018A}"/>
              </a:ext>
            </a:extLst>
          </p:cNvPr>
          <p:cNvSpPr>
            <a:spLocks xmlns:a="http://schemas.openxmlformats.org/drawingml/2006/main" noGrp="1"/>
          </p:cNvSpPr>
          <p:nvPr/>
        </p:nvSpPr>
        <p:spPr>
          <a:xfrm xmlns:a="http://schemas.openxmlformats.org/drawingml/2006/main">
            <a:off x="1809750" y="5715000"/>
            <a:ext cx="857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950" b="1" i="0">
                <a:solidFill>
                  <a:srgbClr val="10251D"/>
                </a:solidFill>
                <a:latin typeface="Arimo"/>
                <a:ea typeface="Arimo"/>
                <a:cs typeface="Arimo"/>
              </a:defRPr>
            </a:pPr>
            <a:r>
              <a:rPr sz="1950" b="1" i="0">
                <a:solidFill>
                  <a:srgbClr val="10251D"/>
                </a:solidFill>
                <a:latin typeface="Arimo"/>
                <a:ea typeface="Arimo"/>
                <a:cs typeface="Arimo"/>
              </a:rPr>
              <a:t>A prediction supports a decision. It does not grant operational authority.</a:t>
            </a:r>
          </a:p>
        </p:txBody>
      </p:sp>
    </p:spTree>
    <p:extLst>
      <p:ext uri="{BB962C8B-B14F-4D97-AF65-F5344CB8AC3E}">
        <p14:creationId xmlns:p14="http://schemas.microsoft.com/office/powerpoint/2010/main" val="486032407"/>
      </p:ext>
    </p:extLst>
  </p:cSld>
</p:sld>
</file>

<file path=ppt/slides/slide10.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C4EB143-DED1-4D4C-B7FB-E96BBD7110F1}"/>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3C8C2C2-4E64-44D8-ACDF-4FC9CCF2C0BB}"/>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Pluggable simulation engine</a:t>
            </a:r>
          </a:p>
        </p:txBody>
      </p:sp>
      <p:sp>
        <p:nvSpPr>
          <p:cNvPr id="3" name="">
            <a:extLst xmlns:a="http://schemas.openxmlformats.org/drawingml/2006/main">
              <a:ext uri="{FF2B5EF4-FFF2-40B4-BE49-F238E27FC236}">
                <a16:creationId xmlns:a16="http://schemas.microsoft.com/office/drawing/2014/main" id="{49FC3E60-E67F-49E3-8084-43E3F8A8580B}"/>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stable contract allows models to improve without rebuilding the platform</a:t>
            </a:r>
          </a:p>
        </p:txBody>
      </p:sp>
      <p:sp>
        <p:nvSpPr>
          <p:cNvPr id="4" name="">
            <a:extLst xmlns:a="http://schemas.openxmlformats.org/drawingml/2006/main">
              <a:ext uri="{FF2B5EF4-FFF2-40B4-BE49-F238E27FC236}">
                <a16:creationId xmlns:a16="http://schemas.microsoft.com/office/drawing/2014/main" id="{B3F2DD71-02AF-415F-8CF1-759823E703AD}"/>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90CA3176-3DEE-44DD-9323-F41D6073C9D9}"/>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10</a:t>
            </a:r>
          </a:p>
        </p:txBody>
      </p:sp>
      <p:sp>
        <p:nvSpPr>
          <p:cNvPr id="6" name="">
            <a:extLst xmlns:a="http://schemas.openxmlformats.org/drawingml/2006/main">
              <a:ext uri="{FF2B5EF4-FFF2-40B4-BE49-F238E27FC236}">
                <a16:creationId xmlns:a16="http://schemas.microsoft.com/office/drawing/2014/main" id="{407B1138-7BD7-4D0A-B115-C0CDEC8BE98B}"/>
              </a:ext>
            </a:extLst>
          </p:cNvPr>
          <p:cNvSpPr>
            <a:spLocks xmlns:a="http://schemas.openxmlformats.org/drawingml/2006/main" noGrp="1"/>
          </p:cNvSpPr>
          <p:nvPr/>
        </p:nvSpPr>
        <p:spPr>
          <a:xfrm xmlns:a="http://schemas.openxmlformats.org/drawingml/2006/main">
            <a:off x="533400" y="2095500"/>
            <a:ext cx="2238375" cy="1952625"/>
          </a:xfrm>
          <a:prstGeom xmlns:a="http://schemas.openxmlformats.org/drawingml/2006/main" prst="roundRect">
            <a:avLst>
              <a:gd name="adj" fmla="val 7805"/>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98846"/>
          </a:bodyPr>
          <a:lstStyle xmlns:a="http://schemas.openxmlformats.org/drawingml/2006/main"/>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INPUT CONTRACT</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initial state</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64-control schedule</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context and horizon</a:t>
            </a:r>
          </a:p>
        </p:txBody>
      </p:sp>
      <p:sp>
        <p:nvSpPr>
          <p:cNvPr id="7" name="">
            <a:extLst xmlns:a="http://schemas.openxmlformats.org/drawingml/2006/main">
              <a:ext uri="{FF2B5EF4-FFF2-40B4-BE49-F238E27FC236}">
                <a16:creationId xmlns:a16="http://schemas.microsoft.com/office/drawing/2014/main" id="{4B677A58-9D20-4B68-8C3A-171BB7E041F7}"/>
              </a:ext>
            </a:extLst>
          </p:cNvPr>
          <p:cNvSpPr>
            <a:spLocks xmlns:a="http://schemas.openxmlformats.org/drawingml/2006/main" noGrp="1"/>
          </p:cNvSpPr>
          <p:nvPr/>
        </p:nvSpPr>
        <p:spPr>
          <a:xfrm xmlns:a="http://schemas.openxmlformats.org/drawingml/2006/main">
            <a:off x="4476750" y="2333625"/>
            <a:ext cx="2476500" cy="1428750"/>
          </a:xfrm>
          <a:prstGeom xmlns:a="http://schemas.openxmlformats.org/drawingml/2006/main" prst="roundRect">
            <a:avLst>
              <a:gd name="adj" fmla="val 13333"/>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2325" b="1">
                <a:solidFill>
                  <a:srgbClr val="FFFFFF"/>
                </a:solidFill>
                <a:latin typeface="Arimo"/>
                <a:ea typeface="Arimo"/>
                <a:cs typeface="Arimo"/>
              </a:defRPr>
            </a:pPr>
            <a:r>
              <a:rPr sz="2325" b="1">
                <a:solidFill>
                  <a:srgbClr val="FFFFFF"/>
                </a:solidFill>
                <a:latin typeface="Arimo"/>
                <a:ea typeface="Arimo"/>
                <a:cs typeface="Arimo"/>
              </a:rPr>
              <a:t>SIMULATION</a:t>
            </a:r>
          </a:p>
          <a:p xmlns:a="http://schemas.openxmlformats.org/drawingml/2006/main">
            <a:pPr algn="ctr">
              <a:lnSpc>
                <a:spcPct val="100000"/>
              </a:lnSpc>
              <a:buNone/>
              <a:defRPr sz="2325" b="1">
                <a:solidFill>
                  <a:srgbClr val="FFFFFF"/>
                </a:solidFill>
                <a:latin typeface="Arimo"/>
                <a:ea typeface="Arimo"/>
                <a:cs typeface="Arimo"/>
              </a:defRPr>
            </a:pPr>
            <a:r>
              <a:rPr sz="2325" b="1">
                <a:solidFill>
                  <a:srgbClr val="FFFFFF"/>
                </a:solidFill>
                <a:latin typeface="Arimo"/>
                <a:ea typeface="Arimo"/>
                <a:cs typeface="Arimo"/>
              </a:rPr>
              <a:t>ENGINE</a:t>
            </a:r>
          </a:p>
          <a:p xmlns:a="http://schemas.openxmlformats.org/drawingml/2006/main">
            <a:pPr algn="ctr">
              <a:lnSpc>
                <a:spcPct val="100000"/>
              </a:lnSpc>
              <a:buNone/>
              <a:defRPr sz="2325" b="1">
                <a:solidFill>
                  <a:srgbClr val="FFFFFF"/>
                </a:solidFill>
                <a:latin typeface="Arimo"/>
                <a:ea typeface="Arimo"/>
                <a:cs typeface="Arimo"/>
              </a:defRPr>
            </a:pPr>
            <a:r>
              <a:rPr sz="2325" b="1">
                <a:solidFill>
                  <a:srgbClr val="FFFFFF"/>
                </a:solidFill>
                <a:latin typeface="Arimo"/>
                <a:ea typeface="Arimo"/>
                <a:cs typeface="Arimo"/>
              </a:rPr>
              <a:t>ADAPTER</a:t>
            </a:r>
          </a:p>
        </p:txBody>
      </p:sp>
      <p:sp>
        <p:nvSpPr>
          <p:cNvPr id="8" name="">
            <a:extLst xmlns:a="http://schemas.openxmlformats.org/drawingml/2006/main">
              <a:ext uri="{FF2B5EF4-FFF2-40B4-BE49-F238E27FC236}">
                <a16:creationId xmlns:a16="http://schemas.microsoft.com/office/drawing/2014/main" id="{24C144EA-59D4-46F5-9455-F61A71362FE0}"/>
              </a:ext>
            </a:extLst>
          </p:cNvPr>
          <p:cNvSpPr>
            <a:spLocks xmlns:a="http://schemas.openxmlformats.org/drawingml/2006/main" noGrp="1"/>
          </p:cNvSpPr>
          <p:nvPr/>
        </p:nvSpPr>
        <p:spPr>
          <a:xfrm xmlns:a="http://schemas.openxmlformats.org/drawingml/2006/main">
            <a:off x="8953500" y="2095500"/>
            <a:ext cx="2476500" cy="1952625"/>
          </a:xfrm>
          <a:prstGeom xmlns:a="http://schemas.openxmlformats.org/drawingml/2006/main" prst="roundRect">
            <a:avLst>
              <a:gd name="adj" fmla="val 7805"/>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720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OUTPUT CONTRACT</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36-channel trajectories</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uncertainty and constraints</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energy and diagnostics</a:t>
            </a:r>
          </a:p>
        </p:txBody>
      </p: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flipV="1">
            <a:off x="2771775" y="3048000"/>
            <a:ext cx="1704975" cy="23813"/>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9" name=""/>
          <p:cNvCxnSpPr>
            <a:stCxn xmlns:a="http://schemas.openxmlformats.org/drawingml/2006/main" id="7" idx="3"/>
            <a:endCxn xmlns:a="http://schemas.openxmlformats.org/drawingml/2006/main" id="8" idx="1"/>
          </p:cNvCxnSpPr>
          <p:nvPr/>
        </p:nvCxnSpPr>
        <p:spPr>
          <a:xfrm xmlns:a="http://schemas.openxmlformats.org/drawingml/2006/main">
            <a:off x="6953250" y="3048000"/>
            <a:ext cx="2000250" cy="23813"/>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sp>
        <p:nvSpPr>
          <p:cNvPr id="11" name="">
            <a:extLst xmlns:a="http://schemas.openxmlformats.org/drawingml/2006/main">
              <a:ext uri="{FF2B5EF4-FFF2-40B4-BE49-F238E27FC236}">
                <a16:creationId xmlns:a16="http://schemas.microsoft.com/office/drawing/2014/main" id="{5A115797-699C-4F69-B19C-09A605574885}"/>
              </a:ext>
            </a:extLst>
          </p:cNvPr>
          <p:cNvSpPr>
            <a:spLocks xmlns:a="http://schemas.openxmlformats.org/drawingml/2006/main" noGrp="1"/>
          </p:cNvSpPr>
          <p:nvPr/>
        </p:nvSpPr>
        <p:spPr>
          <a:xfrm xmlns:a="http://schemas.openxmlformats.org/drawingml/2006/main">
            <a:off x="3314700" y="4533900"/>
            <a:ext cx="1428750" cy="495300"/>
          </a:xfrm>
          <a:prstGeom xmlns:a="http://schemas.openxmlformats.org/drawingml/2006/main" prst="roundRect">
            <a:avLst>
              <a:gd name="adj" fmla="val 30769"/>
            </a:avLst>
          </a:prstGeom>
          <a:solidFill xmlns:a="http://schemas.openxmlformats.org/drawingml/2006/main">
            <a:srgbClr val="EAF0E5"/>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Gray-box</a:t>
            </a:r>
          </a:p>
        </p:txBody>
      </p:sp>
      <p:sp>
        <p:nvSpPr>
          <p:cNvPr id="12" name="">
            <a:extLst xmlns:a="http://schemas.openxmlformats.org/drawingml/2006/main">
              <a:ext uri="{FF2B5EF4-FFF2-40B4-BE49-F238E27FC236}">
                <a16:creationId xmlns:a16="http://schemas.microsoft.com/office/drawing/2014/main" id="{DE00F43D-4E52-4AA9-AD7B-50D108F51FBD}"/>
              </a:ext>
            </a:extLst>
          </p:cNvPr>
          <p:cNvSpPr>
            <a:spLocks xmlns:a="http://schemas.openxmlformats.org/drawingml/2006/main" noGrp="1"/>
          </p:cNvSpPr>
          <p:nvPr/>
        </p:nvSpPr>
        <p:spPr>
          <a:xfrm xmlns:a="http://schemas.openxmlformats.org/drawingml/2006/main">
            <a:off x="4953000" y="4533900"/>
            <a:ext cx="1619250" cy="495300"/>
          </a:xfrm>
          <a:prstGeom xmlns:a="http://schemas.openxmlformats.org/drawingml/2006/main" prst="roundRect">
            <a:avLst>
              <a:gd name="adj" fmla="val 30769"/>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Temporal ML</a:t>
            </a:r>
          </a:p>
        </p:txBody>
      </p:sp>
      <p:sp>
        <p:nvSpPr>
          <p:cNvPr id="13" name="">
            <a:extLst xmlns:a="http://schemas.openxmlformats.org/drawingml/2006/main">
              <a:ext uri="{FF2B5EF4-FFF2-40B4-BE49-F238E27FC236}">
                <a16:creationId xmlns:a16="http://schemas.microsoft.com/office/drawing/2014/main" id="{29523E52-1850-419A-817D-CFB63A0BA0BD}"/>
              </a:ext>
            </a:extLst>
          </p:cNvPr>
          <p:cNvSpPr>
            <a:spLocks xmlns:a="http://schemas.openxmlformats.org/drawingml/2006/main" noGrp="1"/>
          </p:cNvSpPr>
          <p:nvPr/>
        </p:nvSpPr>
        <p:spPr>
          <a:xfrm xmlns:a="http://schemas.openxmlformats.org/drawingml/2006/main">
            <a:off x="6781800" y="4533900"/>
            <a:ext cx="1381125" cy="495300"/>
          </a:xfrm>
          <a:prstGeom xmlns:a="http://schemas.openxmlformats.org/drawingml/2006/main" prst="roundRect">
            <a:avLst>
              <a:gd name="adj" fmla="val 30769"/>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Physics</a:t>
            </a:r>
          </a:p>
        </p:txBody>
      </p:sp>
      <p:sp>
        <p:nvSpPr>
          <p:cNvPr id="14" name="">
            <a:extLst xmlns:a="http://schemas.openxmlformats.org/drawingml/2006/main">
              <a:ext uri="{FF2B5EF4-FFF2-40B4-BE49-F238E27FC236}">
                <a16:creationId xmlns:a16="http://schemas.microsoft.com/office/drawing/2014/main" id="{D787EE83-5B02-43AE-BB2E-24CC8A3BC19A}"/>
              </a:ext>
            </a:extLst>
          </p:cNvPr>
          <p:cNvSpPr>
            <a:spLocks xmlns:a="http://schemas.openxmlformats.org/drawingml/2006/main" noGrp="1"/>
          </p:cNvSpPr>
          <p:nvPr/>
        </p:nvSpPr>
        <p:spPr>
          <a:xfrm xmlns:a="http://schemas.openxmlformats.org/drawingml/2006/main">
            <a:off x="8372475" y="4533900"/>
            <a:ext cx="1285875" cy="495300"/>
          </a:xfrm>
          <a:prstGeom xmlns:a="http://schemas.openxmlformats.org/drawingml/2006/main" prst="roundRect">
            <a:avLst>
              <a:gd name="adj" fmla="val 30769"/>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Hybrid</a:t>
            </a:r>
          </a:p>
        </p:txBody>
      </p:sp>
      <p:cxnSp>
        <p:nvCxnSpPr>
          <p:cNvPr id="34" name=""/>
          <p:cNvCxnSpPr>
            <a:stCxn xmlns:a="http://schemas.openxmlformats.org/drawingml/2006/main" id="11" idx="0"/>
            <a:endCxn xmlns:a="http://schemas.openxmlformats.org/drawingml/2006/main" id="7" idx="2"/>
          </p:cNvCxnSpPr>
          <p:nvPr/>
        </p:nvCxnSpPr>
        <p:spPr>
          <a:xfrm xmlns:a="http://schemas.openxmlformats.org/drawingml/2006/main" flipV="1">
            <a:off x="4029075" y="3762375"/>
            <a:ext cx="1685925" cy="771525"/>
          </a:xfrm>
          <a:prstGeom xmlns:a="http://schemas.openxmlformats.org/drawingml/2006/main" prst="bentConnector4">
            <a:avLst>
              <a:gd name="adj1" fmla="val 0"/>
              <a:gd name="adj2" fmla="val 50000"/>
            </a:avLst>
          </a:prstGeom>
          <a:ln xmlns:a="http://schemas.openxmlformats.org/drawingml/2006/main" w="19050">
            <a:solidFill>
              <a:srgbClr val="C9D9CF"/>
            </a:solidFill>
            <a:prstDash val="solid"/>
            <a:tailEnd type="triangle" w="sm" len="sm"/>
          </a:ln>
        </p:spPr>
      </p:cxnSp>
      <p:cxnSp>
        <p:nvCxnSpPr>
          <p:cNvPr id="35" name=""/>
          <p:cNvCxnSpPr>
            <a:stCxn xmlns:a="http://schemas.openxmlformats.org/drawingml/2006/main" id="12" idx="0"/>
            <a:endCxn xmlns:a="http://schemas.openxmlformats.org/drawingml/2006/main" id="7" idx="2"/>
          </p:cNvCxnSpPr>
          <p:nvPr/>
        </p:nvCxnSpPr>
        <p:spPr>
          <a:xfrm xmlns:a="http://schemas.openxmlformats.org/drawingml/2006/main" flipH="1" flipV="1">
            <a:off x="5715000" y="3762375"/>
            <a:ext cx="47625" cy="771525"/>
          </a:xfrm>
          <a:prstGeom xmlns:a="http://schemas.openxmlformats.org/drawingml/2006/main" prst="bentConnector4">
            <a:avLst>
              <a:gd name="adj1" fmla="val 0"/>
              <a:gd name="adj2" fmla="val 50000"/>
            </a:avLst>
          </a:prstGeom>
          <a:ln xmlns:a="http://schemas.openxmlformats.org/drawingml/2006/main" w="19050">
            <a:solidFill>
              <a:srgbClr val="C9D9CF"/>
            </a:solidFill>
            <a:prstDash val="solid"/>
            <a:tailEnd type="triangle" w="sm" len="sm"/>
          </a:ln>
        </p:spPr>
      </p:cxnSp>
      <p:cxnSp>
        <p:nvCxnSpPr>
          <p:cNvPr id="36" name=""/>
          <p:cNvCxnSpPr>
            <a:stCxn xmlns:a="http://schemas.openxmlformats.org/drawingml/2006/main" id="13" idx="0"/>
            <a:endCxn xmlns:a="http://schemas.openxmlformats.org/drawingml/2006/main" id="7" idx="2"/>
          </p:cNvCxnSpPr>
          <p:nvPr/>
        </p:nvCxnSpPr>
        <p:spPr>
          <a:xfrm xmlns:a="http://schemas.openxmlformats.org/drawingml/2006/main" flipH="1" flipV="1">
            <a:off x="5715000" y="3762375"/>
            <a:ext cx="1757363" cy="771525"/>
          </a:xfrm>
          <a:prstGeom xmlns:a="http://schemas.openxmlformats.org/drawingml/2006/main" prst="bentConnector4">
            <a:avLst>
              <a:gd name="adj1" fmla="val 0"/>
              <a:gd name="adj2" fmla="val 50000"/>
            </a:avLst>
          </a:prstGeom>
          <a:ln xmlns:a="http://schemas.openxmlformats.org/drawingml/2006/main" w="19050">
            <a:solidFill>
              <a:srgbClr val="C9D9CF"/>
            </a:solidFill>
            <a:prstDash val="solid"/>
            <a:tailEnd type="triangle" w="sm" len="sm"/>
          </a:ln>
        </p:spPr>
      </p:cxnSp>
      <p:cxnSp>
        <p:nvCxnSpPr>
          <p:cNvPr id="37" name=""/>
          <p:cNvCxnSpPr>
            <a:stCxn xmlns:a="http://schemas.openxmlformats.org/drawingml/2006/main" id="14" idx="0"/>
            <a:endCxn xmlns:a="http://schemas.openxmlformats.org/drawingml/2006/main" id="7" idx="2"/>
          </p:cNvCxnSpPr>
          <p:nvPr/>
        </p:nvCxnSpPr>
        <p:spPr>
          <a:xfrm xmlns:a="http://schemas.openxmlformats.org/drawingml/2006/main" flipH="1" flipV="1">
            <a:off x="5715000" y="3762375"/>
            <a:ext cx="3300413" cy="771525"/>
          </a:xfrm>
          <a:prstGeom xmlns:a="http://schemas.openxmlformats.org/drawingml/2006/main" prst="bentConnector4">
            <a:avLst>
              <a:gd name="adj1" fmla="val 0"/>
              <a:gd name="adj2" fmla="val 29630"/>
            </a:avLst>
          </a:prstGeom>
          <a:ln xmlns:a="http://schemas.openxmlformats.org/drawingml/2006/main" w="19050">
            <a:solidFill>
              <a:srgbClr val="C9D9CF"/>
            </a:solidFill>
            <a:prstDash val="solid"/>
            <a:tailEnd type="triangle" w="sm" len="sm"/>
          </a:ln>
        </p:spPr>
      </p:cxnSp>
      <p:sp>
        <p:nvSpPr>
          <p:cNvPr id="19" name="">
            <a:extLst xmlns:a="http://schemas.openxmlformats.org/drawingml/2006/main">
              <a:ext uri="{FF2B5EF4-FFF2-40B4-BE49-F238E27FC236}">
                <a16:creationId xmlns:a16="http://schemas.microsoft.com/office/drawing/2014/main" id="{DBCBCF54-5B4D-4006-AD80-98E36B73035D}"/>
              </a:ext>
            </a:extLst>
          </p:cNvPr>
          <p:cNvSpPr>
            <a:spLocks xmlns:a="http://schemas.openxmlformats.org/drawingml/2006/main" noGrp="1"/>
          </p:cNvSpPr>
          <p:nvPr/>
        </p:nvSpPr>
        <p:spPr>
          <a:xfrm xmlns:a="http://schemas.openxmlformats.org/drawingml/2006/main">
            <a:off x="2952750" y="5543550"/>
            <a:ext cx="619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785"/>
          </a:bodyPr>
          <a:lstStyle xmlns:a="http://schemas.openxmlformats.org/drawingml/2006/main"/>
          <a:p xmlns:a="http://schemas.openxmlformats.org/drawingml/2006/main">
            <a:pPr algn="ctr">
              <a:lnSpc>
                <a:spcPct val="104000"/>
              </a:lnSpc>
              <a:buNone/>
              <a:defRPr sz="1800" b="1" i="0">
                <a:solidFill>
                  <a:srgbClr val="167A55"/>
                </a:solidFill>
                <a:latin typeface="Arimo"/>
                <a:ea typeface="Arimo"/>
                <a:cs typeface="Arimo"/>
              </a:defRPr>
            </a:pPr>
            <a:r>
              <a:rPr sz="1800" b="1" i="0">
                <a:solidFill>
                  <a:srgbClr val="167A55"/>
                </a:solidFill>
                <a:latin typeface="Arimo"/>
                <a:ea typeface="Arimo"/>
                <a:cs typeface="Arimo"/>
              </a:rPr>
              <a:t>The same strategy and scenario can be compared across engines</a:t>
            </a:r>
          </a:p>
        </p:txBody>
      </p:sp>
    </p:spTree>
    <p:extLst>
      <p:ext uri="{BB962C8B-B14F-4D97-AF65-F5344CB8AC3E}">
        <p14:creationId xmlns:p14="http://schemas.microsoft.com/office/powerpoint/2010/main" val="479632673"/>
      </p:ext>
    </p:extLst>
  </p:cSld>
</p:sld>
</file>

<file path=ppt/slides/slide11.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868ACCA-C4BE-40D4-AD96-D7758E20BBEA}"/>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231D784-D989-4F39-B769-E47FB6CF8115}"/>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Candidate forward-model families</a:t>
            </a:r>
          </a:p>
        </p:txBody>
      </p:sp>
      <p:sp>
        <p:nvSpPr>
          <p:cNvPr id="3" name="">
            <a:extLst xmlns:a="http://schemas.openxmlformats.org/drawingml/2006/main">
              <a:ext uri="{FF2B5EF4-FFF2-40B4-BE49-F238E27FC236}">
                <a16:creationId xmlns:a16="http://schemas.microsoft.com/office/drawing/2014/main" id="{A12436B2-033F-47B9-B374-C71127009F81}"/>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PoC should benchmark complementary approaches</a:t>
            </a:r>
          </a:p>
        </p:txBody>
      </p:sp>
      <p:sp>
        <p:nvSpPr>
          <p:cNvPr id="4" name="">
            <a:extLst xmlns:a="http://schemas.openxmlformats.org/drawingml/2006/main">
              <a:ext uri="{FF2B5EF4-FFF2-40B4-BE49-F238E27FC236}">
                <a16:creationId xmlns:a16="http://schemas.microsoft.com/office/drawing/2014/main" id="{FA1752DE-C8DE-41F3-84A1-BABE11E8B79E}"/>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12D2F5FA-2BFB-4714-92DF-9E262A88412C}"/>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11</a:t>
            </a:r>
          </a:p>
        </p:txBody>
      </p:sp>
      <p:sp>
        <p:nvSpPr>
          <p:cNvPr id="6" name="">
            <a:extLst xmlns:a="http://schemas.openxmlformats.org/drawingml/2006/main">
              <a:ext uri="{FF2B5EF4-FFF2-40B4-BE49-F238E27FC236}">
                <a16:creationId xmlns:a16="http://schemas.microsoft.com/office/drawing/2014/main" id="{DE2CA93E-A9B0-406D-8DAB-720B9E6C357D}"/>
              </a:ext>
            </a:extLst>
          </p:cNvPr>
          <p:cNvSpPr>
            <a:spLocks xmlns:a="http://schemas.openxmlformats.org/drawingml/2006/main" noGrp="1"/>
          </p:cNvSpPr>
          <p:nvPr/>
        </p:nvSpPr>
        <p:spPr>
          <a:xfrm xmlns:a="http://schemas.openxmlformats.org/drawingml/2006/main">
            <a:off x="51435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167A55"/>
                </a:solidFill>
                <a:latin typeface="Arimo"/>
                <a:ea typeface="Arimo"/>
                <a:cs typeface="Arimo"/>
              </a:defRPr>
            </a:pPr>
            <a:r>
              <a:rPr sz="1350" b="1" i="0">
                <a:solidFill>
                  <a:srgbClr val="167A55"/>
                </a:solidFill>
                <a:latin typeface="Arimo"/>
                <a:ea typeface="Arimo"/>
                <a:cs typeface="Arimo"/>
              </a:rPr>
              <a:t>GRAY-BOX</a:t>
            </a:r>
          </a:p>
        </p:txBody>
      </p:sp>
      <p:sp>
        <p:nvSpPr>
          <p:cNvPr id="7" name="">
            <a:extLst xmlns:a="http://schemas.openxmlformats.org/drawingml/2006/main">
              <a:ext uri="{FF2B5EF4-FFF2-40B4-BE49-F238E27FC236}">
                <a16:creationId xmlns:a16="http://schemas.microsoft.com/office/drawing/2014/main" id="{1BD7806A-1D61-4DA0-B0AD-26B2E98010D9}"/>
              </a:ext>
            </a:extLst>
          </p:cNvPr>
          <p:cNvSpPr>
            <a:spLocks xmlns:a="http://schemas.openxmlformats.org/drawingml/2006/main" noGrp="1"/>
          </p:cNvSpPr>
          <p:nvPr/>
        </p:nvSpPr>
        <p:spPr>
          <a:xfrm xmlns:a="http://schemas.openxmlformats.org/drawingml/2006/main">
            <a:off x="628650" y="2019300"/>
            <a:ext cx="2247900" cy="0"/>
          </a:xfrm>
          <a:prstGeom xmlns:a="http://schemas.openxmlformats.org/drawingml/2006/main" prst="line">
            <a:avLst/>
          </a:prstGeom>
          <a:noFill xmlns:a="http://schemas.openxmlformats.org/drawingml/2006/main"/>
          <a:ln xmlns:a="http://schemas.openxmlformats.org/drawingml/2006/main" w="47625">
            <a:solidFill>
              <a:srgbClr val="167A55"/>
            </a:solidFill>
            <a:prstDash val="solid"/>
          </a:ln>
        </p:spPr>
      </p:sp>
      <p:sp>
        <p:nvSpPr>
          <p:cNvPr id="8" name="">
            <a:extLst xmlns:a="http://schemas.openxmlformats.org/drawingml/2006/main">
              <a:ext uri="{FF2B5EF4-FFF2-40B4-BE49-F238E27FC236}">
                <a16:creationId xmlns:a16="http://schemas.microsoft.com/office/drawing/2014/main" id="{C5077962-36A3-4033-A621-8E60BE0DAC70}"/>
              </a:ext>
            </a:extLst>
          </p:cNvPr>
          <p:cNvSpPr>
            <a:spLocks xmlns:a="http://schemas.openxmlformats.org/drawingml/2006/main" noGrp="1"/>
          </p:cNvSpPr>
          <p:nvPr/>
        </p:nvSpPr>
        <p:spPr>
          <a:xfrm xmlns:a="http://schemas.openxmlformats.org/drawingml/2006/main">
            <a:off x="64770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Interpretable dynamics</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Modest data need</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May miss nonlinear coupling</a:t>
            </a:r>
          </a:p>
        </p:txBody>
      </p:sp>
      <p:sp>
        <p:nvSpPr>
          <p:cNvPr id="9" name="">
            <a:extLst xmlns:a="http://schemas.openxmlformats.org/drawingml/2006/main">
              <a:ext uri="{FF2B5EF4-FFF2-40B4-BE49-F238E27FC236}">
                <a16:creationId xmlns:a16="http://schemas.microsoft.com/office/drawing/2014/main" id="{6CE23DBE-0AE9-4B0E-99C1-5F5AE482C6B6}"/>
              </a:ext>
            </a:extLst>
          </p:cNvPr>
          <p:cNvSpPr>
            <a:spLocks xmlns:a="http://schemas.openxmlformats.org/drawingml/2006/main" noGrp="1"/>
          </p:cNvSpPr>
          <p:nvPr/>
        </p:nvSpPr>
        <p:spPr>
          <a:xfrm xmlns:a="http://schemas.openxmlformats.org/drawingml/2006/main">
            <a:off x="78105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simple and legible</a:t>
            </a:r>
          </a:p>
        </p:txBody>
      </p:sp>
      <p:sp>
        <p:nvSpPr>
          <p:cNvPr id="10" name="">
            <a:extLst xmlns:a="http://schemas.openxmlformats.org/drawingml/2006/main">
              <a:ext uri="{FF2B5EF4-FFF2-40B4-BE49-F238E27FC236}">
                <a16:creationId xmlns:a16="http://schemas.microsoft.com/office/drawing/2014/main" id="{07182CDE-89B4-4402-AA84-BB9DFFFFB6F4}"/>
              </a:ext>
            </a:extLst>
          </p:cNvPr>
          <p:cNvSpPr>
            <a:spLocks xmlns:a="http://schemas.openxmlformats.org/drawingml/2006/main" noGrp="1"/>
          </p:cNvSpPr>
          <p:nvPr/>
        </p:nvSpPr>
        <p:spPr>
          <a:xfrm xmlns:a="http://schemas.openxmlformats.org/drawingml/2006/main">
            <a:off x="339090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30AFC2"/>
                </a:solidFill>
                <a:latin typeface="Arimo"/>
                <a:ea typeface="Arimo"/>
                <a:cs typeface="Arimo"/>
              </a:defRPr>
            </a:pPr>
            <a:r>
              <a:rPr sz="1350" b="1" i="0">
                <a:solidFill>
                  <a:srgbClr val="30AFC2"/>
                </a:solidFill>
                <a:latin typeface="Arimo"/>
                <a:ea typeface="Arimo"/>
                <a:cs typeface="Arimo"/>
              </a:rPr>
              <a:t>TEMPORAL ML</a:t>
            </a:r>
          </a:p>
        </p:txBody>
      </p:sp>
      <p:sp>
        <p:nvSpPr>
          <p:cNvPr id="11" name="">
            <a:extLst xmlns:a="http://schemas.openxmlformats.org/drawingml/2006/main">
              <a:ext uri="{FF2B5EF4-FFF2-40B4-BE49-F238E27FC236}">
                <a16:creationId xmlns:a16="http://schemas.microsoft.com/office/drawing/2014/main" id="{117FD898-EB50-48DC-8F07-259A6D88F67F}"/>
              </a:ext>
            </a:extLst>
          </p:cNvPr>
          <p:cNvSpPr>
            <a:spLocks xmlns:a="http://schemas.openxmlformats.org/drawingml/2006/main" noGrp="1"/>
          </p:cNvSpPr>
          <p:nvPr/>
        </p:nvSpPr>
        <p:spPr>
          <a:xfrm xmlns:a="http://schemas.openxmlformats.org/drawingml/2006/main">
            <a:off x="3505200" y="2019300"/>
            <a:ext cx="2247900" cy="0"/>
          </a:xfrm>
          <a:prstGeom xmlns:a="http://schemas.openxmlformats.org/drawingml/2006/main" prst="line">
            <a:avLst/>
          </a:prstGeom>
          <a:noFill xmlns:a="http://schemas.openxmlformats.org/drawingml/2006/main"/>
          <a:ln xmlns:a="http://schemas.openxmlformats.org/drawingml/2006/main" w="47625">
            <a:solidFill>
              <a:srgbClr val="30AFC2"/>
            </a:solidFill>
            <a:prstDash val="solid"/>
          </a:ln>
        </p:spPr>
      </p:sp>
      <p:sp>
        <p:nvSpPr>
          <p:cNvPr id="12" name="">
            <a:extLst xmlns:a="http://schemas.openxmlformats.org/drawingml/2006/main">
              <a:ext uri="{FF2B5EF4-FFF2-40B4-BE49-F238E27FC236}">
                <a16:creationId xmlns:a16="http://schemas.microsoft.com/office/drawing/2014/main" id="{CB6818E7-CAA4-4A55-B279-BAF865A7DF48}"/>
              </a:ext>
            </a:extLst>
          </p:cNvPr>
          <p:cNvSpPr>
            <a:spLocks xmlns:a="http://schemas.openxmlformats.org/drawingml/2006/main" noGrp="1"/>
          </p:cNvSpPr>
          <p:nvPr/>
        </p:nvSpPr>
        <p:spPr>
          <a:xfrm xmlns:a="http://schemas.openxmlformats.org/drawingml/2006/main">
            <a:off x="352425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89"/>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Learns delays and nonlinear response</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Fast repeated simulation</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Needs coverage and OOD checks</a:t>
            </a:r>
          </a:p>
        </p:txBody>
      </p:sp>
      <p:sp>
        <p:nvSpPr>
          <p:cNvPr id="13" name="">
            <a:extLst xmlns:a="http://schemas.openxmlformats.org/drawingml/2006/main">
              <a:ext uri="{FF2B5EF4-FFF2-40B4-BE49-F238E27FC236}">
                <a16:creationId xmlns:a16="http://schemas.microsoft.com/office/drawing/2014/main" id="{C1FC1748-FAF4-487C-ACF6-724C06605DE7}"/>
              </a:ext>
            </a:extLst>
          </p:cNvPr>
          <p:cNvSpPr>
            <a:spLocks xmlns:a="http://schemas.openxmlformats.org/drawingml/2006/main" noGrp="1"/>
          </p:cNvSpPr>
          <p:nvPr/>
        </p:nvSpPr>
        <p:spPr>
          <a:xfrm xmlns:a="http://schemas.openxmlformats.org/drawingml/2006/main">
            <a:off x="365760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flexible surrogate</a:t>
            </a:r>
          </a:p>
        </p:txBody>
      </p:sp>
      <p:sp>
        <p:nvSpPr>
          <p:cNvPr id="14" name="">
            <a:extLst xmlns:a="http://schemas.openxmlformats.org/drawingml/2006/main">
              <a:ext uri="{FF2B5EF4-FFF2-40B4-BE49-F238E27FC236}">
                <a16:creationId xmlns:a16="http://schemas.microsoft.com/office/drawing/2014/main" id="{C495A4AC-0EDB-4D7F-8C7F-6DD0338382D2}"/>
              </a:ext>
            </a:extLst>
          </p:cNvPr>
          <p:cNvSpPr>
            <a:spLocks xmlns:a="http://schemas.openxmlformats.org/drawingml/2006/main" noGrp="1"/>
          </p:cNvSpPr>
          <p:nvPr/>
        </p:nvSpPr>
        <p:spPr>
          <a:xfrm xmlns:a="http://schemas.openxmlformats.org/drawingml/2006/main">
            <a:off x="626745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E69B3A"/>
                </a:solidFill>
                <a:latin typeface="Arimo"/>
                <a:ea typeface="Arimo"/>
                <a:cs typeface="Arimo"/>
              </a:defRPr>
            </a:pPr>
            <a:r>
              <a:rPr sz="1350" b="1" i="0">
                <a:solidFill>
                  <a:srgbClr val="E69B3A"/>
                </a:solidFill>
                <a:latin typeface="Arimo"/>
                <a:ea typeface="Arimo"/>
                <a:cs typeface="Arimo"/>
              </a:rPr>
              <a:t>PHYSICS</a:t>
            </a:r>
          </a:p>
        </p:txBody>
      </p:sp>
      <p:sp>
        <p:nvSpPr>
          <p:cNvPr id="15" name="">
            <a:extLst xmlns:a="http://schemas.openxmlformats.org/drawingml/2006/main">
              <a:ext uri="{FF2B5EF4-FFF2-40B4-BE49-F238E27FC236}">
                <a16:creationId xmlns:a16="http://schemas.microsoft.com/office/drawing/2014/main" id="{B4114DC0-D256-4DC0-9CF2-F9829AEFDCFF}"/>
              </a:ext>
            </a:extLst>
          </p:cNvPr>
          <p:cNvSpPr>
            <a:spLocks xmlns:a="http://schemas.openxmlformats.org/drawingml/2006/main" noGrp="1"/>
          </p:cNvSpPr>
          <p:nvPr/>
        </p:nvSpPr>
        <p:spPr>
          <a:xfrm xmlns:a="http://schemas.openxmlformats.org/drawingml/2006/main">
            <a:off x="6381750" y="2019300"/>
            <a:ext cx="2247900" cy="0"/>
          </a:xfrm>
          <a:prstGeom xmlns:a="http://schemas.openxmlformats.org/drawingml/2006/main" prst="line">
            <a:avLst/>
          </a:prstGeom>
          <a:noFill xmlns:a="http://schemas.openxmlformats.org/drawingml/2006/main"/>
          <a:ln xmlns:a="http://schemas.openxmlformats.org/drawingml/2006/main" w="47625">
            <a:solidFill>
              <a:srgbClr val="E69B3A"/>
            </a:solidFill>
            <a:prstDash val="solid"/>
          </a:ln>
        </p:spPr>
      </p:sp>
      <p:sp>
        <p:nvSpPr>
          <p:cNvPr id="16" name="">
            <a:extLst xmlns:a="http://schemas.openxmlformats.org/drawingml/2006/main">
              <a:ext uri="{FF2B5EF4-FFF2-40B4-BE49-F238E27FC236}">
                <a16:creationId xmlns:a16="http://schemas.microsoft.com/office/drawing/2014/main" id="{C8C90FFA-B926-4C10-B5DD-F81288084156}"/>
              </a:ext>
            </a:extLst>
          </p:cNvPr>
          <p:cNvSpPr>
            <a:spLocks xmlns:a="http://schemas.openxmlformats.org/drawingml/2006/main" noGrp="1"/>
          </p:cNvSpPr>
          <p:nvPr/>
        </p:nvSpPr>
        <p:spPr>
          <a:xfrm xmlns:a="http://schemas.openxmlformats.org/drawingml/2006/main">
            <a:off x="640080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89"/>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Explicit HVAC and energy structure</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Transparent assumptions</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Calibration can be labor intensive</a:t>
            </a:r>
          </a:p>
        </p:txBody>
      </p:sp>
      <p:sp>
        <p:nvSpPr>
          <p:cNvPr id="17" name="">
            <a:extLst xmlns:a="http://schemas.openxmlformats.org/drawingml/2006/main">
              <a:ext uri="{FF2B5EF4-FFF2-40B4-BE49-F238E27FC236}">
                <a16:creationId xmlns:a16="http://schemas.microsoft.com/office/drawing/2014/main" id="{DF52DF57-D9A7-4760-AB1A-8AD775FD67DC}"/>
              </a:ext>
            </a:extLst>
          </p:cNvPr>
          <p:cNvSpPr>
            <a:spLocks xmlns:a="http://schemas.openxmlformats.org/drawingml/2006/main" noGrp="1"/>
          </p:cNvSpPr>
          <p:nvPr/>
        </p:nvSpPr>
        <p:spPr>
          <a:xfrm xmlns:a="http://schemas.openxmlformats.org/drawingml/2006/main">
            <a:off x="653415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component fidelity</a:t>
            </a:r>
          </a:p>
        </p:txBody>
      </p:sp>
      <p:sp>
        <p:nvSpPr>
          <p:cNvPr id="18" name="">
            <a:extLst xmlns:a="http://schemas.openxmlformats.org/drawingml/2006/main">
              <a:ext uri="{FF2B5EF4-FFF2-40B4-BE49-F238E27FC236}">
                <a16:creationId xmlns:a16="http://schemas.microsoft.com/office/drawing/2014/main" id="{8096CF3A-08AE-4AB8-99E0-A1D15043CA3E}"/>
              </a:ext>
            </a:extLst>
          </p:cNvPr>
          <p:cNvSpPr>
            <a:spLocks xmlns:a="http://schemas.openxmlformats.org/drawingml/2006/main" noGrp="1"/>
          </p:cNvSpPr>
          <p:nvPr/>
        </p:nvSpPr>
        <p:spPr>
          <a:xfrm xmlns:a="http://schemas.openxmlformats.org/drawingml/2006/main">
            <a:off x="914400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B85246"/>
                </a:solidFill>
                <a:latin typeface="Arimo"/>
                <a:ea typeface="Arimo"/>
                <a:cs typeface="Arimo"/>
              </a:defRPr>
            </a:pPr>
            <a:r>
              <a:rPr sz="1350" b="1" i="0">
                <a:solidFill>
                  <a:srgbClr val="B85246"/>
                </a:solidFill>
                <a:latin typeface="Arimo"/>
                <a:ea typeface="Arimo"/>
                <a:cs typeface="Arimo"/>
              </a:rPr>
              <a:t>HYBRID</a:t>
            </a:r>
          </a:p>
        </p:txBody>
      </p:sp>
      <p:sp>
        <p:nvSpPr>
          <p:cNvPr id="19" name="">
            <a:extLst xmlns:a="http://schemas.openxmlformats.org/drawingml/2006/main">
              <a:ext uri="{FF2B5EF4-FFF2-40B4-BE49-F238E27FC236}">
                <a16:creationId xmlns:a16="http://schemas.microsoft.com/office/drawing/2014/main" id="{0CD5DA9B-B36B-4148-966D-C396D2FED940}"/>
              </a:ext>
            </a:extLst>
          </p:cNvPr>
          <p:cNvSpPr>
            <a:spLocks xmlns:a="http://schemas.openxmlformats.org/drawingml/2006/main" noGrp="1"/>
          </p:cNvSpPr>
          <p:nvPr/>
        </p:nvSpPr>
        <p:spPr>
          <a:xfrm xmlns:a="http://schemas.openxmlformats.org/drawingml/2006/main">
            <a:off x="9258300" y="2019300"/>
            <a:ext cx="2247900" cy="0"/>
          </a:xfrm>
          <a:prstGeom xmlns:a="http://schemas.openxmlformats.org/drawingml/2006/main" prst="line">
            <a:avLst/>
          </a:prstGeom>
          <a:noFill xmlns:a="http://schemas.openxmlformats.org/drawingml/2006/main"/>
          <a:ln xmlns:a="http://schemas.openxmlformats.org/drawingml/2006/main" w="47625">
            <a:solidFill>
              <a:srgbClr val="B85246"/>
            </a:solidFill>
            <a:prstDash val="solid"/>
          </a:ln>
        </p:spPr>
      </p:sp>
      <p:sp>
        <p:nvSpPr>
          <p:cNvPr id="20" name="">
            <a:extLst xmlns:a="http://schemas.openxmlformats.org/drawingml/2006/main">
              <a:ext uri="{FF2B5EF4-FFF2-40B4-BE49-F238E27FC236}">
                <a16:creationId xmlns:a16="http://schemas.microsoft.com/office/drawing/2014/main" id="{7D458DA9-3D7B-417F-B02E-1F1021D7C756}"/>
              </a:ext>
            </a:extLst>
          </p:cNvPr>
          <p:cNvSpPr>
            <a:spLocks xmlns:a="http://schemas.openxmlformats.org/drawingml/2006/main" noGrp="1"/>
          </p:cNvSpPr>
          <p:nvPr/>
        </p:nvSpPr>
        <p:spPr>
          <a:xfrm xmlns:a="http://schemas.openxmlformats.org/drawingml/2006/main">
            <a:off x="927735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89"/>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Physical constraints plus learned residual</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Balances structure and fit</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More integration complexity</a:t>
            </a:r>
          </a:p>
        </p:txBody>
      </p:sp>
      <p:sp>
        <p:nvSpPr>
          <p:cNvPr id="21" name="">
            <a:extLst xmlns:a="http://schemas.openxmlformats.org/drawingml/2006/main">
              <a:ext uri="{FF2B5EF4-FFF2-40B4-BE49-F238E27FC236}">
                <a16:creationId xmlns:a16="http://schemas.microsoft.com/office/drawing/2014/main" id="{20623377-B028-4ADF-87D0-5986731D2A87}"/>
              </a:ext>
            </a:extLst>
          </p:cNvPr>
          <p:cNvSpPr>
            <a:spLocks xmlns:a="http://schemas.openxmlformats.org/drawingml/2006/main" noGrp="1"/>
          </p:cNvSpPr>
          <p:nvPr/>
        </p:nvSpPr>
        <p:spPr>
          <a:xfrm xmlns:a="http://schemas.openxmlformats.org/drawingml/2006/main">
            <a:off x="941070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candidate end state</a:t>
            </a:r>
          </a:p>
        </p:txBody>
      </p:sp>
      <p:sp>
        <p:nvSpPr>
          <p:cNvPr id="22" name="">
            <a:extLst xmlns:a="http://schemas.openxmlformats.org/drawingml/2006/main">
              <a:ext uri="{FF2B5EF4-FFF2-40B4-BE49-F238E27FC236}">
                <a16:creationId xmlns:a16="http://schemas.microsoft.com/office/drawing/2014/main" id="{2C08BF9E-40A3-422D-9E67-68DE05C8D5DF}"/>
              </a:ext>
            </a:extLst>
          </p:cNvPr>
          <p:cNvSpPr>
            <a:spLocks xmlns:a="http://schemas.openxmlformats.org/drawingml/2006/main" noGrp="1"/>
          </p:cNvSpPr>
          <p:nvPr/>
        </p:nvSpPr>
        <p:spPr>
          <a:xfrm xmlns:a="http://schemas.openxmlformats.org/drawingml/2006/main">
            <a:off x="2286000" y="5715000"/>
            <a:ext cx="7620000" cy="457200"/>
          </a:xfrm>
          <a:prstGeom xmlns:a="http://schemas.openxmlformats.org/drawingml/2006/main" prst="roundRect">
            <a:avLst>
              <a:gd name="adj" fmla="val 33333"/>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81984"/>
          </a:bodyPr>
          <a:lstStyle xmlns:a="http://schemas.openxmlformats.org/drawingml/2006/main"/>
          <a:p xmlns:a="http://schemas.openxmlformats.org/drawingml/2006/main">
            <a:pPr algn="ctr">
              <a:lnSpc>
                <a:spcPct val="100000"/>
              </a:lnSpc>
              <a:buNone/>
              <a:defRPr sz="1725" b="1">
                <a:solidFill>
                  <a:srgbClr val="FFFFFF"/>
                </a:solidFill>
                <a:latin typeface="Arimo"/>
                <a:ea typeface="Arimo"/>
                <a:cs typeface="Arimo"/>
              </a:defRPr>
            </a:pPr>
            <a:r>
              <a:rPr sz="1725" b="1">
                <a:solidFill>
                  <a:srgbClr val="FFFFFF"/>
                </a:solidFill>
                <a:latin typeface="Arimo"/>
                <a:ea typeface="Arimo"/>
                <a:cs typeface="Arimo"/>
              </a:rPr>
              <a:t>Select the simplest engine that passes the agreed validation gates</a:t>
            </a:r>
          </a:p>
        </p:txBody>
      </p:sp>
    </p:spTree>
    <p:extLst>
      <p:ext uri="{BB962C8B-B14F-4D97-AF65-F5344CB8AC3E}">
        <p14:creationId xmlns:p14="http://schemas.microsoft.com/office/powerpoint/2010/main" val="651025996"/>
      </p:ext>
    </p:extLst>
  </p:cSld>
</p:sld>
</file>

<file path=ppt/slides/slide1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241D557-5D05-4684-AC9E-4883BBA1EEB6}"/>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24C6DEE-BF0C-4D38-BBA2-8516859D5D1F}"/>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Established simulation foundations</a:t>
            </a:r>
          </a:p>
        </p:txBody>
      </p:sp>
      <p:sp>
        <p:nvSpPr>
          <p:cNvPr id="3" name="">
            <a:extLst xmlns:a="http://schemas.openxmlformats.org/drawingml/2006/main">
              <a:ext uri="{FF2B5EF4-FFF2-40B4-BE49-F238E27FC236}">
                <a16:creationId xmlns:a16="http://schemas.microsoft.com/office/drawing/2014/main" id="{357665D1-222F-42D8-95C2-3A4F54D44212}"/>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proposal applies mature testing patterns to a unique biome</a:t>
            </a:r>
          </a:p>
        </p:txBody>
      </p:sp>
      <p:sp>
        <p:nvSpPr>
          <p:cNvPr id="4" name="">
            <a:extLst xmlns:a="http://schemas.openxmlformats.org/drawingml/2006/main">
              <a:ext uri="{FF2B5EF4-FFF2-40B4-BE49-F238E27FC236}">
                <a16:creationId xmlns:a16="http://schemas.microsoft.com/office/drawing/2014/main" id="{CB56120F-A5CF-4526-95DF-73EF74806D73}"/>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9E60FA23-D600-4F3B-84B8-7CCDD2693797}"/>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12</a:t>
            </a:r>
          </a:p>
        </p:txBody>
      </p:sp>
      <p:sp>
        <p:nvSpPr>
          <p:cNvPr id="6" name="">
            <a:extLst xmlns:a="http://schemas.openxmlformats.org/drawingml/2006/main">
              <a:ext uri="{FF2B5EF4-FFF2-40B4-BE49-F238E27FC236}">
                <a16:creationId xmlns:a16="http://schemas.microsoft.com/office/drawing/2014/main" id="{3182FB19-7585-485F-B8AA-3CA3B386A578}"/>
              </a:ext>
            </a:extLst>
          </p:cNvPr>
          <p:cNvSpPr>
            <a:spLocks xmlns:a="http://schemas.openxmlformats.org/drawingml/2006/main" noGrp="1"/>
          </p:cNvSpPr>
          <p:nvPr/>
        </p:nvSpPr>
        <p:spPr>
          <a:xfrm xmlns:a="http://schemas.openxmlformats.org/drawingml/2006/main">
            <a:off x="1181100" y="3162300"/>
            <a:ext cx="9810750" cy="0"/>
          </a:xfrm>
          <a:prstGeom xmlns:a="http://schemas.openxmlformats.org/drawingml/2006/main" prst="line">
            <a:avLst/>
          </a:prstGeom>
          <a:noFill xmlns:a="http://schemas.openxmlformats.org/drawingml/2006/main"/>
          <a:ln xmlns:a="http://schemas.openxmlformats.org/drawingml/2006/main" w="57150">
            <a:solidFill>
              <a:srgbClr val="C9D9CF"/>
            </a:solidFill>
            <a:prstDash val="solid"/>
          </a:ln>
        </p:spPr>
      </p:sp>
      <p:sp>
        <p:nvSpPr>
          <p:cNvPr id="7" name="">
            <a:extLst xmlns:a="http://schemas.openxmlformats.org/drawingml/2006/main">
              <a:ext uri="{FF2B5EF4-FFF2-40B4-BE49-F238E27FC236}">
                <a16:creationId xmlns:a16="http://schemas.microsoft.com/office/drawing/2014/main" id="{06031FEF-90BF-4580-890D-001F6A02D267}"/>
              </a:ext>
            </a:extLst>
          </p:cNvPr>
          <p:cNvSpPr>
            <a:spLocks xmlns:a="http://schemas.openxmlformats.org/drawingml/2006/main" noGrp="1"/>
          </p:cNvSpPr>
          <p:nvPr/>
        </p:nvSpPr>
        <p:spPr>
          <a:xfrm xmlns:a="http://schemas.openxmlformats.org/drawingml/2006/main">
            <a:off x="16192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167A55"/>
            </a:solidFill>
            <a:prstDash val="solid"/>
          </a:ln>
        </p:spPr>
      </p:sp>
      <p:sp>
        <p:nvSpPr>
          <p:cNvPr id="8" name="">
            <a:extLst xmlns:a="http://schemas.openxmlformats.org/drawingml/2006/main">
              <a:ext uri="{FF2B5EF4-FFF2-40B4-BE49-F238E27FC236}">
                <a16:creationId xmlns:a16="http://schemas.microsoft.com/office/drawing/2014/main" id="{1FC8FF05-78F6-478E-AFCF-CC154607DD1D}"/>
              </a:ext>
            </a:extLst>
          </p:cNvPr>
          <p:cNvSpPr>
            <a:spLocks xmlns:a="http://schemas.openxmlformats.org/drawingml/2006/main" noGrp="1"/>
          </p:cNvSpPr>
          <p:nvPr/>
        </p:nvSpPr>
        <p:spPr>
          <a:xfrm xmlns:a="http://schemas.openxmlformats.org/drawingml/2006/main">
            <a:off x="16192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a:t>
            </a:r>
          </a:p>
        </p:txBody>
      </p:sp>
      <p:sp>
        <p:nvSpPr>
          <p:cNvPr id="9" name="">
            <a:extLst xmlns:a="http://schemas.openxmlformats.org/drawingml/2006/main">
              <a:ext uri="{FF2B5EF4-FFF2-40B4-BE49-F238E27FC236}">
                <a16:creationId xmlns:a16="http://schemas.microsoft.com/office/drawing/2014/main" id="{DA803E5A-BED0-4ABA-89F7-28B9BC7DFC95}"/>
              </a:ext>
            </a:extLst>
          </p:cNvPr>
          <p:cNvSpPr>
            <a:spLocks xmlns:a="http://schemas.openxmlformats.org/drawingml/2006/main" noGrp="1"/>
          </p:cNvSpPr>
          <p:nvPr/>
        </p:nvSpPr>
        <p:spPr>
          <a:xfrm xmlns:a="http://schemas.openxmlformats.org/drawingml/2006/main">
            <a:off x="9144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BOPTEST</a:t>
            </a:r>
          </a:p>
        </p:txBody>
      </p:sp>
      <p:sp>
        <p:nvSpPr>
          <p:cNvPr id="10" name="">
            <a:extLst xmlns:a="http://schemas.openxmlformats.org/drawingml/2006/main">
              <a:ext uri="{FF2B5EF4-FFF2-40B4-BE49-F238E27FC236}">
                <a16:creationId xmlns:a16="http://schemas.microsoft.com/office/drawing/2014/main" id="{16C34D2E-A37A-4C67-8C57-36C76ACB4932}"/>
              </a:ext>
            </a:extLst>
          </p:cNvPr>
          <p:cNvSpPr>
            <a:spLocks xmlns:a="http://schemas.openxmlformats.org/drawingml/2006/main" noGrp="1"/>
          </p:cNvSpPr>
          <p:nvPr/>
        </p:nvSpPr>
        <p:spPr>
          <a:xfrm xmlns:a="http://schemas.openxmlformats.org/drawingml/2006/main">
            <a:off x="9144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controller API</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and KPIs</a:t>
            </a:r>
          </a:p>
        </p:txBody>
      </p:sp>
      <p:sp>
        <p:nvSpPr>
          <p:cNvPr id="11" name="">
            <a:extLst xmlns:a="http://schemas.openxmlformats.org/drawingml/2006/main">
              <a:ext uri="{FF2B5EF4-FFF2-40B4-BE49-F238E27FC236}">
                <a16:creationId xmlns:a16="http://schemas.microsoft.com/office/drawing/2014/main" id="{F3BD5190-4F03-47BE-A8AB-DE0ECAE90D21}"/>
              </a:ext>
            </a:extLst>
          </p:cNvPr>
          <p:cNvSpPr>
            <a:spLocks xmlns:a="http://schemas.openxmlformats.org/drawingml/2006/main" noGrp="1"/>
          </p:cNvSpPr>
          <p:nvPr/>
        </p:nvSpPr>
        <p:spPr>
          <a:xfrm xmlns:a="http://schemas.openxmlformats.org/drawingml/2006/main">
            <a:off x="44005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30AFC2"/>
            </a:solidFill>
            <a:prstDash val="solid"/>
          </a:ln>
        </p:spPr>
      </p:sp>
      <p:sp>
        <p:nvSpPr>
          <p:cNvPr id="12" name="">
            <a:extLst xmlns:a="http://schemas.openxmlformats.org/drawingml/2006/main">
              <a:ext uri="{FF2B5EF4-FFF2-40B4-BE49-F238E27FC236}">
                <a16:creationId xmlns:a16="http://schemas.microsoft.com/office/drawing/2014/main" id="{A6431CE3-9667-47A9-BA42-10C0F17CE382}"/>
              </a:ext>
            </a:extLst>
          </p:cNvPr>
          <p:cNvSpPr>
            <a:spLocks xmlns:a="http://schemas.openxmlformats.org/drawingml/2006/main" noGrp="1"/>
          </p:cNvSpPr>
          <p:nvPr/>
        </p:nvSpPr>
        <p:spPr>
          <a:xfrm xmlns:a="http://schemas.openxmlformats.org/drawingml/2006/main">
            <a:off x="44005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30AFC2"/>
                </a:solidFill>
                <a:latin typeface="Arimo"/>
                <a:ea typeface="Arimo"/>
                <a:cs typeface="Arimo"/>
              </a:defRPr>
            </a:pPr>
            <a:r>
              <a:rPr sz="2250" b="1" i="0">
                <a:solidFill>
                  <a:srgbClr val="30AFC2"/>
                </a:solidFill>
                <a:latin typeface="Arimo"/>
                <a:ea typeface="Arimo"/>
                <a:cs typeface="Arimo"/>
              </a:rPr>
              <a:t>2</a:t>
            </a:r>
          </a:p>
        </p:txBody>
      </p:sp>
      <p:sp>
        <p:nvSpPr>
          <p:cNvPr id="13" name="">
            <a:extLst xmlns:a="http://schemas.openxmlformats.org/drawingml/2006/main">
              <a:ext uri="{FF2B5EF4-FFF2-40B4-BE49-F238E27FC236}">
                <a16:creationId xmlns:a16="http://schemas.microsoft.com/office/drawing/2014/main" id="{64F1C620-208A-4000-A787-2C83EA7B7117}"/>
              </a:ext>
            </a:extLst>
          </p:cNvPr>
          <p:cNvSpPr>
            <a:spLocks xmlns:a="http://schemas.openxmlformats.org/drawingml/2006/main" noGrp="1"/>
          </p:cNvSpPr>
          <p:nvPr/>
        </p:nvSpPr>
        <p:spPr>
          <a:xfrm xmlns:a="http://schemas.openxmlformats.org/drawingml/2006/main">
            <a:off x="36957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EnergyPlus +</a:t>
            </a:r>
          </a:p>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Modelica</a:t>
            </a:r>
          </a:p>
        </p:txBody>
      </p:sp>
      <p:sp>
        <p:nvSpPr>
          <p:cNvPr id="14" name="">
            <a:extLst xmlns:a="http://schemas.openxmlformats.org/drawingml/2006/main">
              <a:ext uri="{FF2B5EF4-FFF2-40B4-BE49-F238E27FC236}">
                <a16:creationId xmlns:a16="http://schemas.microsoft.com/office/drawing/2014/main" id="{CCD7C2A1-E699-4561-B3F9-4193C2ACEEE4}"/>
              </a:ext>
            </a:extLst>
          </p:cNvPr>
          <p:cNvSpPr>
            <a:spLocks xmlns:a="http://schemas.openxmlformats.org/drawingml/2006/main" noGrp="1"/>
          </p:cNvSpPr>
          <p:nvPr/>
        </p:nvSpPr>
        <p:spPr>
          <a:xfrm xmlns:a="http://schemas.openxmlformats.org/drawingml/2006/main">
            <a:off x="36957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dynamic HVAC</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and buildings</a:t>
            </a:r>
          </a:p>
        </p:txBody>
      </p:sp>
      <p:sp>
        <p:nvSpPr>
          <p:cNvPr id="15" name="">
            <a:extLst xmlns:a="http://schemas.openxmlformats.org/drawingml/2006/main">
              <a:ext uri="{FF2B5EF4-FFF2-40B4-BE49-F238E27FC236}">
                <a16:creationId xmlns:a16="http://schemas.microsoft.com/office/drawing/2014/main" id="{C6584C81-E9ED-4D86-BA9D-DB7E220A5AE1}"/>
              </a:ext>
            </a:extLst>
          </p:cNvPr>
          <p:cNvSpPr>
            <a:spLocks xmlns:a="http://schemas.openxmlformats.org/drawingml/2006/main" noGrp="1"/>
          </p:cNvSpPr>
          <p:nvPr/>
        </p:nvSpPr>
        <p:spPr>
          <a:xfrm xmlns:a="http://schemas.openxmlformats.org/drawingml/2006/main">
            <a:off x="71818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E69B3A"/>
            </a:solidFill>
            <a:prstDash val="solid"/>
          </a:ln>
        </p:spPr>
      </p:sp>
      <p:sp>
        <p:nvSpPr>
          <p:cNvPr id="16" name="">
            <a:extLst xmlns:a="http://schemas.openxmlformats.org/drawingml/2006/main">
              <a:ext uri="{FF2B5EF4-FFF2-40B4-BE49-F238E27FC236}">
                <a16:creationId xmlns:a16="http://schemas.microsoft.com/office/drawing/2014/main" id="{962DF89C-DE51-401B-A334-3020CA03F174}"/>
              </a:ext>
            </a:extLst>
          </p:cNvPr>
          <p:cNvSpPr>
            <a:spLocks xmlns:a="http://schemas.openxmlformats.org/drawingml/2006/main" noGrp="1"/>
          </p:cNvSpPr>
          <p:nvPr/>
        </p:nvSpPr>
        <p:spPr>
          <a:xfrm xmlns:a="http://schemas.openxmlformats.org/drawingml/2006/main">
            <a:off x="71818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3</a:t>
            </a:r>
          </a:p>
        </p:txBody>
      </p:sp>
      <p:sp>
        <p:nvSpPr>
          <p:cNvPr id="17" name="">
            <a:extLst xmlns:a="http://schemas.openxmlformats.org/drawingml/2006/main">
              <a:ext uri="{FF2B5EF4-FFF2-40B4-BE49-F238E27FC236}">
                <a16:creationId xmlns:a16="http://schemas.microsoft.com/office/drawing/2014/main" id="{CA32FE14-6107-4CE2-9B26-D9DA0616C288}"/>
              </a:ext>
            </a:extLst>
          </p:cNvPr>
          <p:cNvSpPr>
            <a:spLocks xmlns:a="http://schemas.openxmlformats.org/drawingml/2006/main" noGrp="1"/>
          </p:cNvSpPr>
          <p:nvPr/>
        </p:nvSpPr>
        <p:spPr>
          <a:xfrm xmlns:a="http://schemas.openxmlformats.org/drawingml/2006/main">
            <a:off x="64770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FMI / FMU</a:t>
            </a:r>
          </a:p>
        </p:txBody>
      </p:sp>
      <p:sp>
        <p:nvSpPr>
          <p:cNvPr id="18" name="">
            <a:extLst xmlns:a="http://schemas.openxmlformats.org/drawingml/2006/main">
              <a:ext uri="{FF2B5EF4-FFF2-40B4-BE49-F238E27FC236}">
                <a16:creationId xmlns:a16="http://schemas.microsoft.com/office/drawing/2014/main" id="{FBC83490-B907-47BD-9021-0C4CD3222764}"/>
              </a:ext>
            </a:extLst>
          </p:cNvPr>
          <p:cNvSpPr>
            <a:spLocks xmlns:a="http://schemas.openxmlformats.org/drawingml/2006/main" noGrp="1"/>
          </p:cNvSpPr>
          <p:nvPr/>
        </p:nvSpPr>
        <p:spPr>
          <a:xfrm xmlns:a="http://schemas.openxmlformats.org/drawingml/2006/main">
            <a:off x="64770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portable model</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interfaces</a:t>
            </a:r>
          </a:p>
        </p:txBody>
      </p:sp>
      <p:sp>
        <p:nvSpPr>
          <p:cNvPr id="19" name="">
            <a:extLst xmlns:a="http://schemas.openxmlformats.org/drawingml/2006/main">
              <a:ext uri="{FF2B5EF4-FFF2-40B4-BE49-F238E27FC236}">
                <a16:creationId xmlns:a16="http://schemas.microsoft.com/office/drawing/2014/main" id="{8147EA25-2459-4A8B-818B-CF903DA3FD3D}"/>
              </a:ext>
            </a:extLst>
          </p:cNvPr>
          <p:cNvSpPr>
            <a:spLocks xmlns:a="http://schemas.openxmlformats.org/drawingml/2006/main" noGrp="1"/>
          </p:cNvSpPr>
          <p:nvPr/>
        </p:nvSpPr>
        <p:spPr>
          <a:xfrm xmlns:a="http://schemas.openxmlformats.org/drawingml/2006/main">
            <a:off x="99631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B85246"/>
            </a:solidFill>
            <a:prstDash val="solid"/>
          </a:ln>
        </p:spPr>
      </p:sp>
      <p:sp>
        <p:nvSpPr>
          <p:cNvPr id="20" name="">
            <a:extLst xmlns:a="http://schemas.openxmlformats.org/drawingml/2006/main">
              <a:ext uri="{FF2B5EF4-FFF2-40B4-BE49-F238E27FC236}">
                <a16:creationId xmlns:a16="http://schemas.microsoft.com/office/drawing/2014/main" id="{7F37E9E6-871B-482B-A858-7397D45ED30F}"/>
              </a:ext>
            </a:extLst>
          </p:cNvPr>
          <p:cNvSpPr>
            <a:spLocks xmlns:a="http://schemas.openxmlformats.org/drawingml/2006/main" noGrp="1"/>
          </p:cNvSpPr>
          <p:nvPr/>
        </p:nvSpPr>
        <p:spPr>
          <a:xfrm xmlns:a="http://schemas.openxmlformats.org/drawingml/2006/main">
            <a:off x="99631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B85246"/>
                </a:solidFill>
                <a:latin typeface="Arimo"/>
                <a:ea typeface="Arimo"/>
                <a:cs typeface="Arimo"/>
              </a:defRPr>
            </a:pPr>
            <a:r>
              <a:rPr sz="2250" b="1" i="0">
                <a:solidFill>
                  <a:srgbClr val="B85246"/>
                </a:solidFill>
                <a:latin typeface="Arimo"/>
                <a:ea typeface="Arimo"/>
                <a:cs typeface="Arimo"/>
              </a:rPr>
              <a:t>4</a:t>
            </a:r>
          </a:p>
        </p:txBody>
      </p:sp>
      <p:sp>
        <p:nvSpPr>
          <p:cNvPr id="21" name="">
            <a:extLst xmlns:a="http://schemas.openxmlformats.org/drawingml/2006/main">
              <a:ext uri="{FF2B5EF4-FFF2-40B4-BE49-F238E27FC236}">
                <a16:creationId xmlns:a16="http://schemas.microsoft.com/office/drawing/2014/main" id="{26608995-656A-403C-9740-D8DEEB8FD45B}"/>
              </a:ext>
            </a:extLst>
          </p:cNvPr>
          <p:cNvSpPr>
            <a:spLocks xmlns:a="http://schemas.openxmlformats.org/drawingml/2006/main" noGrp="1"/>
          </p:cNvSpPr>
          <p:nvPr/>
        </p:nvSpPr>
        <p:spPr>
          <a:xfrm xmlns:a="http://schemas.openxmlformats.org/drawingml/2006/main">
            <a:off x="92583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ASHRAE 140</a:t>
            </a:r>
          </a:p>
        </p:txBody>
      </p:sp>
      <p:sp>
        <p:nvSpPr>
          <p:cNvPr id="22" name="">
            <a:extLst xmlns:a="http://schemas.openxmlformats.org/drawingml/2006/main">
              <a:ext uri="{FF2B5EF4-FFF2-40B4-BE49-F238E27FC236}">
                <a16:creationId xmlns:a16="http://schemas.microsoft.com/office/drawing/2014/main" id="{2659B412-BA8A-4847-8D87-ACE58BD41D1B}"/>
              </a:ext>
            </a:extLst>
          </p:cNvPr>
          <p:cNvSpPr>
            <a:spLocks xmlns:a="http://schemas.openxmlformats.org/drawingml/2006/main" noGrp="1"/>
          </p:cNvSpPr>
          <p:nvPr/>
        </p:nvSpPr>
        <p:spPr>
          <a:xfrm xmlns:a="http://schemas.openxmlformats.org/drawingml/2006/main">
            <a:off x="92583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systematic model</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testing</a:t>
            </a:r>
          </a:p>
        </p:txBody>
      </p:sp>
      <p:sp>
        <p:nvSpPr>
          <p:cNvPr id="23" name="">
            <a:extLst xmlns:a="http://schemas.openxmlformats.org/drawingml/2006/main">
              <a:ext uri="{FF2B5EF4-FFF2-40B4-BE49-F238E27FC236}">
                <a16:creationId xmlns:a16="http://schemas.microsoft.com/office/drawing/2014/main" id="{D2F3F344-C5D4-4581-8E1D-FB0C48481A50}"/>
              </a:ext>
            </a:extLst>
          </p:cNvPr>
          <p:cNvSpPr>
            <a:spLocks xmlns:a="http://schemas.openxmlformats.org/drawingml/2006/main" noGrp="1"/>
          </p:cNvSpPr>
          <p:nvPr/>
        </p:nvSpPr>
        <p:spPr>
          <a:xfrm xmlns:a="http://schemas.openxmlformats.org/drawingml/2006/main">
            <a:off x="1285875" y="5543550"/>
            <a:ext cx="962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650" b="1" i="0">
                <a:solidFill>
                  <a:srgbClr val="5E7068"/>
                </a:solidFill>
                <a:latin typeface="Arimo"/>
                <a:ea typeface="Arimo"/>
                <a:cs typeface="Arimo"/>
              </a:defRPr>
            </a:pPr>
            <a:r>
              <a:rPr sz="1650" b="1" i="0">
                <a:solidFill>
                  <a:srgbClr val="5E7068"/>
                </a:solidFill>
                <a:latin typeface="Arimo"/>
                <a:ea typeface="Arimo"/>
                <a:cs typeface="Arimo"/>
              </a:rPr>
              <a:t>These references support the engineering pattern. They do not certify the present app or remove RainForest-specific calibration.</a:t>
            </a:r>
          </a:p>
        </p:txBody>
      </p:sp>
    </p:spTree>
    <p:extLst>
      <p:ext uri="{BB962C8B-B14F-4D97-AF65-F5344CB8AC3E}">
        <p14:creationId xmlns:p14="http://schemas.microsoft.com/office/powerpoint/2010/main" val="8438645"/>
      </p:ext>
    </p:extLst>
  </p:cSld>
</p:sld>
</file>

<file path=ppt/slides/slide1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7E75A4E-740A-47F1-B42B-5431896F68C1}"/>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D02EF73-05CE-457F-B9EC-4DCC584FCB15}"/>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Student learning through simulation</a:t>
            </a:r>
          </a:p>
        </p:txBody>
      </p:sp>
      <p:sp>
        <p:nvSpPr>
          <p:cNvPr id="3" name="">
            <a:extLst xmlns:a="http://schemas.openxmlformats.org/drawingml/2006/main">
              <a:ext uri="{FF2B5EF4-FFF2-40B4-BE49-F238E27FC236}">
                <a16:creationId xmlns:a16="http://schemas.microsoft.com/office/drawing/2014/main" id="{8C206F8E-3BCE-479B-B112-7CE5A211A9C7}"/>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Students test their projects and use the results to refine their designs</a:t>
            </a:r>
          </a:p>
        </p:txBody>
      </p:sp>
      <p:sp>
        <p:nvSpPr>
          <p:cNvPr id="4" name="">
            <a:extLst xmlns:a="http://schemas.openxmlformats.org/drawingml/2006/main">
              <a:ext uri="{FF2B5EF4-FFF2-40B4-BE49-F238E27FC236}">
                <a16:creationId xmlns:a16="http://schemas.microsoft.com/office/drawing/2014/main" id="{4A3E603F-71D1-46DF-A95B-24595C13D637}"/>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5B7D089F-F9C2-4274-8FD0-AF6E51F9870A}"/>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13</a:t>
            </a:r>
          </a:p>
        </p:txBody>
      </p:sp>
      <p:sp>
        <p:nvSpPr>
          <p:cNvPr id="6" name="">
            <a:extLst xmlns:a="http://schemas.openxmlformats.org/drawingml/2006/main">
              <a:ext uri="{FF2B5EF4-FFF2-40B4-BE49-F238E27FC236}">
                <a16:creationId xmlns:a16="http://schemas.microsoft.com/office/drawing/2014/main" id="{927BAB96-0B6B-4C34-8738-E24F484F1528}"/>
              </a:ext>
            </a:extLst>
          </p:cNvPr>
          <p:cNvSpPr>
            <a:spLocks xmlns:a="http://schemas.openxmlformats.org/drawingml/2006/main" noGrp="1"/>
          </p:cNvSpPr>
          <p:nvPr/>
        </p:nvSpPr>
        <p:spPr>
          <a:xfrm xmlns:a="http://schemas.openxmlformats.org/drawingml/2006/main">
            <a:off x="666750" y="2047875"/>
            <a:ext cx="2095500" cy="952500"/>
          </a:xfrm>
          <a:prstGeom xmlns:a="http://schemas.openxmlformats.org/drawingml/2006/main" prst="roundRect">
            <a:avLst>
              <a:gd name="adj" fmla="val 16000"/>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Student</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project</a:t>
            </a:r>
          </a:p>
        </p:txBody>
      </p:sp>
      <p:sp>
        <p:nvSpPr>
          <p:cNvPr id="7" name="">
            <a:extLst xmlns:a="http://schemas.openxmlformats.org/drawingml/2006/main">
              <a:ext uri="{FF2B5EF4-FFF2-40B4-BE49-F238E27FC236}">
                <a16:creationId xmlns:a16="http://schemas.microsoft.com/office/drawing/2014/main" id="{EC4EA11D-99DF-4883-B553-A93FF731200B}"/>
              </a:ext>
            </a:extLst>
          </p:cNvPr>
          <p:cNvSpPr>
            <a:spLocks xmlns:a="http://schemas.openxmlformats.org/drawingml/2006/main" noGrp="1"/>
          </p:cNvSpPr>
          <p:nvPr/>
        </p:nvSpPr>
        <p:spPr>
          <a:xfrm xmlns:a="http://schemas.openxmlformats.org/drawingml/2006/main">
            <a:off x="3381375" y="2047875"/>
            <a:ext cx="2286000" cy="952500"/>
          </a:xfrm>
          <a:prstGeom xmlns:a="http://schemas.openxmlformats.org/drawingml/2006/main" prst="roundRect">
            <a:avLst>
              <a:gd name="adj" fmla="val 16000"/>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Scenario</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testing</a:t>
            </a:r>
          </a:p>
        </p:txBody>
      </p:sp>
      <p:sp>
        <p:nvSpPr>
          <p:cNvPr id="8" name="">
            <a:extLst xmlns:a="http://schemas.openxmlformats.org/drawingml/2006/main">
              <a:ext uri="{FF2B5EF4-FFF2-40B4-BE49-F238E27FC236}">
                <a16:creationId xmlns:a16="http://schemas.microsoft.com/office/drawing/2014/main" id="{4BC1B14E-6C61-45D2-8B2C-A850A99FC53A}"/>
              </a:ext>
            </a:extLst>
          </p:cNvPr>
          <p:cNvSpPr>
            <a:spLocks xmlns:a="http://schemas.openxmlformats.org/drawingml/2006/main" noGrp="1"/>
          </p:cNvSpPr>
          <p:nvPr/>
        </p:nvSpPr>
        <p:spPr>
          <a:xfrm xmlns:a="http://schemas.openxmlformats.org/drawingml/2006/main">
            <a:off x="6334125" y="2047875"/>
            <a:ext cx="2095500" cy="952500"/>
          </a:xfrm>
          <a:prstGeom xmlns:a="http://schemas.openxmlformats.org/drawingml/2006/main" prst="roundRect">
            <a:avLst>
              <a:gd name="adj" fmla="val 16000"/>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Result</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interpretation</a:t>
            </a:r>
          </a:p>
        </p:txBody>
      </p:sp>
      <p:sp>
        <p:nvSpPr>
          <p:cNvPr id="9" name="">
            <a:extLst xmlns:a="http://schemas.openxmlformats.org/drawingml/2006/main">
              <a:ext uri="{FF2B5EF4-FFF2-40B4-BE49-F238E27FC236}">
                <a16:creationId xmlns:a16="http://schemas.microsoft.com/office/drawing/2014/main" id="{3D5A2503-49DB-402B-B498-82E8B01B8EB6}"/>
              </a:ext>
            </a:extLst>
          </p:cNvPr>
          <p:cNvSpPr>
            <a:spLocks xmlns:a="http://schemas.openxmlformats.org/drawingml/2006/main" noGrp="1"/>
          </p:cNvSpPr>
          <p:nvPr/>
        </p:nvSpPr>
        <p:spPr>
          <a:xfrm xmlns:a="http://schemas.openxmlformats.org/drawingml/2006/main">
            <a:off x="9096375" y="2047875"/>
            <a:ext cx="2095500" cy="952500"/>
          </a:xfrm>
          <a:prstGeom xmlns:a="http://schemas.openxmlformats.org/drawingml/2006/main" prst="roundRect">
            <a:avLst>
              <a:gd name="adj" fmla="val 16000"/>
            </a:avLst>
          </a:prstGeom>
          <a:solidFill xmlns:a="http://schemas.openxmlformats.org/drawingml/2006/main">
            <a:srgbClr val="EFE8F3"/>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Refined</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project</a:t>
            </a:r>
          </a:p>
        </p:txBody>
      </p: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a:off x="2762250" y="2524125"/>
            <a:ext cx="619125"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9" name=""/>
          <p:cNvCxnSpPr>
            <a:stCxn xmlns:a="http://schemas.openxmlformats.org/drawingml/2006/main" id="7" idx="3"/>
            <a:endCxn xmlns:a="http://schemas.openxmlformats.org/drawingml/2006/main" id="8" idx="1"/>
          </p:cNvCxnSpPr>
          <p:nvPr/>
        </p:nvCxnSpPr>
        <p:spPr>
          <a:xfrm xmlns:a="http://schemas.openxmlformats.org/drawingml/2006/main">
            <a:off x="5667375" y="2524125"/>
            <a:ext cx="66675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30" name=""/>
          <p:cNvCxnSpPr>
            <a:stCxn xmlns:a="http://schemas.openxmlformats.org/drawingml/2006/main" id="8" idx="3"/>
            <a:endCxn xmlns:a="http://schemas.openxmlformats.org/drawingml/2006/main" id="9" idx="1"/>
          </p:cNvCxnSpPr>
          <p:nvPr/>
        </p:nvCxnSpPr>
        <p:spPr>
          <a:xfrm xmlns:a="http://schemas.openxmlformats.org/drawingml/2006/main">
            <a:off x="8429625" y="2524125"/>
            <a:ext cx="66675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sp>
        <p:nvSpPr>
          <p:cNvPr id="13" name="">
            <a:extLst xmlns:a="http://schemas.openxmlformats.org/drawingml/2006/main">
              <a:ext uri="{FF2B5EF4-FFF2-40B4-BE49-F238E27FC236}">
                <a16:creationId xmlns:a16="http://schemas.microsoft.com/office/drawing/2014/main" id="{D6F23351-D38B-49CB-B641-561C7B3AC629}"/>
              </a:ext>
            </a:extLst>
          </p:cNvPr>
          <p:cNvSpPr>
            <a:spLocks xmlns:a="http://schemas.openxmlformats.org/drawingml/2006/main" noGrp="1"/>
          </p:cNvSpPr>
          <p:nvPr/>
        </p:nvSpPr>
        <p:spPr>
          <a:xfrm xmlns:a="http://schemas.openxmlformats.org/drawingml/2006/main">
            <a:off x="1238250" y="39338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C3F6FB0-96F4-4AC2-8028-340390B52857}"/>
              </a:ext>
            </a:extLst>
          </p:cNvPr>
          <p:cNvSpPr>
            <a:spLocks xmlns:a="http://schemas.openxmlformats.org/drawingml/2006/main" noGrp="1"/>
          </p:cNvSpPr>
          <p:nvPr/>
        </p:nvSpPr>
        <p:spPr>
          <a:xfrm xmlns:a="http://schemas.openxmlformats.org/drawingml/2006/main">
            <a:off x="1485900" y="3857625"/>
            <a:ext cx="946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Practice experimental design and interpret model uncertainty</a:t>
            </a:r>
          </a:p>
        </p:txBody>
      </p:sp>
      <p:sp>
        <p:nvSpPr>
          <p:cNvPr id="15" name="">
            <a:extLst xmlns:a="http://schemas.openxmlformats.org/drawingml/2006/main">
              <a:ext uri="{FF2B5EF4-FFF2-40B4-BE49-F238E27FC236}">
                <a16:creationId xmlns:a16="http://schemas.microsoft.com/office/drawing/2014/main" id="{CC139379-D7C1-41E5-BB6F-9F77376E02E7}"/>
              </a:ext>
            </a:extLst>
          </p:cNvPr>
          <p:cNvSpPr>
            <a:spLocks xmlns:a="http://schemas.openxmlformats.org/drawingml/2006/main" noGrp="1"/>
          </p:cNvSpPr>
          <p:nvPr/>
        </p:nvSpPr>
        <p:spPr>
          <a:xfrm xmlns:a="http://schemas.openxmlformats.org/drawingml/2006/main">
            <a:off x="1238250" y="46005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0E301121-B217-42F3-AA64-0A2B79B59567}"/>
              </a:ext>
            </a:extLst>
          </p:cNvPr>
          <p:cNvSpPr>
            <a:spLocks xmlns:a="http://schemas.openxmlformats.org/drawingml/2006/main" noGrp="1"/>
          </p:cNvSpPr>
          <p:nvPr/>
        </p:nvSpPr>
        <p:spPr>
          <a:xfrm xmlns:a="http://schemas.openxmlformats.org/drawingml/2006/main">
            <a:off x="1485900" y="4524375"/>
            <a:ext cx="946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Use faculty feedback and versioned runs to improve project designs</a:t>
            </a:r>
          </a:p>
        </p:txBody>
      </p:sp>
      <p:sp>
        <p:nvSpPr>
          <p:cNvPr id="17" name="">
            <a:extLst xmlns:a="http://schemas.openxmlformats.org/drawingml/2006/main">
              <a:ext uri="{FF2B5EF4-FFF2-40B4-BE49-F238E27FC236}">
                <a16:creationId xmlns:a16="http://schemas.microsoft.com/office/drawing/2014/main" id="{8C678D82-E1EF-4801-8F3D-045CAF75D05F}"/>
              </a:ext>
            </a:extLst>
          </p:cNvPr>
          <p:cNvSpPr>
            <a:spLocks xmlns:a="http://schemas.openxmlformats.org/drawingml/2006/main" noGrp="1"/>
          </p:cNvSpPr>
          <p:nvPr/>
        </p:nvSpPr>
        <p:spPr>
          <a:xfrm xmlns:a="http://schemas.openxmlformats.org/drawingml/2006/main">
            <a:off x="1238250" y="52673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6C9C877-D030-44A4-844A-7F110C38E89C}"/>
              </a:ext>
            </a:extLst>
          </p:cNvPr>
          <p:cNvSpPr>
            <a:spLocks xmlns:a="http://schemas.openxmlformats.org/drawingml/2006/main" noGrp="1"/>
          </p:cNvSpPr>
          <p:nvPr/>
        </p:nvSpPr>
        <p:spPr>
          <a:xfrm xmlns:a="http://schemas.openxmlformats.org/drawingml/2006/main">
            <a:off x="1485900" y="5191125"/>
            <a:ext cx="946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Explore PID, MPC, RL, and other methods in an offline learning environment</a:t>
            </a:r>
          </a:p>
        </p:txBody>
      </p:sp>
    </p:spTree>
    <p:extLst>
      <p:ext uri="{BB962C8B-B14F-4D97-AF65-F5344CB8AC3E}">
        <p14:creationId xmlns:p14="http://schemas.microsoft.com/office/powerpoint/2010/main" val="1876462482"/>
      </p:ext>
    </p:extLst>
  </p:cSld>
</p:sld>
</file>

<file path=ppt/slides/slide1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09C01CC-ECC7-442E-AF6D-5E438EC507DF}"/>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75A6A94-63E2-46A1-AC7A-32EAED84186A}"/>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Operational and economic value</a:t>
            </a:r>
          </a:p>
        </p:txBody>
      </p:sp>
      <p:sp>
        <p:nvSpPr>
          <p:cNvPr id="3" name="">
            <a:extLst xmlns:a="http://schemas.openxmlformats.org/drawingml/2006/main">
              <a:ext uri="{FF2B5EF4-FFF2-40B4-BE49-F238E27FC236}">
                <a16:creationId xmlns:a16="http://schemas.microsoft.com/office/drawing/2014/main" id="{F3766441-D06E-4BC1-A36A-8B4BCAA54E49}"/>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Scenario comparisons support climate and energy research</a:t>
            </a:r>
          </a:p>
        </p:txBody>
      </p:sp>
      <p:sp>
        <p:nvSpPr>
          <p:cNvPr id="4" name="">
            <a:extLst xmlns:a="http://schemas.openxmlformats.org/drawingml/2006/main">
              <a:ext uri="{FF2B5EF4-FFF2-40B4-BE49-F238E27FC236}">
                <a16:creationId xmlns:a16="http://schemas.microsoft.com/office/drawing/2014/main" id="{8767BECD-4570-414E-922F-E3217A84F124}"/>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77B778CD-B5CA-44C0-91EE-67A89D642F80}"/>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14</a:t>
            </a:r>
          </a:p>
        </p:txBody>
      </p:sp>
      <p:sp>
        <p:nvSpPr>
          <p:cNvPr id="6" name="">
            <a:extLst xmlns:a="http://schemas.openxmlformats.org/drawingml/2006/main">
              <a:ext uri="{FF2B5EF4-FFF2-40B4-BE49-F238E27FC236}">
                <a16:creationId xmlns:a16="http://schemas.microsoft.com/office/drawing/2014/main" id="{9DA63770-531B-4322-8519-D1A44EABCCDB}"/>
              </a:ext>
            </a:extLst>
          </p:cNvPr>
          <p:cNvSpPr>
            <a:spLocks xmlns:a="http://schemas.openxmlformats.org/drawingml/2006/main" noGrp="1"/>
          </p:cNvSpPr>
          <p:nvPr/>
        </p:nvSpPr>
        <p:spPr>
          <a:xfrm xmlns:a="http://schemas.openxmlformats.org/drawingml/2006/main">
            <a:off x="914400" y="1619250"/>
            <a:ext cx="10363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3225" b="1" i="0">
                <a:solidFill>
                  <a:srgbClr val="167A55"/>
                </a:solidFill>
                <a:latin typeface="Arimo"/>
                <a:ea typeface="Arimo"/>
                <a:cs typeface="Arimo"/>
              </a:defRPr>
            </a:pPr>
            <a:r>
              <a:rPr sz="3225" b="1" i="0">
                <a:solidFill>
                  <a:srgbClr val="167A55"/>
                </a:solidFill>
                <a:latin typeface="Arimo"/>
                <a:ea typeface="Arimo"/>
                <a:cs typeface="Arimo"/>
              </a:rPr>
              <a:t>Energy-cost-saving potential</a:t>
            </a:r>
          </a:p>
        </p:txBody>
      </p:sp>
      <p:sp>
        <p:nvSpPr>
          <p:cNvPr id="7" name="">
            <a:extLst xmlns:a="http://schemas.openxmlformats.org/drawingml/2006/main">
              <a:ext uri="{FF2B5EF4-FFF2-40B4-BE49-F238E27FC236}">
                <a16:creationId xmlns:a16="http://schemas.microsoft.com/office/drawing/2014/main" id="{3CDF1747-FF5F-4AC7-A565-67FAF693611A}"/>
              </a:ext>
            </a:extLst>
          </p:cNvPr>
          <p:cNvSpPr>
            <a:spLocks xmlns:a="http://schemas.openxmlformats.org/drawingml/2006/main" noGrp="1"/>
          </p:cNvSpPr>
          <p:nvPr/>
        </p:nvSpPr>
        <p:spPr>
          <a:xfrm xmlns:a="http://schemas.openxmlformats.org/drawingml/2006/main">
            <a:off x="2076450" y="2209800"/>
            <a:ext cx="8039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650" b="0" i="0">
                <a:solidFill>
                  <a:srgbClr val="5E7068"/>
                </a:solidFill>
                <a:latin typeface="Arimo"/>
                <a:ea typeface="Arimo"/>
                <a:cs typeface="Arimo"/>
              </a:defRPr>
            </a:pPr>
            <a:r>
              <a:rPr sz="1650" b="0" i="0">
                <a:solidFill>
                  <a:srgbClr val="5E7068"/>
                </a:solidFill>
                <a:latin typeface="Arimo"/>
                <a:ea typeface="Arimo"/>
                <a:cs typeface="Arimo"/>
              </a:rPr>
              <a:t>requires calibrated evidence before a percentage or dollar claim</a:t>
            </a:r>
          </a:p>
        </p:txBody>
      </p:sp>
      <p:sp>
        <p:nvSpPr>
          <p:cNvPr id="8" name="">
            <a:extLst xmlns:a="http://schemas.openxmlformats.org/drawingml/2006/main">
              <a:ext uri="{FF2B5EF4-FFF2-40B4-BE49-F238E27FC236}">
                <a16:creationId xmlns:a16="http://schemas.microsoft.com/office/drawing/2014/main" id="{CF21D627-27E5-4C72-9AE3-0ED952F8DEE9}"/>
              </a:ext>
            </a:extLst>
          </p:cNvPr>
          <p:cNvSpPr>
            <a:spLocks xmlns:a="http://schemas.openxmlformats.org/drawingml/2006/main" noGrp="1"/>
          </p:cNvSpPr>
          <p:nvPr/>
        </p:nvSpPr>
        <p:spPr>
          <a:xfrm xmlns:a="http://schemas.openxmlformats.org/drawingml/2006/main">
            <a:off x="1047750" y="3143250"/>
            <a:ext cx="2667000" cy="1200150"/>
          </a:xfrm>
          <a:prstGeom xmlns:a="http://schemas.openxmlformats.org/drawingml/2006/main" prst="roundRect">
            <a:avLst>
              <a:gd name="adj" fmla="val 12698"/>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96657"/>
          </a:bodyPr>
          <a:lstStyle xmlns:a="http://schemas.openxmlformats.org/drawingml/2006/main"/>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Protect required</a:t>
            </a:r>
          </a:p>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climate conditions</a:t>
            </a:r>
          </a:p>
        </p:txBody>
      </p:sp>
      <p:sp>
        <p:nvSpPr>
          <p:cNvPr id="9" name="">
            <a:extLst xmlns:a="http://schemas.openxmlformats.org/drawingml/2006/main">
              <a:ext uri="{FF2B5EF4-FFF2-40B4-BE49-F238E27FC236}">
                <a16:creationId xmlns:a16="http://schemas.microsoft.com/office/drawing/2014/main" id="{6ECD23E8-56CE-4082-A3DC-5AE2D9C295F0}"/>
              </a:ext>
            </a:extLst>
          </p:cNvPr>
          <p:cNvSpPr>
            <a:spLocks xmlns:a="http://schemas.openxmlformats.org/drawingml/2006/main" noGrp="1"/>
          </p:cNvSpPr>
          <p:nvPr/>
        </p:nvSpPr>
        <p:spPr>
          <a:xfrm xmlns:a="http://schemas.openxmlformats.org/drawingml/2006/main">
            <a:off x="4762500" y="3143250"/>
            <a:ext cx="2667000" cy="1200150"/>
          </a:xfrm>
          <a:prstGeom xmlns:a="http://schemas.openxmlformats.org/drawingml/2006/main" prst="roundRect">
            <a:avLst>
              <a:gd name="adj" fmla="val 12698"/>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94084"/>
          </a:bodyPr>
          <a:lstStyle xmlns:a="http://schemas.openxmlformats.org/drawingml/2006/main"/>
          <a:p xmlns:a="http://schemas.openxmlformats.org/drawingml/2006/main">
            <a:pPr algn="ctr">
              <a:lnSpc>
                <a:spcPct val="100000"/>
              </a:lnSpc>
              <a:buNone/>
              <a:defRPr sz="2100" b="1">
                <a:solidFill>
                  <a:srgbClr val="FFFFFF"/>
                </a:solidFill>
                <a:latin typeface="Arimo"/>
                <a:ea typeface="Arimo"/>
                <a:cs typeface="Arimo"/>
              </a:defRPr>
            </a:pPr>
            <a:r>
              <a:rPr sz="2100" b="1">
                <a:solidFill>
                  <a:srgbClr val="FFFFFF"/>
                </a:solidFill>
                <a:latin typeface="Arimo"/>
                <a:ea typeface="Arimo"/>
                <a:cs typeface="Arimo"/>
              </a:rPr>
              <a:t>Compare strategies</a:t>
            </a:r>
          </a:p>
          <a:p xmlns:a="http://schemas.openxmlformats.org/drawingml/2006/main">
            <a:pPr algn="ctr">
              <a:lnSpc>
                <a:spcPct val="100000"/>
              </a:lnSpc>
              <a:buNone/>
              <a:defRPr sz="2100" b="1">
                <a:solidFill>
                  <a:srgbClr val="FFFFFF"/>
                </a:solidFill>
                <a:latin typeface="Arimo"/>
                <a:ea typeface="Arimo"/>
                <a:cs typeface="Arimo"/>
              </a:defRPr>
            </a:pPr>
            <a:r>
              <a:rPr sz="2100" b="1">
                <a:solidFill>
                  <a:srgbClr val="FFFFFF"/>
                </a:solidFill>
                <a:latin typeface="Arimo"/>
                <a:ea typeface="Arimo"/>
                <a:cs typeface="Arimo"/>
              </a:rPr>
              <a:t>under the same scenario</a:t>
            </a:r>
          </a:p>
        </p:txBody>
      </p:sp>
      <p:sp>
        <p:nvSpPr>
          <p:cNvPr id="10" name="">
            <a:extLst xmlns:a="http://schemas.openxmlformats.org/drawingml/2006/main">
              <a:ext uri="{FF2B5EF4-FFF2-40B4-BE49-F238E27FC236}">
                <a16:creationId xmlns:a16="http://schemas.microsoft.com/office/drawing/2014/main" id="{A3748AA8-B224-460A-AE4F-6C4DF5D763A5}"/>
              </a:ext>
            </a:extLst>
          </p:cNvPr>
          <p:cNvSpPr>
            <a:spLocks xmlns:a="http://schemas.openxmlformats.org/drawingml/2006/main" noGrp="1"/>
          </p:cNvSpPr>
          <p:nvPr/>
        </p:nvSpPr>
        <p:spPr>
          <a:xfrm xmlns:a="http://schemas.openxmlformats.org/drawingml/2006/main">
            <a:off x="8477250" y="3143250"/>
            <a:ext cx="2667000" cy="1200150"/>
          </a:xfrm>
          <a:prstGeom xmlns:a="http://schemas.openxmlformats.org/drawingml/2006/main" prst="roundRect">
            <a:avLst>
              <a:gd name="adj" fmla="val 12698"/>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6387"/>
          </a:bodyPr>
          <a:lstStyle xmlns:a="http://schemas.openxmlformats.org/drawingml/2006/main"/>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Explore energy</a:t>
            </a:r>
          </a:p>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and equipment use</a:t>
            </a:r>
          </a:p>
        </p:txBody>
      </p:sp>
      <p:cxnSp>
        <p:nvCxnSpPr>
          <p:cNvPr id="24" name=""/>
          <p:cNvCxnSpPr>
            <a:stCxn xmlns:a="http://schemas.openxmlformats.org/drawingml/2006/main" id="8" idx="3"/>
            <a:endCxn xmlns:a="http://schemas.openxmlformats.org/drawingml/2006/main" id="9" idx="1"/>
          </p:cNvCxnSpPr>
          <p:nvPr/>
        </p:nvCxnSpPr>
        <p:spPr>
          <a:xfrm xmlns:a="http://schemas.openxmlformats.org/drawingml/2006/main">
            <a:off x="3714750" y="3743325"/>
            <a:ext cx="104775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5" name=""/>
          <p:cNvCxnSpPr>
            <a:stCxn xmlns:a="http://schemas.openxmlformats.org/drawingml/2006/main" id="9" idx="3"/>
            <a:endCxn xmlns:a="http://schemas.openxmlformats.org/drawingml/2006/main" id="10" idx="1"/>
          </p:cNvCxnSpPr>
          <p:nvPr/>
        </p:nvCxnSpPr>
        <p:spPr>
          <a:xfrm xmlns:a="http://schemas.openxmlformats.org/drawingml/2006/main">
            <a:off x="7429500" y="3743325"/>
            <a:ext cx="1047750" cy="0"/>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sp>
        <p:nvSpPr>
          <p:cNvPr id="13" name="">
            <a:extLst xmlns:a="http://schemas.openxmlformats.org/drawingml/2006/main">
              <a:ext uri="{FF2B5EF4-FFF2-40B4-BE49-F238E27FC236}">
                <a16:creationId xmlns:a16="http://schemas.microsoft.com/office/drawing/2014/main" id="{B46AEE64-7D25-4E15-9C5B-8566EF09F011}"/>
              </a:ext>
            </a:extLst>
          </p:cNvPr>
          <p:cNvSpPr>
            <a:spLocks xmlns:a="http://schemas.openxmlformats.org/drawingml/2006/main" noGrp="1"/>
          </p:cNvSpPr>
          <p:nvPr/>
        </p:nvSpPr>
        <p:spPr>
          <a:xfrm xmlns:a="http://schemas.openxmlformats.org/drawingml/2006/main">
            <a:off x="1476375" y="5238750"/>
            <a:ext cx="9239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293"/>
          </a:bodyPr>
          <a:lstStyle xmlns:a="http://schemas.openxmlformats.org/drawingml/2006/main"/>
          <a:p xmlns:a="http://schemas.openxmlformats.org/drawingml/2006/main">
            <a:pPr algn="ctr">
              <a:lnSpc>
                <a:spcPct val="104000"/>
              </a:lnSpc>
              <a:buNone/>
              <a:defRPr sz="1725" b="1" i="0">
                <a:solidFill>
                  <a:srgbClr val="10251D"/>
                </a:solidFill>
                <a:latin typeface="Arimo"/>
                <a:ea typeface="Arimo"/>
                <a:cs typeface="Arimo"/>
              </a:defRPr>
            </a:pPr>
            <a:r>
              <a:rPr sz="1725" b="1" i="0">
                <a:solidFill>
                  <a:srgbClr val="10251D"/>
                </a:solidFill>
                <a:latin typeface="Arimo"/>
                <a:ea typeface="Arimo"/>
                <a:cs typeface="Arimo"/>
              </a:rPr>
              <a:t>Operational planning  /  focused field trials  /  grant evidence  /  reusable research benchmarks</a:t>
            </a:r>
          </a:p>
        </p:txBody>
      </p:sp>
    </p:spTree>
    <p:extLst>
      <p:ext uri="{BB962C8B-B14F-4D97-AF65-F5344CB8AC3E}">
        <p14:creationId xmlns:p14="http://schemas.microsoft.com/office/powerpoint/2010/main" val="202834630"/>
      </p:ext>
    </p:extLst>
  </p:cSld>
</p:sld>
</file>

<file path=ppt/slides/slide15.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E43557F-DA2C-48CA-8EEC-9C3A4F5B2B55}"/>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6A6DBE9-1877-4840-90B6-B9AC616F20B4}"/>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Sixteen-week Proof of Concept</a:t>
            </a:r>
          </a:p>
        </p:txBody>
      </p:sp>
      <p:sp>
        <p:nvSpPr>
          <p:cNvPr id="3" name="">
            <a:extLst xmlns:a="http://schemas.openxmlformats.org/drawingml/2006/main">
              <a:ext uri="{FF2B5EF4-FFF2-40B4-BE49-F238E27FC236}">
                <a16:creationId xmlns:a16="http://schemas.microsoft.com/office/drawing/2014/main" id="{8114BC1D-2866-4F05-8A7F-640EDFC39569}"/>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PoC ends with an evidence-based decision on Phase 2</a:t>
            </a:r>
          </a:p>
        </p:txBody>
      </p:sp>
      <p:sp>
        <p:nvSpPr>
          <p:cNvPr id="4" name="">
            <a:extLst xmlns:a="http://schemas.openxmlformats.org/drawingml/2006/main">
              <a:ext uri="{FF2B5EF4-FFF2-40B4-BE49-F238E27FC236}">
                <a16:creationId xmlns:a16="http://schemas.microsoft.com/office/drawing/2014/main" id="{587165B7-0259-47EE-9E2C-D4F195A18922}"/>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E63733D9-3B5D-4B2A-BC93-DBB0F4DE09C7}"/>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15</a:t>
            </a:r>
          </a:p>
        </p:txBody>
      </p:sp>
      <p:sp>
        <p:nvSpPr>
          <p:cNvPr id="6" name="">
            <a:extLst xmlns:a="http://schemas.openxmlformats.org/drawingml/2006/main">
              <a:ext uri="{FF2B5EF4-FFF2-40B4-BE49-F238E27FC236}">
                <a16:creationId xmlns:a16="http://schemas.microsoft.com/office/drawing/2014/main" id="{22D17706-8149-4331-8516-CEF2402A5833}"/>
              </a:ext>
            </a:extLst>
          </p:cNvPr>
          <p:cNvSpPr>
            <a:spLocks xmlns:a="http://schemas.openxmlformats.org/drawingml/2006/main" noGrp="1"/>
          </p:cNvSpPr>
          <p:nvPr/>
        </p:nvSpPr>
        <p:spPr>
          <a:xfrm xmlns:a="http://schemas.openxmlformats.org/drawingml/2006/main">
            <a:off x="1257300" y="2838450"/>
            <a:ext cx="9620250" cy="0"/>
          </a:xfrm>
          <a:prstGeom xmlns:a="http://schemas.openxmlformats.org/drawingml/2006/main" prst="line">
            <a:avLst/>
          </a:prstGeom>
          <a:noFill xmlns:a="http://schemas.openxmlformats.org/drawingml/2006/main"/>
          <a:ln xmlns:a="http://schemas.openxmlformats.org/drawingml/2006/main" w="57150">
            <a:solidFill>
              <a:srgbClr val="C9D9CF"/>
            </a:solidFill>
            <a:prstDash val="solid"/>
          </a:ln>
        </p:spPr>
      </p:sp>
      <p:sp>
        <p:nvSpPr>
          <p:cNvPr id="7" name="">
            <a:extLst xmlns:a="http://schemas.openxmlformats.org/drawingml/2006/main">
              <a:ext uri="{FF2B5EF4-FFF2-40B4-BE49-F238E27FC236}">
                <a16:creationId xmlns:a16="http://schemas.microsoft.com/office/drawing/2014/main" id="{6D47EA7E-C118-4C46-AAB6-026477569022}"/>
              </a:ext>
            </a:extLst>
          </p:cNvPr>
          <p:cNvSpPr>
            <a:spLocks xmlns:a="http://schemas.openxmlformats.org/drawingml/2006/main" noGrp="1"/>
          </p:cNvSpPr>
          <p:nvPr/>
        </p:nvSpPr>
        <p:spPr>
          <a:xfrm xmlns:a="http://schemas.openxmlformats.org/drawingml/2006/main">
            <a:off x="13144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167A55"/>
            </a:solidFill>
            <a:prstDash val="solid"/>
          </a:ln>
        </p:spPr>
      </p:sp>
      <p:sp>
        <p:nvSpPr>
          <p:cNvPr id="8" name="">
            <a:extLst xmlns:a="http://schemas.openxmlformats.org/drawingml/2006/main">
              <a:ext uri="{FF2B5EF4-FFF2-40B4-BE49-F238E27FC236}">
                <a16:creationId xmlns:a16="http://schemas.microsoft.com/office/drawing/2014/main" id="{505A20E8-352A-4503-B2EB-C0F4ADAE12E2}"/>
              </a:ext>
            </a:extLst>
          </p:cNvPr>
          <p:cNvSpPr>
            <a:spLocks xmlns:a="http://schemas.openxmlformats.org/drawingml/2006/main" noGrp="1"/>
          </p:cNvSpPr>
          <p:nvPr/>
        </p:nvSpPr>
        <p:spPr>
          <a:xfrm xmlns:a="http://schemas.openxmlformats.org/drawingml/2006/main">
            <a:off x="13144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167A55"/>
                </a:solidFill>
                <a:latin typeface="Arimo"/>
                <a:ea typeface="Arimo"/>
                <a:cs typeface="Arimo"/>
              </a:defRPr>
            </a:pPr>
            <a:r>
              <a:rPr sz="2025" b="1" i="0">
                <a:solidFill>
                  <a:srgbClr val="167A55"/>
                </a:solidFill>
                <a:latin typeface="Arimo"/>
                <a:ea typeface="Arimo"/>
                <a:cs typeface="Arimo"/>
              </a:rPr>
              <a:t>01</a:t>
            </a:r>
          </a:p>
        </p:txBody>
      </p:sp>
      <p:sp>
        <p:nvSpPr>
          <p:cNvPr id="9" name="">
            <a:extLst xmlns:a="http://schemas.openxmlformats.org/drawingml/2006/main">
              <a:ext uri="{FF2B5EF4-FFF2-40B4-BE49-F238E27FC236}">
                <a16:creationId xmlns:a16="http://schemas.microsoft.com/office/drawing/2014/main" id="{606D281C-74BA-4BB9-8D04-0D6E75A874DE}"/>
              </a:ext>
            </a:extLst>
          </p:cNvPr>
          <p:cNvSpPr>
            <a:spLocks xmlns:a="http://schemas.openxmlformats.org/drawingml/2006/main" noGrp="1"/>
          </p:cNvSpPr>
          <p:nvPr/>
        </p:nvSpPr>
        <p:spPr>
          <a:xfrm xmlns:a="http://schemas.openxmlformats.org/drawingml/2006/main">
            <a:off x="6667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167A55"/>
                </a:solidFill>
                <a:latin typeface="Arimo"/>
                <a:ea typeface="Arimo"/>
                <a:cs typeface="Arimo"/>
              </a:defRPr>
            </a:pPr>
            <a:r>
              <a:rPr sz="1275" b="1" i="0">
                <a:solidFill>
                  <a:srgbClr val="167A55"/>
                </a:solidFill>
                <a:latin typeface="Arimo"/>
                <a:ea typeface="Arimo"/>
                <a:cs typeface="Arimo"/>
              </a:rPr>
              <a:t>WEEKS 1-4</a:t>
            </a:r>
          </a:p>
        </p:txBody>
      </p:sp>
      <p:sp>
        <p:nvSpPr>
          <p:cNvPr id="10" name="">
            <a:extLst xmlns:a="http://schemas.openxmlformats.org/drawingml/2006/main">
              <a:ext uri="{FF2B5EF4-FFF2-40B4-BE49-F238E27FC236}">
                <a16:creationId xmlns:a16="http://schemas.microsoft.com/office/drawing/2014/main" id="{D50F24B2-BDDD-4D7F-9F56-041790F2219D}"/>
              </a:ext>
            </a:extLst>
          </p:cNvPr>
          <p:cNvSpPr>
            <a:spLocks xmlns:a="http://schemas.openxmlformats.org/drawingml/2006/main" noGrp="1"/>
          </p:cNvSpPr>
          <p:nvPr/>
        </p:nvSpPr>
        <p:spPr>
          <a:xfrm xmlns:a="http://schemas.openxmlformats.org/drawingml/2006/main">
            <a:off x="6667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498"/>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Data synchronization</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and constraints</a:t>
            </a:r>
          </a:p>
        </p:txBody>
      </p:sp>
      <p:sp>
        <p:nvSpPr>
          <p:cNvPr id="11" name="">
            <a:extLst xmlns:a="http://schemas.openxmlformats.org/drawingml/2006/main">
              <a:ext uri="{FF2B5EF4-FFF2-40B4-BE49-F238E27FC236}">
                <a16:creationId xmlns:a16="http://schemas.microsoft.com/office/drawing/2014/main" id="{C4246D43-AB1E-4B62-9A59-9BA98410F9D8}"/>
              </a:ext>
            </a:extLst>
          </p:cNvPr>
          <p:cNvSpPr>
            <a:spLocks xmlns:a="http://schemas.openxmlformats.org/drawingml/2006/main" noGrp="1"/>
          </p:cNvSpPr>
          <p:nvPr/>
        </p:nvSpPr>
        <p:spPr>
          <a:xfrm xmlns:a="http://schemas.openxmlformats.org/drawingml/2006/main">
            <a:off x="41719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30AFC2"/>
            </a:solidFill>
            <a:prstDash val="solid"/>
          </a:ln>
        </p:spPr>
      </p:sp>
      <p:sp>
        <p:nvSpPr>
          <p:cNvPr id="12" name="">
            <a:extLst xmlns:a="http://schemas.openxmlformats.org/drawingml/2006/main">
              <a:ext uri="{FF2B5EF4-FFF2-40B4-BE49-F238E27FC236}">
                <a16:creationId xmlns:a16="http://schemas.microsoft.com/office/drawing/2014/main" id="{3AC9F789-04D9-4169-93A2-DFA2FD701C37}"/>
              </a:ext>
            </a:extLst>
          </p:cNvPr>
          <p:cNvSpPr>
            <a:spLocks xmlns:a="http://schemas.openxmlformats.org/drawingml/2006/main" noGrp="1"/>
          </p:cNvSpPr>
          <p:nvPr/>
        </p:nvSpPr>
        <p:spPr>
          <a:xfrm xmlns:a="http://schemas.openxmlformats.org/drawingml/2006/main">
            <a:off x="41719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30AFC2"/>
                </a:solidFill>
                <a:latin typeface="Arimo"/>
                <a:ea typeface="Arimo"/>
                <a:cs typeface="Arimo"/>
              </a:defRPr>
            </a:pPr>
            <a:r>
              <a:rPr sz="2025" b="1" i="0">
                <a:solidFill>
                  <a:srgbClr val="30AFC2"/>
                </a:solidFill>
                <a:latin typeface="Arimo"/>
                <a:ea typeface="Arimo"/>
                <a:cs typeface="Arimo"/>
              </a:rPr>
              <a:t>02</a:t>
            </a:r>
          </a:p>
        </p:txBody>
      </p:sp>
      <p:sp>
        <p:nvSpPr>
          <p:cNvPr id="13" name="">
            <a:extLst xmlns:a="http://schemas.openxmlformats.org/drawingml/2006/main">
              <a:ext uri="{FF2B5EF4-FFF2-40B4-BE49-F238E27FC236}">
                <a16:creationId xmlns:a16="http://schemas.microsoft.com/office/drawing/2014/main" id="{F86DD71A-2626-49F6-BFBE-74F4477793A7}"/>
              </a:ext>
            </a:extLst>
          </p:cNvPr>
          <p:cNvSpPr>
            <a:spLocks xmlns:a="http://schemas.openxmlformats.org/drawingml/2006/main" noGrp="1"/>
          </p:cNvSpPr>
          <p:nvPr/>
        </p:nvSpPr>
        <p:spPr>
          <a:xfrm xmlns:a="http://schemas.openxmlformats.org/drawingml/2006/main">
            <a:off x="35242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30AFC2"/>
                </a:solidFill>
                <a:latin typeface="Arimo"/>
                <a:ea typeface="Arimo"/>
                <a:cs typeface="Arimo"/>
              </a:defRPr>
            </a:pPr>
            <a:r>
              <a:rPr sz="1275" b="1" i="0">
                <a:solidFill>
                  <a:srgbClr val="30AFC2"/>
                </a:solidFill>
                <a:latin typeface="Arimo"/>
                <a:ea typeface="Arimo"/>
                <a:cs typeface="Arimo"/>
              </a:rPr>
              <a:t>WEEKS 5-8</a:t>
            </a:r>
          </a:p>
        </p:txBody>
      </p:sp>
      <p:sp>
        <p:nvSpPr>
          <p:cNvPr id="14" name="">
            <a:extLst xmlns:a="http://schemas.openxmlformats.org/drawingml/2006/main">
              <a:ext uri="{FF2B5EF4-FFF2-40B4-BE49-F238E27FC236}">
                <a16:creationId xmlns:a16="http://schemas.microsoft.com/office/drawing/2014/main" id="{39B2F9E1-7CDF-4AA9-883C-E3780DF255C0}"/>
              </a:ext>
            </a:extLst>
          </p:cNvPr>
          <p:cNvSpPr>
            <a:spLocks xmlns:a="http://schemas.openxmlformats.org/drawingml/2006/main" noGrp="1"/>
          </p:cNvSpPr>
          <p:nvPr/>
        </p:nvSpPr>
        <p:spPr>
          <a:xfrm xmlns:a="http://schemas.openxmlformats.org/drawingml/2006/main">
            <a:off x="35242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Engine benchmark</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and uncertainty</a:t>
            </a:r>
          </a:p>
        </p:txBody>
      </p:sp>
      <p:sp>
        <p:nvSpPr>
          <p:cNvPr id="15" name="">
            <a:extLst xmlns:a="http://schemas.openxmlformats.org/drawingml/2006/main">
              <a:ext uri="{FF2B5EF4-FFF2-40B4-BE49-F238E27FC236}">
                <a16:creationId xmlns:a16="http://schemas.microsoft.com/office/drawing/2014/main" id="{2532F39F-952A-4072-8F65-6ACFB63544D1}"/>
              </a:ext>
            </a:extLst>
          </p:cNvPr>
          <p:cNvSpPr>
            <a:spLocks xmlns:a="http://schemas.openxmlformats.org/drawingml/2006/main" noGrp="1"/>
          </p:cNvSpPr>
          <p:nvPr/>
        </p:nvSpPr>
        <p:spPr>
          <a:xfrm xmlns:a="http://schemas.openxmlformats.org/drawingml/2006/main">
            <a:off x="70294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E69B3A"/>
            </a:solidFill>
            <a:prstDash val="solid"/>
          </a:ln>
        </p:spPr>
      </p:sp>
      <p:sp>
        <p:nvSpPr>
          <p:cNvPr id="16" name="">
            <a:extLst xmlns:a="http://schemas.openxmlformats.org/drawingml/2006/main">
              <a:ext uri="{FF2B5EF4-FFF2-40B4-BE49-F238E27FC236}">
                <a16:creationId xmlns:a16="http://schemas.microsoft.com/office/drawing/2014/main" id="{46E49D7F-A8EC-4EF0-B61A-472C42978AC3}"/>
              </a:ext>
            </a:extLst>
          </p:cNvPr>
          <p:cNvSpPr>
            <a:spLocks xmlns:a="http://schemas.openxmlformats.org/drawingml/2006/main" noGrp="1"/>
          </p:cNvSpPr>
          <p:nvPr/>
        </p:nvSpPr>
        <p:spPr>
          <a:xfrm xmlns:a="http://schemas.openxmlformats.org/drawingml/2006/main">
            <a:off x="70294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E69B3A"/>
                </a:solidFill>
                <a:latin typeface="Arimo"/>
                <a:ea typeface="Arimo"/>
                <a:cs typeface="Arimo"/>
              </a:defRPr>
            </a:pPr>
            <a:r>
              <a:rPr sz="2025" b="1" i="0">
                <a:solidFill>
                  <a:srgbClr val="E69B3A"/>
                </a:solidFill>
                <a:latin typeface="Arimo"/>
                <a:ea typeface="Arimo"/>
                <a:cs typeface="Arimo"/>
              </a:rPr>
              <a:t>03</a:t>
            </a:r>
          </a:p>
        </p:txBody>
      </p:sp>
      <p:sp>
        <p:nvSpPr>
          <p:cNvPr id="17" name="">
            <a:extLst xmlns:a="http://schemas.openxmlformats.org/drawingml/2006/main">
              <a:ext uri="{FF2B5EF4-FFF2-40B4-BE49-F238E27FC236}">
                <a16:creationId xmlns:a16="http://schemas.microsoft.com/office/drawing/2014/main" id="{AD150179-93AF-4555-BA3F-64265DE8802D}"/>
              </a:ext>
            </a:extLst>
          </p:cNvPr>
          <p:cNvSpPr>
            <a:spLocks xmlns:a="http://schemas.openxmlformats.org/drawingml/2006/main" noGrp="1"/>
          </p:cNvSpPr>
          <p:nvPr/>
        </p:nvSpPr>
        <p:spPr>
          <a:xfrm xmlns:a="http://schemas.openxmlformats.org/drawingml/2006/main">
            <a:off x="63817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E69B3A"/>
                </a:solidFill>
                <a:latin typeface="Arimo"/>
                <a:ea typeface="Arimo"/>
                <a:cs typeface="Arimo"/>
              </a:defRPr>
            </a:pPr>
            <a:r>
              <a:rPr sz="1275" b="1" i="0">
                <a:solidFill>
                  <a:srgbClr val="E69B3A"/>
                </a:solidFill>
                <a:latin typeface="Arimo"/>
                <a:ea typeface="Arimo"/>
                <a:cs typeface="Arimo"/>
              </a:rPr>
              <a:t>WEEKS 9-12</a:t>
            </a:r>
          </a:p>
        </p:txBody>
      </p:sp>
      <p:sp>
        <p:nvSpPr>
          <p:cNvPr id="18" name="">
            <a:extLst xmlns:a="http://schemas.openxmlformats.org/drawingml/2006/main">
              <a:ext uri="{FF2B5EF4-FFF2-40B4-BE49-F238E27FC236}">
                <a16:creationId xmlns:a16="http://schemas.microsoft.com/office/drawing/2014/main" id="{706DCBF8-C7D9-4EF9-8020-49D9945698A7}"/>
              </a:ext>
            </a:extLst>
          </p:cNvPr>
          <p:cNvSpPr>
            <a:spLocks xmlns:a="http://schemas.openxmlformats.org/drawingml/2006/main" noGrp="1"/>
          </p:cNvSpPr>
          <p:nvPr/>
        </p:nvSpPr>
        <p:spPr>
          <a:xfrm xmlns:a="http://schemas.openxmlformats.org/drawingml/2006/main">
            <a:off x="63817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318"/>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Module API, scenarios,</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KPIs, and interface</a:t>
            </a:r>
          </a:p>
        </p:txBody>
      </p:sp>
      <p:sp>
        <p:nvSpPr>
          <p:cNvPr id="19" name="">
            <a:extLst xmlns:a="http://schemas.openxmlformats.org/drawingml/2006/main">
              <a:ext uri="{FF2B5EF4-FFF2-40B4-BE49-F238E27FC236}">
                <a16:creationId xmlns:a16="http://schemas.microsoft.com/office/drawing/2014/main" id="{8BA02F0B-5461-48CF-9986-0CD4EF0EC641}"/>
              </a:ext>
            </a:extLst>
          </p:cNvPr>
          <p:cNvSpPr>
            <a:spLocks xmlns:a="http://schemas.openxmlformats.org/drawingml/2006/main" noGrp="1"/>
          </p:cNvSpPr>
          <p:nvPr/>
        </p:nvSpPr>
        <p:spPr>
          <a:xfrm xmlns:a="http://schemas.openxmlformats.org/drawingml/2006/main">
            <a:off x="98869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B85246"/>
            </a:solidFill>
            <a:prstDash val="solid"/>
          </a:ln>
        </p:spPr>
      </p:sp>
      <p:sp>
        <p:nvSpPr>
          <p:cNvPr id="20" name="">
            <a:extLst xmlns:a="http://schemas.openxmlformats.org/drawingml/2006/main">
              <a:ext uri="{FF2B5EF4-FFF2-40B4-BE49-F238E27FC236}">
                <a16:creationId xmlns:a16="http://schemas.microsoft.com/office/drawing/2014/main" id="{003F9DFD-64B0-4AEA-8DF3-8282F4A96CF7}"/>
              </a:ext>
            </a:extLst>
          </p:cNvPr>
          <p:cNvSpPr>
            <a:spLocks xmlns:a="http://schemas.openxmlformats.org/drawingml/2006/main" noGrp="1"/>
          </p:cNvSpPr>
          <p:nvPr/>
        </p:nvSpPr>
        <p:spPr>
          <a:xfrm xmlns:a="http://schemas.openxmlformats.org/drawingml/2006/main">
            <a:off x="98869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B85246"/>
                </a:solidFill>
                <a:latin typeface="Arimo"/>
                <a:ea typeface="Arimo"/>
                <a:cs typeface="Arimo"/>
              </a:defRPr>
            </a:pPr>
            <a:r>
              <a:rPr sz="2025" b="1" i="0">
                <a:solidFill>
                  <a:srgbClr val="B85246"/>
                </a:solidFill>
                <a:latin typeface="Arimo"/>
                <a:ea typeface="Arimo"/>
                <a:cs typeface="Arimo"/>
              </a:rPr>
              <a:t>04</a:t>
            </a:r>
          </a:p>
        </p:txBody>
      </p:sp>
      <p:sp>
        <p:nvSpPr>
          <p:cNvPr id="21" name="">
            <a:extLst xmlns:a="http://schemas.openxmlformats.org/drawingml/2006/main">
              <a:ext uri="{FF2B5EF4-FFF2-40B4-BE49-F238E27FC236}">
                <a16:creationId xmlns:a16="http://schemas.microsoft.com/office/drawing/2014/main" id="{9203C62C-3FD4-4032-81BF-45A9E73D4D00}"/>
              </a:ext>
            </a:extLst>
          </p:cNvPr>
          <p:cNvSpPr>
            <a:spLocks xmlns:a="http://schemas.openxmlformats.org/drawingml/2006/main" noGrp="1"/>
          </p:cNvSpPr>
          <p:nvPr/>
        </p:nvSpPr>
        <p:spPr>
          <a:xfrm xmlns:a="http://schemas.openxmlformats.org/drawingml/2006/main">
            <a:off x="92392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B85246"/>
                </a:solidFill>
                <a:latin typeface="Arimo"/>
                <a:ea typeface="Arimo"/>
                <a:cs typeface="Arimo"/>
              </a:defRPr>
            </a:pPr>
            <a:r>
              <a:rPr sz="1275" b="1" i="0">
                <a:solidFill>
                  <a:srgbClr val="B85246"/>
                </a:solidFill>
                <a:latin typeface="Arimo"/>
                <a:ea typeface="Arimo"/>
                <a:cs typeface="Arimo"/>
              </a:rPr>
              <a:t>WEEKS 13-16</a:t>
            </a:r>
          </a:p>
        </p:txBody>
      </p:sp>
      <p:sp>
        <p:nvSpPr>
          <p:cNvPr id="22" name="">
            <a:extLst xmlns:a="http://schemas.openxmlformats.org/drawingml/2006/main">
              <a:ext uri="{FF2B5EF4-FFF2-40B4-BE49-F238E27FC236}">
                <a16:creationId xmlns:a16="http://schemas.microsoft.com/office/drawing/2014/main" id="{1FEA2A6E-1690-40A6-BA59-98DCF2DA40C6}"/>
              </a:ext>
            </a:extLst>
          </p:cNvPr>
          <p:cNvSpPr>
            <a:spLocks xmlns:a="http://schemas.openxmlformats.org/drawingml/2006/main" noGrp="1"/>
          </p:cNvSpPr>
          <p:nvPr/>
        </p:nvSpPr>
        <p:spPr>
          <a:xfrm xmlns:a="http://schemas.openxmlformats.org/drawingml/2006/main">
            <a:off x="92392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318"/>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Historical replay, review,</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and acceptance</a:t>
            </a:r>
          </a:p>
        </p:txBody>
      </p:sp>
      <p:sp>
        <p:nvSpPr>
          <p:cNvPr id="23" name="">
            <a:extLst xmlns:a="http://schemas.openxmlformats.org/drawingml/2006/main">
              <a:ext uri="{FF2B5EF4-FFF2-40B4-BE49-F238E27FC236}">
                <a16:creationId xmlns:a16="http://schemas.microsoft.com/office/drawing/2014/main" id="{65173AFD-CA38-46D1-9D79-87FBB89179AF}"/>
              </a:ext>
            </a:extLst>
          </p:cNvPr>
          <p:cNvSpPr>
            <a:spLocks xmlns:a="http://schemas.openxmlformats.org/drawingml/2006/main" noGrp="1"/>
          </p:cNvSpPr>
          <p:nvPr/>
        </p:nvSpPr>
        <p:spPr>
          <a:xfrm xmlns:a="http://schemas.openxmlformats.org/drawingml/2006/main">
            <a:off x="1619250" y="5381625"/>
            <a:ext cx="8953500" cy="609600"/>
          </a:xfrm>
          <a:prstGeom xmlns:a="http://schemas.openxmlformats.org/drawingml/2006/main" prst="roundRect">
            <a:avLst>
              <a:gd name="adj" fmla="val 25000"/>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89323"/>
          </a:bodyPr>
          <a:lstStyle xmlns:a="http://schemas.openxmlformats.org/drawingml/2006/main"/>
          <a:p xmlns:a="http://schemas.openxmlformats.org/drawingml/2006/main">
            <a:pPr algn="ctr">
              <a:lnSpc>
                <a:spcPct val="100000"/>
              </a:lnSpc>
              <a:buNone/>
              <a:defRPr sz="1800" b="1">
                <a:solidFill>
                  <a:srgbClr val="FFFFFF"/>
                </a:solidFill>
                <a:latin typeface="Arimo"/>
                <a:ea typeface="Arimo"/>
                <a:cs typeface="Arimo"/>
              </a:defRPr>
            </a:pPr>
            <a:r>
              <a:rPr sz="1800" b="1">
                <a:solidFill>
                  <a:srgbClr val="FFFFFF"/>
                </a:solidFill>
                <a:latin typeface="Arimo"/>
                <a:ea typeface="Arimo"/>
                <a:cs typeface="Arimo"/>
              </a:rPr>
              <a:t>Exit package: offline testbed, validation report, limitations, and Phase 2 recommendation</a:t>
            </a:r>
          </a:p>
        </p:txBody>
      </p:sp>
    </p:spTree>
    <p:extLst>
      <p:ext uri="{BB962C8B-B14F-4D97-AF65-F5344CB8AC3E}">
        <p14:creationId xmlns:p14="http://schemas.microsoft.com/office/powerpoint/2010/main" val="935742631"/>
      </p:ext>
    </p:extLst>
  </p:cSld>
</p:sld>
</file>

<file path=ppt/slides/slide16.xml><?xml version="1.0" encoding="utf-8"?>
<p:sld xmlns:p="http://schemas.openxmlformats.org/presentationml/2006/main">
  <p:cSld>
    <p:bg>
      <p:bgPr>
        <a:solidFill xmlns:a="http://schemas.openxmlformats.org/drawingml/2006/main">
          <a:srgbClr val="061710"/>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8BABDD5-6847-42F1-910F-89519B0AE738}"/>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FFFFFF"/>
                </a:solidFill>
                <a:latin typeface="Arimo"/>
                <a:ea typeface="Arimo"/>
                <a:cs typeface="Arimo"/>
              </a:defRPr>
            </a:pPr>
            <a:r>
              <a:rPr sz="3225" b="1" i="0">
                <a:solidFill>
                  <a:srgbClr val="FFFFFF"/>
                </a:solidFill>
                <a:latin typeface="Arimo"/>
                <a:ea typeface="Arimo"/>
                <a:cs typeface="Arimo"/>
              </a:rPr>
              <a:t>Decision requested</a:t>
            </a:r>
          </a:p>
        </p:txBody>
      </p:sp>
      <p:sp>
        <p:nvSpPr>
          <p:cNvPr id="2" name="">
            <a:extLst xmlns:a="http://schemas.openxmlformats.org/drawingml/2006/main">
              <a:ext uri="{FF2B5EF4-FFF2-40B4-BE49-F238E27FC236}">
                <a16:creationId xmlns:a16="http://schemas.microsoft.com/office/drawing/2014/main" id="{0B41BAA4-F103-4EB6-9892-206A08F6998D}"/>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B8D6C8"/>
                </a:solidFill>
                <a:latin typeface="Arimo"/>
                <a:ea typeface="Arimo"/>
                <a:cs typeface="Arimo"/>
              </a:defRPr>
            </a:pPr>
            <a:r>
              <a:rPr sz="1575" b="0" i="0">
                <a:solidFill>
                  <a:srgbClr val="B8D6C8"/>
                </a:solidFill>
                <a:latin typeface="Arimo"/>
                <a:ea typeface="Arimo"/>
                <a:cs typeface="Arimo"/>
              </a:rPr>
              <a:t>Approve a scoped offline PoC with operational access and review</a:t>
            </a:r>
          </a:p>
        </p:txBody>
      </p:sp>
      <p:sp>
        <p:nvSpPr>
          <p:cNvPr id="3" name="">
            <a:extLst xmlns:a="http://schemas.openxmlformats.org/drawingml/2006/main">
              <a:ext uri="{FF2B5EF4-FFF2-40B4-BE49-F238E27FC236}">
                <a16:creationId xmlns:a16="http://schemas.microsoft.com/office/drawing/2014/main" id="{6836A147-89CB-4260-BBE8-E10EB0D61CD8}"/>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7EA998"/>
                </a:solidFill>
                <a:latin typeface="Arimo"/>
                <a:ea typeface="Arimo"/>
                <a:cs typeface="Arimo"/>
              </a:defRPr>
            </a:pPr>
            <a:r>
              <a:rPr sz="900" b="1" i="0">
                <a:solidFill>
                  <a:srgbClr val="7EA998"/>
                </a:solidFill>
                <a:latin typeface="Arimo"/>
                <a:ea typeface="Arimo"/>
                <a:cs typeface="Arimo"/>
              </a:rPr>
              <a:t>RAINFOREST VIRTUAL PROVING GROUND</a:t>
            </a:r>
          </a:p>
        </p:txBody>
      </p:sp>
      <p:sp>
        <p:nvSpPr>
          <p:cNvPr id="4" name="">
            <a:extLst xmlns:a="http://schemas.openxmlformats.org/drawingml/2006/main">
              <a:ext uri="{FF2B5EF4-FFF2-40B4-BE49-F238E27FC236}">
                <a16:creationId xmlns:a16="http://schemas.microsoft.com/office/drawing/2014/main" id="{823CCE8C-2E86-42A9-A1B6-FCFECC4AAB22}"/>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9DC6B5"/>
                </a:solidFill>
                <a:latin typeface="Arimo"/>
                <a:ea typeface="Arimo"/>
                <a:cs typeface="Arimo"/>
              </a:defRPr>
            </a:pPr>
            <a:r>
              <a:rPr sz="1125" b="1" i="0">
                <a:solidFill>
                  <a:srgbClr val="9DC6B5"/>
                </a:solidFill>
                <a:latin typeface="Arimo"/>
                <a:ea typeface="Arimo"/>
                <a:cs typeface="Arimo"/>
              </a:rPr>
              <a:t>16</a:t>
            </a:r>
          </a:p>
        </p:txBody>
      </p:sp>
      <p:sp>
        <p:nvSpPr>
          <p:cNvPr id="5" name="">
            <a:extLst xmlns:a="http://schemas.openxmlformats.org/drawingml/2006/main">
              <a:ext uri="{FF2B5EF4-FFF2-40B4-BE49-F238E27FC236}">
                <a16:creationId xmlns:a16="http://schemas.microsoft.com/office/drawing/2014/main" id="{1C122D05-DD5D-43E0-8CC7-38A81BCA219B}"/>
              </a:ext>
            </a:extLst>
          </p:cNvPr>
          <p:cNvSpPr>
            <a:spLocks xmlns:a="http://schemas.openxmlformats.org/drawingml/2006/main" noGrp="1"/>
          </p:cNvSpPr>
          <p:nvPr/>
        </p:nvSpPr>
        <p:spPr>
          <a:xfrm xmlns:a="http://schemas.openxmlformats.org/drawingml/2006/main">
            <a:off x="857250" y="1638300"/>
            <a:ext cx="7524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937"/>
          </a:bodyPr>
          <a:lstStyle xmlns:a="http://schemas.openxmlformats.org/drawingml/2006/main"/>
          <a:p xmlns:a="http://schemas.openxmlformats.org/drawingml/2006/main">
            <a:pPr algn="l">
              <a:lnSpc>
                <a:spcPct val="100000"/>
              </a:lnSpc>
              <a:buNone/>
              <a:defRPr sz="3375" b="1" i="0">
                <a:solidFill>
                  <a:srgbClr val="FFFFFF"/>
                </a:solidFill>
                <a:latin typeface="Arimo"/>
                <a:ea typeface="Arimo"/>
                <a:cs typeface="Arimo"/>
              </a:defRPr>
            </a:pPr>
            <a:r>
              <a:rPr sz="3375" b="1" i="0">
                <a:solidFill>
                  <a:srgbClr val="FFFFFF"/>
                </a:solidFill>
                <a:latin typeface="Arimo"/>
                <a:ea typeface="Arimo"/>
                <a:cs typeface="Arimo"/>
              </a:rPr>
              <a:t>Approve the 16-week offline Proof of Concept</a:t>
            </a:r>
          </a:p>
        </p:txBody>
      </p:sp>
      <p:sp>
        <p:nvSpPr>
          <p:cNvPr id="6" name="">
            <a:extLst xmlns:a="http://schemas.openxmlformats.org/drawingml/2006/main">
              <a:ext uri="{FF2B5EF4-FFF2-40B4-BE49-F238E27FC236}">
                <a16:creationId xmlns:a16="http://schemas.microsoft.com/office/drawing/2014/main" id="{D74B5D5C-7F99-4837-ABF5-9C64985CA595}"/>
              </a:ext>
            </a:extLst>
          </p:cNvPr>
          <p:cNvSpPr>
            <a:spLocks xmlns:a="http://schemas.openxmlformats.org/drawingml/2006/main" noGrp="1"/>
          </p:cNvSpPr>
          <p:nvPr/>
        </p:nvSpPr>
        <p:spPr>
          <a:xfrm xmlns:a="http://schemas.openxmlformats.org/drawingml/2006/main">
            <a:off x="1000125" y="29527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52976F8-97E2-4AC8-AFFF-47DBFF351CB6}"/>
              </a:ext>
            </a:extLst>
          </p:cNvPr>
          <p:cNvSpPr>
            <a:spLocks xmlns:a="http://schemas.openxmlformats.org/drawingml/2006/main" noGrp="1"/>
          </p:cNvSpPr>
          <p:nvPr/>
        </p:nvSpPr>
        <p:spPr>
          <a:xfrm xmlns:a="http://schemas.openxmlformats.org/drawingml/2006/main">
            <a:off x="1247775" y="2876550"/>
            <a:ext cx="6991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025" b="0" i="0">
                <a:solidFill>
                  <a:srgbClr val="DDEFE6"/>
                </a:solidFill>
                <a:latin typeface="Arimo"/>
                <a:ea typeface="Arimo"/>
                <a:cs typeface="Arimo"/>
              </a:defRPr>
            </a:pPr>
            <a:r>
              <a:rPr sz="2025" b="0" i="0">
                <a:solidFill>
                  <a:srgbClr val="DDEFE6"/>
                </a:solidFill>
                <a:latin typeface="Arimo"/>
                <a:ea typeface="Arimo"/>
                <a:cs typeface="Arimo"/>
              </a:rPr>
              <a:t>Assign a Biosphere 2 operations liaison</a:t>
            </a:r>
          </a:p>
        </p:txBody>
      </p:sp>
      <p:sp>
        <p:nvSpPr>
          <p:cNvPr id="8" name="">
            <a:extLst xmlns:a="http://schemas.openxmlformats.org/drawingml/2006/main">
              <a:ext uri="{FF2B5EF4-FFF2-40B4-BE49-F238E27FC236}">
                <a16:creationId xmlns:a16="http://schemas.microsoft.com/office/drawing/2014/main" id="{11C400C8-F7D6-42E3-B204-38B07CA95BF6}"/>
              </a:ext>
            </a:extLst>
          </p:cNvPr>
          <p:cNvSpPr>
            <a:spLocks xmlns:a="http://schemas.openxmlformats.org/drawingml/2006/main" noGrp="1"/>
          </p:cNvSpPr>
          <p:nvPr/>
        </p:nvSpPr>
        <p:spPr>
          <a:xfrm xmlns:a="http://schemas.openxmlformats.org/drawingml/2006/main">
            <a:off x="1000125" y="37909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6D1522D-839F-4D67-8A78-BC3B425815E2}"/>
              </a:ext>
            </a:extLst>
          </p:cNvPr>
          <p:cNvSpPr>
            <a:spLocks xmlns:a="http://schemas.openxmlformats.org/drawingml/2006/main" noGrp="1"/>
          </p:cNvSpPr>
          <p:nvPr/>
        </p:nvSpPr>
        <p:spPr>
          <a:xfrm xmlns:a="http://schemas.openxmlformats.org/drawingml/2006/main">
            <a:off x="1247775" y="3714750"/>
            <a:ext cx="6991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025" b="0" i="0">
                <a:solidFill>
                  <a:srgbClr val="DDEFE6"/>
                </a:solidFill>
                <a:latin typeface="Arimo"/>
                <a:ea typeface="Arimo"/>
                <a:cs typeface="Arimo"/>
              </a:defRPr>
            </a:pPr>
            <a:r>
              <a:rPr sz="2025" b="0" i="0">
                <a:solidFill>
                  <a:srgbClr val="DDEFE6"/>
                </a:solidFill>
                <a:latin typeface="Arimo"/>
                <a:ea typeface="Arimo"/>
                <a:cs typeface="Arimo"/>
              </a:rPr>
              <a:t>Authorize synchronized control, climate, weather, energy, and constraint data</a:t>
            </a:r>
          </a:p>
        </p:txBody>
      </p:sp>
      <p:sp>
        <p:nvSpPr>
          <p:cNvPr id="10" name="">
            <a:extLst xmlns:a="http://schemas.openxmlformats.org/drawingml/2006/main">
              <a:ext uri="{FF2B5EF4-FFF2-40B4-BE49-F238E27FC236}">
                <a16:creationId xmlns:a16="http://schemas.microsoft.com/office/drawing/2014/main" id="{A21702D1-93D7-4E33-8246-22EBBC40A701}"/>
              </a:ext>
            </a:extLst>
          </p:cNvPr>
          <p:cNvSpPr>
            <a:spLocks xmlns:a="http://schemas.openxmlformats.org/drawingml/2006/main" noGrp="1"/>
          </p:cNvSpPr>
          <p:nvPr/>
        </p:nvSpPr>
        <p:spPr>
          <a:xfrm xmlns:a="http://schemas.openxmlformats.org/drawingml/2006/main">
            <a:off x="1000125" y="46291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3E5BDC1-C198-4434-BAAB-CBA85297B9F0}"/>
              </a:ext>
            </a:extLst>
          </p:cNvPr>
          <p:cNvSpPr>
            <a:spLocks xmlns:a="http://schemas.openxmlformats.org/drawingml/2006/main" noGrp="1"/>
          </p:cNvSpPr>
          <p:nvPr/>
        </p:nvSpPr>
        <p:spPr>
          <a:xfrm xmlns:a="http://schemas.openxmlformats.org/drawingml/2006/main">
            <a:off x="1247775" y="4552950"/>
            <a:ext cx="6991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025" b="0" i="0">
                <a:solidFill>
                  <a:srgbClr val="DDEFE6"/>
                </a:solidFill>
                <a:latin typeface="Arimo"/>
                <a:ea typeface="Arimo"/>
                <a:cs typeface="Arimo"/>
              </a:defRPr>
            </a:pPr>
            <a:r>
              <a:rPr sz="2025" b="0" i="0">
                <a:solidFill>
                  <a:srgbClr val="DDEFE6"/>
                </a:solidFill>
                <a:latin typeface="Arimo"/>
                <a:ea typeface="Arimo"/>
                <a:cs typeface="Arimo"/>
              </a:rPr>
              <a:t>Review acceptance evidence before any Phase 2 or field trial</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b959281fc27a4119"/>
          <a:stretch xmlns:a="http://schemas.openxmlformats.org/drawingml/2006/main"/>
        </p:blipFill>
        <p:spPr>
          <a:xfrm xmlns:a="http://schemas.openxmlformats.org/drawingml/2006/main">
            <a:off x="9096375" y="2000250"/>
            <a:ext cx="2000250" cy="20002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607BAD87-AA1E-47CE-8AF6-6983FF6F5ABC}"/>
              </a:ext>
            </a:extLst>
          </p:cNvPr>
          <p:cNvSpPr>
            <a:spLocks xmlns:a="http://schemas.openxmlformats.org/drawingml/2006/main" noGrp="1"/>
          </p:cNvSpPr>
          <p:nvPr/>
        </p:nvSpPr>
        <p:spPr>
          <a:xfrm xmlns:a="http://schemas.openxmlformats.org/drawingml/2006/main">
            <a:off x="8896350" y="41719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1" i="0">
                <a:solidFill>
                  <a:srgbClr val="2FAD79"/>
                </a:solidFill>
                <a:latin typeface="Arimo"/>
                <a:ea typeface="Arimo"/>
                <a:cs typeface="Arimo"/>
              </a:defRPr>
            </a:pPr>
            <a:r>
              <a:rPr sz="1500" b="1" i="0">
                <a:solidFill>
                  <a:srgbClr val="2FAD79"/>
                </a:solidFill>
                <a:latin typeface="Arimo"/>
                <a:ea typeface="Arimo"/>
                <a:cs typeface="Arimo"/>
              </a:rPr>
              <a:t>Live illustrative interface</a:t>
            </a:r>
          </a:p>
        </p:txBody>
      </p:sp>
      <p:sp>
        <p:nvSpPr>
          <p:cNvPr id="14" name="">
            <a:extLst xmlns:a="http://schemas.openxmlformats.org/drawingml/2006/main">
              <a:ext uri="{FF2B5EF4-FFF2-40B4-BE49-F238E27FC236}">
                <a16:creationId xmlns:a16="http://schemas.microsoft.com/office/drawing/2014/main" id="{424BD540-C802-4046-98D6-45D8B9F25404}"/>
              </a:ext>
            </a:extLst>
          </p:cNvPr>
          <p:cNvSpPr>
            <a:spLocks xmlns:a="http://schemas.openxmlformats.org/drawingml/2006/main" noGrp="1"/>
          </p:cNvSpPr>
          <p:nvPr/>
        </p:nvSpPr>
        <p:spPr>
          <a:xfrm xmlns:a="http://schemas.openxmlformats.org/drawingml/2006/main">
            <a:off x="8553450" y="4953000"/>
            <a:ext cx="31813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0" i="0">
                <a:solidFill>
                  <a:srgbClr val="A7CBBB"/>
                </a:solidFill>
                <a:latin typeface="Arimo"/>
                <a:ea typeface="Arimo"/>
                <a:cs typeface="Arimo"/>
              </a:defRPr>
            </a:pPr>
            <a:r>
              <a:rPr sz="1350" b="0" i="0">
                <a:solidFill>
                  <a:srgbClr val="A7CBBB"/>
                </a:solidFill>
                <a:latin typeface="Arimo"/>
                <a:ea typeface="Arimo"/>
                <a:cs typeface="Arimo"/>
              </a:rPr>
              <a:t>Dimitri Bolt</a:t>
            </a:r>
          </a:p>
          <a:p xmlns:a="http://schemas.openxmlformats.org/drawingml/2006/main">
            <a:pPr algn="ctr">
              <a:lnSpc>
                <a:spcPct val="115000"/>
              </a:lnSpc>
              <a:buNone/>
              <a:defRPr sz="1350" b="0" i="0">
                <a:solidFill>
                  <a:srgbClr val="A7CBBB"/>
                </a:solidFill>
                <a:latin typeface="Arimo"/>
                <a:ea typeface="Arimo"/>
                <a:cs typeface="Arimo"/>
              </a:defRPr>
            </a:pPr>
            <a:r>
              <a:rPr sz="1350" b="0" i="0">
                <a:solidFill>
                  <a:srgbClr val="A7CBBB"/>
                </a:solidFill>
                <a:latin typeface="Arimo"/>
                <a:ea typeface="Arimo"/>
                <a:cs typeface="Arimo"/>
              </a:rPr>
              <a:t>Academic supervision: Dr. Ildar Gabitov</a:t>
            </a:r>
          </a:p>
        </p:txBody>
      </p:sp>
    </p:spTree>
    <p:extLst>
      <p:ext uri="{BB962C8B-B14F-4D97-AF65-F5344CB8AC3E}">
        <p14:creationId xmlns:p14="http://schemas.microsoft.com/office/powerpoint/2010/main" val="199728444"/>
      </p:ext>
    </p:extLst>
  </p:cSld>
</p:sld>
</file>

<file path=ppt/slides/slide17.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E8B9DE5B-3FDC-4E6A-A12C-FA93090F632C}"/>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97D6C48-8BBC-4FB6-82AF-C7F24AD86AA1}"/>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Our prototype and planned development</a:t>
            </a:r>
          </a:p>
        </p:txBody>
      </p:sp>
      <p:sp>
        <p:nvSpPr>
          <p:cNvPr id="3" name="">
            <a:extLst xmlns:a="http://schemas.openxmlformats.org/drawingml/2006/main">
              <a:ext uri="{FF2B5EF4-FFF2-40B4-BE49-F238E27FC236}">
                <a16:creationId xmlns:a16="http://schemas.microsoft.com/office/drawing/2014/main" id="{C42CAC34-08CA-4694-9339-8A9616D2FEAD}"/>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Our current interface is illustrative and our PoC includes engine validation</a:t>
            </a:r>
          </a:p>
        </p:txBody>
      </p:sp>
      <p:sp>
        <p:nvSpPr>
          <p:cNvPr id="4" name="">
            <a:extLst xmlns:a="http://schemas.openxmlformats.org/drawingml/2006/main">
              <a:ext uri="{FF2B5EF4-FFF2-40B4-BE49-F238E27FC236}">
                <a16:creationId xmlns:a16="http://schemas.microsoft.com/office/drawing/2014/main" id="{1E454477-1335-438E-9A8F-51822498ADC8}"/>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C8309FC8-46BC-4D85-84D6-D52D7153FF4D}"/>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17</a:t>
            </a:r>
          </a:p>
        </p:txBody>
      </p:sp>
      <p:sp>
        <p:nvSpPr>
          <p:cNvPr id="6" name="">
            <a:extLst xmlns:a="http://schemas.openxmlformats.org/drawingml/2006/main">
              <a:ext uri="{FF2B5EF4-FFF2-40B4-BE49-F238E27FC236}">
                <a16:creationId xmlns:a16="http://schemas.microsoft.com/office/drawing/2014/main" id="{FF647EC2-C354-4316-A0C9-20987BA113AB}"/>
              </a:ext>
            </a:extLst>
          </p:cNvPr>
          <p:cNvSpPr>
            <a:spLocks xmlns:a="http://schemas.openxmlformats.org/drawingml/2006/main" noGrp="1"/>
          </p:cNvSpPr>
          <p:nvPr/>
        </p:nvSpPr>
        <p:spPr>
          <a:xfrm xmlns:a="http://schemas.openxmlformats.org/drawingml/2006/main">
            <a:off x="800100" y="165735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167A55"/>
                </a:solidFill>
                <a:latin typeface="Arimo"/>
                <a:ea typeface="Arimo"/>
                <a:cs typeface="Arimo"/>
              </a:defRPr>
            </a:pPr>
            <a:r>
              <a:rPr sz="1425" b="1" i="0">
                <a:solidFill>
                  <a:srgbClr val="167A55"/>
                </a:solidFill>
                <a:latin typeface="Arimo"/>
                <a:ea typeface="Arimo"/>
                <a:cs typeface="Arimo"/>
              </a:rPr>
              <a:t>OUR CURRENT PROTOTYPE</a:t>
            </a:r>
          </a:p>
        </p:txBody>
      </p:sp>
      <p:sp>
        <p:nvSpPr>
          <p:cNvPr id="7" name="">
            <a:extLst xmlns:a="http://schemas.openxmlformats.org/drawingml/2006/main">
              <a:ext uri="{FF2B5EF4-FFF2-40B4-BE49-F238E27FC236}">
                <a16:creationId xmlns:a16="http://schemas.microsoft.com/office/drawing/2014/main" id="{7849B795-A127-4E8F-A187-4043A1B1F6B1}"/>
              </a:ext>
            </a:extLst>
          </p:cNvPr>
          <p:cNvSpPr>
            <a:spLocks xmlns:a="http://schemas.openxmlformats.org/drawingml/2006/main" noGrp="1"/>
          </p:cNvSpPr>
          <p:nvPr/>
        </p:nvSpPr>
        <p:spPr>
          <a:xfrm xmlns:a="http://schemas.openxmlformats.org/drawingml/2006/main">
            <a:off x="857250" y="21717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CA893A-5196-4925-A159-ECD2255216C7}"/>
              </a:ext>
            </a:extLst>
          </p:cNvPr>
          <p:cNvSpPr>
            <a:spLocks xmlns:a="http://schemas.openxmlformats.org/drawingml/2006/main" noGrp="1"/>
          </p:cNvSpPr>
          <p:nvPr/>
        </p:nvSpPr>
        <p:spPr>
          <a:xfrm xmlns:a="http://schemas.openxmlformats.org/drawingml/2006/main">
            <a:off x="1104900" y="2095500"/>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64-control inventory</a:t>
            </a:r>
          </a:p>
        </p:txBody>
      </p:sp>
      <p:sp>
        <p:nvSpPr>
          <p:cNvPr id="9" name="">
            <a:extLst xmlns:a="http://schemas.openxmlformats.org/drawingml/2006/main">
              <a:ext uri="{FF2B5EF4-FFF2-40B4-BE49-F238E27FC236}">
                <a16:creationId xmlns:a16="http://schemas.microsoft.com/office/drawing/2014/main" id="{770932C3-77F3-434D-8263-DE99B0AABEF9}"/>
              </a:ext>
            </a:extLst>
          </p:cNvPr>
          <p:cNvSpPr>
            <a:spLocks xmlns:a="http://schemas.openxmlformats.org/drawingml/2006/main" noGrp="1"/>
          </p:cNvSpPr>
          <p:nvPr/>
        </p:nvSpPr>
        <p:spPr>
          <a:xfrm xmlns:a="http://schemas.openxmlformats.org/drawingml/2006/main">
            <a:off x="857250" y="27717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8F23414-48B4-4AFE-B2A8-E2396C7EABE3}"/>
              </a:ext>
            </a:extLst>
          </p:cNvPr>
          <p:cNvSpPr>
            <a:spLocks xmlns:a="http://schemas.openxmlformats.org/drawingml/2006/main" noGrp="1"/>
          </p:cNvSpPr>
          <p:nvPr/>
        </p:nvSpPr>
        <p:spPr>
          <a:xfrm xmlns:a="http://schemas.openxmlformats.org/drawingml/2006/main">
            <a:off x="1104900" y="2695575"/>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36-channel measurement schema</a:t>
            </a:r>
          </a:p>
        </p:txBody>
      </p:sp>
      <p:sp>
        <p:nvSpPr>
          <p:cNvPr id="11" name="">
            <a:extLst xmlns:a="http://schemas.openxmlformats.org/drawingml/2006/main">
              <a:ext uri="{FF2B5EF4-FFF2-40B4-BE49-F238E27FC236}">
                <a16:creationId xmlns:a16="http://schemas.microsoft.com/office/drawing/2014/main" id="{E4CEAD84-1DA0-49AA-8A55-735909AA1563}"/>
              </a:ext>
            </a:extLst>
          </p:cNvPr>
          <p:cNvSpPr>
            <a:spLocks xmlns:a="http://schemas.openxmlformats.org/drawingml/2006/main" noGrp="1"/>
          </p:cNvSpPr>
          <p:nvPr/>
        </p:nvSpPr>
        <p:spPr>
          <a:xfrm xmlns:a="http://schemas.openxmlformats.org/drawingml/2006/main">
            <a:off x="857250" y="33718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D5636C4-4067-41BC-A374-065EF0C7B3C8}"/>
              </a:ext>
            </a:extLst>
          </p:cNvPr>
          <p:cNvSpPr>
            <a:spLocks xmlns:a="http://schemas.openxmlformats.org/drawingml/2006/main" noGrp="1"/>
          </p:cNvSpPr>
          <p:nvPr/>
        </p:nvSpPr>
        <p:spPr>
          <a:xfrm xmlns:a="http://schemas.openxmlformats.org/drawingml/2006/main">
            <a:off x="1104900" y="3295650"/>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Data-pipeline code</a:t>
            </a:r>
          </a:p>
        </p:txBody>
      </p:sp>
      <p:sp>
        <p:nvSpPr>
          <p:cNvPr id="13" name="">
            <a:extLst xmlns:a="http://schemas.openxmlformats.org/drawingml/2006/main">
              <a:ext uri="{FF2B5EF4-FFF2-40B4-BE49-F238E27FC236}">
                <a16:creationId xmlns:a16="http://schemas.microsoft.com/office/drawing/2014/main" id="{A60DCB95-DC6D-4A37-924F-528CFB10E2A3}"/>
              </a:ext>
            </a:extLst>
          </p:cNvPr>
          <p:cNvSpPr>
            <a:spLocks xmlns:a="http://schemas.openxmlformats.org/drawingml/2006/main" noGrp="1"/>
          </p:cNvSpPr>
          <p:nvPr/>
        </p:nvSpPr>
        <p:spPr>
          <a:xfrm xmlns:a="http://schemas.openxmlformats.org/drawingml/2006/main">
            <a:off x="857250" y="39719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5F56FB-FE49-46C5-88A3-A7FC7DFFCE57}"/>
              </a:ext>
            </a:extLst>
          </p:cNvPr>
          <p:cNvSpPr>
            <a:spLocks xmlns:a="http://schemas.openxmlformats.org/drawingml/2006/main" noGrp="1"/>
          </p:cNvSpPr>
          <p:nvPr/>
        </p:nvSpPr>
        <p:spPr>
          <a:xfrm xmlns:a="http://schemas.openxmlformats.org/drawingml/2006/main">
            <a:off x="1104900" y="3895725"/>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Timestamped strategy contract</a:t>
            </a:r>
          </a:p>
        </p:txBody>
      </p:sp>
      <p:sp>
        <p:nvSpPr>
          <p:cNvPr id="15" name="">
            <a:extLst xmlns:a="http://schemas.openxmlformats.org/drawingml/2006/main">
              <a:ext uri="{FF2B5EF4-FFF2-40B4-BE49-F238E27FC236}">
                <a16:creationId xmlns:a16="http://schemas.microsoft.com/office/drawing/2014/main" id="{58108640-2E58-4632-AA23-CE8578C35553}"/>
              </a:ext>
            </a:extLst>
          </p:cNvPr>
          <p:cNvSpPr>
            <a:spLocks xmlns:a="http://schemas.openxmlformats.org/drawingml/2006/main" noGrp="1"/>
          </p:cNvSpPr>
          <p:nvPr/>
        </p:nvSpPr>
        <p:spPr>
          <a:xfrm xmlns:a="http://schemas.openxmlformats.org/drawingml/2006/main">
            <a:off x="857250" y="45720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92985ED-3261-4D25-A2DF-94871476170B}"/>
              </a:ext>
            </a:extLst>
          </p:cNvPr>
          <p:cNvSpPr>
            <a:spLocks xmlns:a="http://schemas.openxmlformats.org/drawingml/2006/main" noGrp="1"/>
          </p:cNvSpPr>
          <p:nvPr/>
        </p:nvSpPr>
        <p:spPr>
          <a:xfrm xmlns:a="http://schemas.openxmlformats.org/drawingml/2006/main">
            <a:off x="1104900" y="4495800"/>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Working illustrative 3D interface</a:t>
            </a:r>
          </a:p>
        </p:txBody>
      </p:sp>
      <p:sp>
        <p:nvSpPr>
          <p:cNvPr id="17" name="">
            <a:extLst xmlns:a="http://schemas.openxmlformats.org/drawingml/2006/main">
              <a:ext uri="{FF2B5EF4-FFF2-40B4-BE49-F238E27FC236}">
                <a16:creationId xmlns:a16="http://schemas.microsoft.com/office/drawing/2014/main" id="{53DD0A40-AC40-4E3C-A0F2-A91EDA755F87}"/>
              </a:ext>
            </a:extLst>
          </p:cNvPr>
          <p:cNvSpPr>
            <a:spLocks xmlns:a="http://schemas.openxmlformats.org/drawingml/2006/main" noGrp="1"/>
          </p:cNvSpPr>
          <p:nvPr/>
        </p:nvSpPr>
        <p:spPr>
          <a:xfrm xmlns:a="http://schemas.openxmlformats.org/drawingml/2006/main">
            <a:off x="5981700" y="1600200"/>
            <a:ext cx="0" cy="3810000"/>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18" name="">
            <a:extLst xmlns:a="http://schemas.openxmlformats.org/drawingml/2006/main">
              <a:ext uri="{FF2B5EF4-FFF2-40B4-BE49-F238E27FC236}">
                <a16:creationId xmlns:a16="http://schemas.microsoft.com/office/drawing/2014/main" id="{1C1FD593-6F48-419B-91F2-A6989618BC2F}"/>
              </a:ext>
            </a:extLst>
          </p:cNvPr>
          <p:cNvSpPr>
            <a:spLocks xmlns:a="http://schemas.openxmlformats.org/drawingml/2006/main" noGrp="1"/>
          </p:cNvSpPr>
          <p:nvPr/>
        </p:nvSpPr>
        <p:spPr>
          <a:xfrm xmlns:a="http://schemas.openxmlformats.org/drawingml/2006/main">
            <a:off x="6762750" y="165735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E69B3A"/>
                </a:solidFill>
                <a:latin typeface="Arimo"/>
                <a:ea typeface="Arimo"/>
                <a:cs typeface="Arimo"/>
              </a:defRPr>
            </a:pPr>
            <a:r>
              <a:rPr sz="1425" b="1" i="0">
                <a:solidFill>
                  <a:srgbClr val="E69B3A"/>
                </a:solidFill>
                <a:latin typeface="Arimo"/>
                <a:ea typeface="Arimo"/>
                <a:cs typeface="Arimo"/>
              </a:rPr>
              <a:t>OUR PLANNED POC WORK</a:t>
            </a:r>
          </a:p>
        </p:txBody>
      </p:sp>
      <p:sp>
        <p:nvSpPr>
          <p:cNvPr id="19" name="">
            <a:extLst xmlns:a="http://schemas.openxmlformats.org/drawingml/2006/main">
              <a:ext uri="{FF2B5EF4-FFF2-40B4-BE49-F238E27FC236}">
                <a16:creationId xmlns:a16="http://schemas.microsoft.com/office/drawing/2014/main" id="{0C7340F7-7AB7-48F2-9C79-7D60AC8CF316}"/>
              </a:ext>
            </a:extLst>
          </p:cNvPr>
          <p:cNvSpPr>
            <a:spLocks xmlns:a="http://schemas.openxmlformats.org/drawingml/2006/main" noGrp="1"/>
          </p:cNvSpPr>
          <p:nvPr/>
        </p:nvSpPr>
        <p:spPr>
          <a:xfrm xmlns:a="http://schemas.openxmlformats.org/drawingml/2006/main">
            <a:off x="6819900" y="21717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6BCF2CC-D676-4ECA-8290-2507FD996A8C}"/>
              </a:ext>
            </a:extLst>
          </p:cNvPr>
          <p:cNvSpPr>
            <a:spLocks xmlns:a="http://schemas.openxmlformats.org/drawingml/2006/main" noGrp="1"/>
          </p:cNvSpPr>
          <p:nvPr/>
        </p:nvSpPr>
        <p:spPr>
          <a:xfrm xmlns:a="http://schemas.openxmlformats.org/drawingml/2006/main">
            <a:off x="7067550" y="2095500"/>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Synchronized causal dataset</a:t>
            </a:r>
          </a:p>
        </p:txBody>
      </p:sp>
      <p:sp>
        <p:nvSpPr>
          <p:cNvPr id="21" name="">
            <a:extLst xmlns:a="http://schemas.openxmlformats.org/drawingml/2006/main">
              <a:ext uri="{FF2B5EF4-FFF2-40B4-BE49-F238E27FC236}">
                <a16:creationId xmlns:a16="http://schemas.microsoft.com/office/drawing/2014/main" id="{BBD6DF42-B23C-4501-9C17-3283594D9D08}"/>
              </a:ext>
            </a:extLst>
          </p:cNvPr>
          <p:cNvSpPr>
            <a:spLocks xmlns:a="http://schemas.openxmlformats.org/drawingml/2006/main" noGrp="1"/>
          </p:cNvSpPr>
          <p:nvPr/>
        </p:nvSpPr>
        <p:spPr>
          <a:xfrm xmlns:a="http://schemas.openxmlformats.org/drawingml/2006/main">
            <a:off x="6819900" y="277177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B18A320-6A73-4786-860A-F8E42D2AFB05}"/>
              </a:ext>
            </a:extLst>
          </p:cNvPr>
          <p:cNvSpPr>
            <a:spLocks xmlns:a="http://schemas.openxmlformats.org/drawingml/2006/main" noGrp="1"/>
          </p:cNvSpPr>
          <p:nvPr/>
        </p:nvSpPr>
        <p:spPr>
          <a:xfrm xmlns:a="http://schemas.openxmlformats.org/drawingml/2006/main">
            <a:off x="7067550" y="2695575"/>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Validated and versioned engine</a:t>
            </a:r>
          </a:p>
        </p:txBody>
      </p:sp>
      <p:sp>
        <p:nvSpPr>
          <p:cNvPr id="23" name="">
            <a:extLst xmlns:a="http://schemas.openxmlformats.org/drawingml/2006/main">
              <a:ext uri="{FF2B5EF4-FFF2-40B4-BE49-F238E27FC236}">
                <a16:creationId xmlns:a16="http://schemas.microsoft.com/office/drawing/2014/main" id="{C02BF6E0-FEB4-40F2-B7C8-E1968D45BDDA}"/>
              </a:ext>
            </a:extLst>
          </p:cNvPr>
          <p:cNvSpPr>
            <a:spLocks xmlns:a="http://schemas.openxmlformats.org/drawingml/2006/main" noGrp="1"/>
          </p:cNvSpPr>
          <p:nvPr/>
        </p:nvSpPr>
        <p:spPr>
          <a:xfrm xmlns:a="http://schemas.openxmlformats.org/drawingml/2006/main">
            <a:off x="6819900" y="33718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EEE95F8-2EB8-48AC-882A-4E3C892A44C7}"/>
              </a:ext>
            </a:extLst>
          </p:cNvPr>
          <p:cNvSpPr>
            <a:spLocks xmlns:a="http://schemas.openxmlformats.org/drawingml/2006/main" noGrp="1"/>
          </p:cNvSpPr>
          <p:nvPr/>
        </p:nvSpPr>
        <p:spPr>
          <a:xfrm xmlns:a="http://schemas.openxmlformats.org/drawingml/2006/main">
            <a:off x="7067550" y="3295650"/>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Uncertainty and unsupported-region checks</a:t>
            </a:r>
          </a:p>
        </p:txBody>
      </p:sp>
      <p:sp>
        <p:nvSpPr>
          <p:cNvPr id="25" name="">
            <a:extLst xmlns:a="http://schemas.openxmlformats.org/drawingml/2006/main">
              <a:ext uri="{FF2B5EF4-FFF2-40B4-BE49-F238E27FC236}">
                <a16:creationId xmlns:a16="http://schemas.microsoft.com/office/drawing/2014/main" id="{7F1123AA-EF9F-4D12-B9EC-CC43DD26B72C}"/>
              </a:ext>
            </a:extLst>
          </p:cNvPr>
          <p:cNvSpPr>
            <a:spLocks xmlns:a="http://schemas.openxmlformats.org/drawingml/2006/main" noGrp="1"/>
          </p:cNvSpPr>
          <p:nvPr/>
        </p:nvSpPr>
        <p:spPr>
          <a:xfrm xmlns:a="http://schemas.openxmlformats.org/drawingml/2006/main">
            <a:off x="6819900" y="397192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52A5D2B-0800-4786-9A34-1FF922FE06EB}"/>
              </a:ext>
            </a:extLst>
          </p:cNvPr>
          <p:cNvSpPr>
            <a:spLocks xmlns:a="http://schemas.openxmlformats.org/drawingml/2006/main" noGrp="1"/>
          </p:cNvSpPr>
          <p:nvPr/>
        </p:nvSpPr>
        <p:spPr>
          <a:xfrm xmlns:a="http://schemas.openxmlformats.org/drawingml/2006/main">
            <a:off x="7067550" y="3895725"/>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Energy indicators and operating constraints</a:t>
            </a:r>
          </a:p>
        </p:txBody>
      </p:sp>
      <p:sp>
        <p:nvSpPr>
          <p:cNvPr id="27" name="">
            <a:extLst xmlns:a="http://schemas.openxmlformats.org/drawingml/2006/main">
              <a:ext uri="{FF2B5EF4-FFF2-40B4-BE49-F238E27FC236}">
                <a16:creationId xmlns:a16="http://schemas.microsoft.com/office/drawing/2014/main" id="{93C26BA0-C8CF-4953-A55C-A719C688E6B0}"/>
              </a:ext>
            </a:extLst>
          </p:cNvPr>
          <p:cNvSpPr>
            <a:spLocks xmlns:a="http://schemas.openxmlformats.org/drawingml/2006/main" noGrp="1"/>
          </p:cNvSpPr>
          <p:nvPr/>
        </p:nvSpPr>
        <p:spPr>
          <a:xfrm xmlns:a="http://schemas.openxmlformats.org/drawingml/2006/main">
            <a:off x="6819900" y="45720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9C79999-70B3-49E5-8179-2F961F6D4D8C}"/>
              </a:ext>
            </a:extLst>
          </p:cNvPr>
          <p:cNvSpPr>
            <a:spLocks xmlns:a="http://schemas.openxmlformats.org/drawingml/2006/main" noGrp="1"/>
          </p:cNvSpPr>
          <p:nvPr/>
        </p:nvSpPr>
        <p:spPr>
          <a:xfrm xmlns:a="http://schemas.openxmlformats.org/drawingml/2006/main">
            <a:off x="7067550" y="4495800"/>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Historical replay and operator acceptance</a:t>
            </a:r>
          </a:p>
        </p:txBody>
      </p:sp>
      <p:sp>
        <p:nvSpPr>
          <p:cNvPr id="29" name="">
            <a:extLst xmlns:a="http://schemas.openxmlformats.org/drawingml/2006/main">
              <a:ext uri="{FF2B5EF4-FFF2-40B4-BE49-F238E27FC236}">
                <a16:creationId xmlns:a16="http://schemas.microsoft.com/office/drawing/2014/main" id="{60A2E941-8998-4762-B66C-C8116378E339}"/>
              </a:ext>
            </a:extLst>
          </p:cNvPr>
          <p:cNvSpPr>
            <a:spLocks xmlns:a="http://schemas.openxmlformats.org/drawingml/2006/main" noGrp="1"/>
          </p:cNvSpPr>
          <p:nvPr/>
        </p:nvSpPr>
        <p:spPr>
          <a:xfrm xmlns:a="http://schemas.openxmlformats.org/drawingml/2006/main">
            <a:off x="1571625" y="5619750"/>
            <a:ext cx="9048750" cy="476250"/>
          </a:xfrm>
          <a:prstGeom xmlns:a="http://schemas.openxmlformats.org/drawingml/2006/main" prst="roundRect">
            <a:avLst>
              <a:gd name="adj" fmla="val 32000"/>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0698"/>
          </a:bodyPr>
          <a:lstStyle xmlns:a="http://schemas.openxmlformats.org/drawingml/2006/main"/>
          <a:p xmlns:a="http://schemas.openxmlformats.org/drawingml/2006/main">
            <a:pPr algn="ctr">
              <a:lnSpc>
                <a:spcPct val="100000"/>
              </a:lnSpc>
              <a:buNone/>
              <a:defRPr sz="1575" b="1">
                <a:solidFill>
                  <a:srgbClr val="10251D"/>
                </a:solidFill>
                <a:latin typeface="Arimo"/>
                <a:ea typeface="Arimo"/>
                <a:cs typeface="Arimo"/>
              </a:defRPr>
            </a:pPr>
            <a:r>
              <a:rPr sz="1575" b="1">
                <a:solidFill>
                  <a:srgbClr val="10251D"/>
                </a:solidFill>
                <a:latin typeface="Arimo"/>
                <a:ea typeface="Arimo"/>
                <a:cs typeface="Arimo"/>
              </a:rPr>
              <a:t>No survey-grade CAD, E57 conversion, equipment write access, or autonomous control in this phase</a:t>
            </a:r>
          </a:p>
        </p:txBody>
      </p:sp>
    </p:spTree>
    <p:extLst>
      <p:ext uri="{BB962C8B-B14F-4D97-AF65-F5344CB8AC3E}">
        <p14:creationId xmlns:p14="http://schemas.microsoft.com/office/powerpoint/2010/main" val="1234600360"/>
      </p:ext>
    </p:extLst>
  </p:cSld>
</p:sld>
</file>

<file path=ppt/slides/slide18.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6164ACB-D56F-4738-BA60-351F6DEF3A7C}"/>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A5D786E-F332-4F1B-8C0C-02D7C86B5421}"/>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Required data and validation gates</a:t>
            </a:r>
          </a:p>
        </p:txBody>
      </p:sp>
      <p:sp>
        <p:nvSpPr>
          <p:cNvPr id="3" name="">
            <a:extLst xmlns:a="http://schemas.openxmlformats.org/drawingml/2006/main">
              <a:ext uri="{FF2B5EF4-FFF2-40B4-BE49-F238E27FC236}">
                <a16:creationId xmlns:a16="http://schemas.microsoft.com/office/drawing/2014/main" id="{E5C65C24-2207-4FF3-9732-FB1691BF56E8}"/>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Our engine evaluation requires aligned histories and protected holdout periods</a:t>
            </a:r>
          </a:p>
        </p:txBody>
      </p:sp>
      <p:sp>
        <p:nvSpPr>
          <p:cNvPr id="4" name="">
            <a:extLst xmlns:a="http://schemas.openxmlformats.org/drawingml/2006/main">
              <a:ext uri="{FF2B5EF4-FFF2-40B4-BE49-F238E27FC236}">
                <a16:creationId xmlns:a16="http://schemas.microsoft.com/office/drawing/2014/main" id="{C7F036FC-C08F-4734-B54E-A75127C511A3}"/>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395B296D-02B1-4E5F-B537-D3CF80218F34}"/>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18</a:t>
            </a:r>
          </a:p>
        </p:txBody>
      </p:sp>
      <p:sp>
        <p:nvSpPr>
          <p:cNvPr id="6" name="">
            <a:extLst xmlns:a="http://schemas.openxmlformats.org/drawingml/2006/main">
              <a:ext uri="{FF2B5EF4-FFF2-40B4-BE49-F238E27FC236}">
                <a16:creationId xmlns:a16="http://schemas.microsoft.com/office/drawing/2014/main" id="{A72EB184-F6DE-497F-A32A-1DF5FEE90269}"/>
              </a:ext>
            </a:extLst>
          </p:cNvPr>
          <p:cNvSpPr>
            <a:spLocks xmlns:a="http://schemas.openxmlformats.org/drawingml/2006/main" noGrp="1"/>
          </p:cNvSpPr>
          <p:nvPr/>
        </p:nvSpPr>
        <p:spPr>
          <a:xfrm xmlns:a="http://schemas.openxmlformats.org/drawingml/2006/main">
            <a:off x="723900" y="161925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167A55"/>
                </a:solidFill>
                <a:latin typeface="Arimo"/>
                <a:ea typeface="Arimo"/>
                <a:cs typeface="Arimo"/>
              </a:defRPr>
            </a:pPr>
            <a:r>
              <a:rPr sz="1425" b="1" i="0">
                <a:solidFill>
                  <a:srgbClr val="167A55"/>
                </a:solidFill>
                <a:latin typeface="Arimo"/>
                <a:ea typeface="Arimo"/>
                <a:cs typeface="Arimo"/>
              </a:rPr>
              <a:t>REQUIRED EVIDENCE</a:t>
            </a:r>
          </a:p>
        </p:txBody>
      </p:sp>
      <p:sp>
        <p:nvSpPr>
          <p:cNvPr id="7" name="">
            <a:extLst xmlns:a="http://schemas.openxmlformats.org/drawingml/2006/main">
              <a:ext uri="{FF2B5EF4-FFF2-40B4-BE49-F238E27FC236}">
                <a16:creationId xmlns:a16="http://schemas.microsoft.com/office/drawing/2014/main" id="{C724C273-408C-40AA-957F-91E60E0481E8}"/>
              </a:ext>
            </a:extLst>
          </p:cNvPr>
          <p:cNvSpPr>
            <a:spLocks xmlns:a="http://schemas.openxmlformats.org/drawingml/2006/main" noGrp="1"/>
          </p:cNvSpPr>
          <p:nvPr/>
        </p:nvSpPr>
        <p:spPr>
          <a:xfrm xmlns:a="http://schemas.openxmlformats.org/drawingml/2006/main">
            <a:off x="809625" y="21717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CEF282C-0E47-41BB-BC28-1A062F5FD1AB}"/>
              </a:ext>
            </a:extLst>
          </p:cNvPr>
          <p:cNvSpPr>
            <a:spLocks xmlns:a="http://schemas.openxmlformats.org/drawingml/2006/main" noGrp="1"/>
          </p:cNvSpPr>
          <p:nvPr/>
        </p:nvSpPr>
        <p:spPr>
          <a:xfrm xmlns:a="http://schemas.openxmlformats.org/drawingml/2006/main">
            <a:off x="1057275" y="2095500"/>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Commands + actual actuator states</a:t>
            </a:r>
          </a:p>
        </p:txBody>
      </p:sp>
      <p:sp>
        <p:nvSpPr>
          <p:cNvPr id="9" name="">
            <a:extLst xmlns:a="http://schemas.openxmlformats.org/drawingml/2006/main">
              <a:ext uri="{FF2B5EF4-FFF2-40B4-BE49-F238E27FC236}">
                <a16:creationId xmlns:a16="http://schemas.microsoft.com/office/drawing/2014/main" id="{7C82DF55-1548-48C0-8C05-5EEB09D89C64}"/>
              </a:ext>
            </a:extLst>
          </p:cNvPr>
          <p:cNvSpPr>
            <a:spLocks xmlns:a="http://schemas.openxmlformats.org/drawingml/2006/main" noGrp="1"/>
          </p:cNvSpPr>
          <p:nvPr/>
        </p:nvSpPr>
        <p:spPr>
          <a:xfrm xmlns:a="http://schemas.openxmlformats.org/drawingml/2006/main">
            <a:off x="809625" y="27908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9EE4D52-2D0B-415E-AA60-935F1D05F9DD}"/>
              </a:ext>
            </a:extLst>
          </p:cNvPr>
          <p:cNvSpPr>
            <a:spLocks xmlns:a="http://schemas.openxmlformats.org/drawingml/2006/main" noGrp="1"/>
          </p:cNvSpPr>
          <p:nvPr/>
        </p:nvSpPr>
        <p:spPr>
          <a:xfrm xmlns:a="http://schemas.openxmlformats.org/drawingml/2006/main">
            <a:off x="1057275" y="2714625"/>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T/RH + quality flags</a:t>
            </a:r>
          </a:p>
        </p:txBody>
      </p:sp>
      <p:sp>
        <p:nvSpPr>
          <p:cNvPr id="11" name="">
            <a:extLst xmlns:a="http://schemas.openxmlformats.org/drawingml/2006/main">
              <a:ext uri="{FF2B5EF4-FFF2-40B4-BE49-F238E27FC236}">
                <a16:creationId xmlns:a16="http://schemas.microsoft.com/office/drawing/2014/main" id="{8E8BB341-125E-4400-B507-4CE212031D21}"/>
              </a:ext>
            </a:extLst>
          </p:cNvPr>
          <p:cNvSpPr>
            <a:spLocks xmlns:a="http://schemas.openxmlformats.org/drawingml/2006/main" noGrp="1"/>
          </p:cNvSpPr>
          <p:nvPr/>
        </p:nvSpPr>
        <p:spPr>
          <a:xfrm xmlns:a="http://schemas.openxmlformats.org/drawingml/2006/main">
            <a:off x="809625" y="34099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840308C-BC76-4FE2-AFAD-08680C256DDE}"/>
              </a:ext>
            </a:extLst>
          </p:cNvPr>
          <p:cNvSpPr>
            <a:spLocks xmlns:a="http://schemas.openxmlformats.org/drawingml/2006/main" noGrp="1"/>
          </p:cNvSpPr>
          <p:nvPr/>
        </p:nvSpPr>
        <p:spPr>
          <a:xfrm xmlns:a="http://schemas.openxmlformats.org/drawingml/2006/main">
            <a:off x="1057275" y="3333750"/>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Weather + operating modes</a:t>
            </a:r>
          </a:p>
        </p:txBody>
      </p:sp>
      <p:sp>
        <p:nvSpPr>
          <p:cNvPr id="13" name="">
            <a:extLst xmlns:a="http://schemas.openxmlformats.org/drawingml/2006/main">
              <a:ext uri="{FF2B5EF4-FFF2-40B4-BE49-F238E27FC236}">
                <a16:creationId xmlns:a16="http://schemas.microsoft.com/office/drawing/2014/main" id="{1C2F6EB6-84B6-44CD-8A30-3B6A9A2BD4E8}"/>
              </a:ext>
            </a:extLst>
          </p:cNvPr>
          <p:cNvSpPr>
            <a:spLocks xmlns:a="http://schemas.openxmlformats.org/drawingml/2006/main" noGrp="1"/>
          </p:cNvSpPr>
          <p:nvPr/>
        </p:nvSpPr>
        <p:spPr>
          <a:xfrm xmlns:a="http://schemas.openxmlformats.org/drawingml/2006/main">
            <a:off x="809625" y="40290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98278EE-1FE6-450F-9388-AA0C2964B56B}"/>
              </a:ext>
            </a:extLst>
          </p:cNvPr>
          <p:cNvSpPr>
            <a:spLocks xmlns:a="http://schemas.openxmlformats.org/drawingml/2006/main" noGrp="1"/>
          </p:cNvSpPr>
          <p:nvPr/>
        </p:nvSpPr>
        <p:spPr>
          <a:xfrm xmlns:a="http://schemas.openxmlformats.org/drawingml/2006/main">
            <a:off x="1057275" y="3952875"/>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Energy or equipment power</a:t>
            </a:r>
          </a:p>
        </p:txBody>
      </p:sp>
      <p:sp>
        <p:nvSpPr>
          <p:cNvPr id="15" name="">
            <a:extLst xmlns:a="http://schemas.openxmlformats.org/drawingml/2006/main">
              <a:ext uri="{FF2B5EF4-FFF2-40B4-BE49-F238E27FC236}">
                <a16:creationId xmlns:a16="http://schemas.microsoft.com/office/drawing/2014/main" id="{DF402F78-67E7-4CAE-AA27-DA61F757A13A}"/>
              </a:ext>
            </a:extLst>
          </p:cNvPr>
          <p:cNvSpPr>
            <a:spLocks xmlns:a="http://schemas.openxmlformats.org/drawingml/2006/main" noGrp="1"/>
          </p:cNvSpPr>
          <p:nvPr/>
        </p:nvSpPr>
        <p:spPr>
          <a:xfrm xmlns:a="http://schemas.openxmlformats.org/drawingml/2006/main">
            <a:off x="809625" y="46482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0A0441-2B38-494F-A624-BF3EBD480484}"/>
              </a:ext>
            </a:extLst>
          </p:cNvPr>
          <p:cNvSpPr>
            <a:spLocks xmlns:a="http://schemas.openxmlformats.org/drawingml/2006/main" noGrp="1"/>
          </p:cNvSpPr>
          <p:nvPr/>
        </p:nvSpPr>
        <p:spPr>
          <a:xfrm xmlns:a="http://schemas.openxmlformats.org/drawingml/2006/main">
            <a:off x="1057275" y="4572000"/>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Maintenance and schedule events</a:t>
            </a:r>
          </a:p>
        </p:txBody>
      </p:sp>
      <p:sp>
        <p:nvSpPr>
          <p:cNvPr id="17" name="">
            <a:extLst xmlns:a="http://schemas.openxmlformats.org/drawingml/2006/main">
              <a:ext uri="{FF2B5EF4-FFF2-40B4-BE49-F238E27FC236}">
                <a16:creationId xmlns:a16="http://schemas.microsoft.com/office/drawing/2014/main" id="{2E3DEB5E-6260-4118-B62A-8BDDFC21BA49}"/>
              </a:ext>
            </a:extLst>
          </p:cNvPr>
          <p:cNvSpPr>
            <a:spLocks xmlns:a="http://schemas.openxmlformats.org/drawingml/2006/main" noGrp="1"/>
          </p:cNvSpPr>
          <p:nvPr/>
        </p:nvSpPr>
        <p:spPr>
          <a:xfrm xmlns:a="http://schemas.openxmlformats.org/drawingml/2006/main">
            <a:off x="5095875" y="2905125"/>
            <a:ext cx="1952625" cy="1028700"/>
          </a:xfrm>
          <a:prstGeom xmlns:a="http://schemas.openxmlformats.org/drawingml/2006/main" prst="roundRect">
            <a:avLst>
              <a:gd name="adj" fmla="val 14815"/>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FFFFFF"/>
                </a:solidFill>
                <a:latin typeface="Arimo"/>
                <a:ea typeface="Arimo"/>
                <a:cs typeface="Arimo"/>
              </a:defRPr>
            </a:pPr>
            <a:r>
              <a:rPr sz="1800" b="1">
                <a:solidFill>
                  <a:srgbClr val="FFFFFF"/>
                </a:solidFill>
                <a:latin typeface="Arimo"/>
                <a:ea typeface="Arimo"/>
                <a:cs typeface="Arimo"/>
              </a:rPr>
              <a:t>VALIDATION</a:t>
            </a:r>
          </a:p>
          <a:p xmlns:a="http://schemas.openxmlformats.org/drawingml/2006/main">
            <a:pPr algn="ctr">
              <a:lnSpc>
                <a:spcPct val="100000"/>
              </a:lnSpc>
              <a:buNone/>
              <a:defRPr sz="1800" b="1">
                <a:solidFill>
                  <a:srgbClr val="FFFFFF"/>
                </a:solidFill>
                <a:latin typeface="Arimo"/>
                <a:ea typeface="Arimo"/>
                <a:cs typeface="Arimo"/>
              </a:defRPr>
            </a:pPr>
            <a:r>
              <a:rPr sz="1800" b="1">
                <a:solidFill>
                  <a:srgbClr val="FFFFFF"/>
                </a:solidFill>
                <a:latin typeface="Arimo"/>
                <a:ea typeface="Arimo"/>
                <a:cs typeface="Arimo"/>
              </a:rPr>
              <a:t>GATE</a:t>
            </a:r>
          </a:p>
        </p:txBody>
      </p:sp>
      <p:sp>
        <p:nvSpPr>
          <p:cNvPr id="18" name="">
            <a:extLst xmlns:a="http://schemas.openxmlformats.org/drawingml/2006/main">
              <a:ext uri="{FF2B5EF4-FFF2-40B4-BE49-F238E27FC236}">
                <a16:creationId xmlns:a16="http://schemas.microsoft.com/office/drawing/2014/main" id="{2B57642F-60AB-4E29-A776-E442BE4B6A83}"/>
              </a:ext>
            </a:extLst>
          </p:cNvPr>
          <p:cNvSpPr>
            <a:spLocks xmlns:a="http://schemas.openxmlformats.org/drawingml/2006/main" noGrp="1"/>
          </p:cNvSpPr>
          <p:nvPr/>
        </p:nvSpPr>
        <p:spPr>
          <a:xfrm xmlns:a="http://schemas.openxmlformats.org/drawingml/2006/main">
            <a:off x="7334250" y="16192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E69B3A"/>
                </a:solidFill>
                <a:latin typeface="Arimo"/>
                <a:ea typeface="Arimo"/>
                <a:cs typeface="Arimo"/>
              </a:defRPr>
            </a:pPr>
            <a:r>
              <a:rPr sz="1425" b="1" i="0">
                <a:solidFill>
                  <a:srgbClr val="E69B3A"/>
                </a:solidFill>
                <a:latin typeface="Arimo"/>
                <a:ea typeface="Arimo"/>
                <a:cs typeface="Arimo"/>
              </a:rPr>
              <a:t>ACCEPTANCE CHECKS</a:t>
            </a:r>
          </a:p>
        </p:txBody>
      </p:sp>
      <p:sp>
        <p:nvSpPr>
          <p:cNvPr id="19" name="">
            <a:extLst xmlns:a="http://schemas.openxmlformats.org/drawingml/2006/main">
              <a:ext uri="{FF2B5EF4-FFF2-40B4-BE49-F238E27FC236}">
                <a16:creationId xmlns:a16="http://schemas.microsoft.com/office/drawing/2014/main" id="{BCD19156-8FDC-48EE-BB01-D825866AA9E9}"/>
              </a:ext>
            </a:extLst>
          </p:cNvPr>
          <p:cNvSpPr>
            <a:spLocks xmlns:a="http://schemas.openxmlformats.org/drawingml/2006/main" noGrp="1"/>
          </p:cNvSpPr>
          <p:nvPr/>
        </p:nvSpPr>
        <p:spPr>
          <a:xfrm xmlns:a="http://schemas.openxmlformats.org/drawingml/2006/main">
            <a:off x="7353300" y="21717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72698C3-2485-4A47-B523-C8B219AE6DEC}"/>
              </a:ext>
            </a:extLst>
          </p:cNvPr>
          <p:cNvSpPr>
            <a:spLocks xmlns:a="http://schemas.openxmlformats.org/drawingml/2006/main" noGrp="1"/>
          </p:cNvSpPr>
          <p:nvPr/>
        </p:nvSpPr>
        <p:spPr>
          <a:xfrm xmlns:a="http://schemas.openxmlformats.org/drawingml/2006/main">
            <a:off x="7600950" y="2095500"/>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Chronological holdout periods</a:t>
            </a:r>
          </a:p>
        </p:txBody>
      </p:sp>
      <p:sp>
        <p:nvSpPr>
          <p:cNvPr id="21" name="">
            <a:extLst xmlns:a="http://schemas.openxmlformats.org/drawingml/2006/main">
              <a:ext uri="{FF2B5EF4-FFF2-40B4-BE49-F238E27FC236}">
                <a16:creationId xmlns:a16="http://schemas.microsoft.com/office/drawing/2014/main" id="{D3402664-BD02-4E8A-8F6D-90F232570722}"/>
              </a:ext>
            </a:extLst>
          </p:cNvPr>
          <p:cNvSpPr>
            <a:spLocks xmlns:a="http://schemas.openxmlformats.org/drawingml/2006/main" noGrp="1"/>
          </p:cNvSpPr>
          <p:nvPr/>
        </p:nvSpPr>
        <p:spPr>
          <a:xfrm xmlns:a="http://schemas.openxmlformats.org/drawingml/2006/main">
            <a:off x="7353300" y="279082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6299524-600D-4886-9992-A22D41DB776B}"/>
              </a:ext>
            </a:extLst>
          </p:cNvPr>
          <p:cNvSpPr>
            <a:spLocks xmlns:a="http://schemas.openxmlformats.org/drawingml/2006/main" noGrp="1"/>
          </p:cNvSpPr>
          <p:nvPr/>
        </p:nvSpPr>
        <p:spPr>
          <a:xfrm xmlns:a="http://schemas.openxmlformats.org/drawingml/2006/main">
            <a:off x="7600950" y="2714625"/>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Error by channel and horizon</a:t>
            </a:r>
          </a:p>
        </p:txBody>
      </p:sp>
      <p:sp>
        <p:nvSpPr>
          <p:cNvPr id="23" name="">
            <a:extLst xmlns:a="http://schemas.openxmlformats.org/drawingml/2006/main">
              <a:ext uri="{FF2B5EF4-FFF2-40B4-BE49-F238E27FC236}">
                <a16:creationId xmlns:a16="http://schemas.microsoft.com/office/drawing/2014/main" id="{194A4712-0080-4834-B130-A4CAFDC3311E}"/>
              </a:ext>
            </a:extLst>
          </p:cNvPr>
          <p:cNvSpPr>
            <a:spLocks xmlns:a="http://schemas.openxmlformats.org/drawingml/2006/main" noGrp="1"/>
          </p:cNvSpPr>
          <p:nvPr/>
        </p:nvSpPr>
        <p:spPr>
          <a:xfrm xmlns:a="http://schemas.openxmlformats.org/drawingml/2006/main">
            <a:off x="7353300" y="34099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477E817-5AA3-4DBD-84ED-65168AB10972}"/>
              </a:ext>
            </a:extLst>
          </p:cNvPr>
          <p:cNvSpPr>
            <a:spLocks xmlns:a="http://schemas.openxmlformats.org/drawingml/2006/main" noGrp="1"/>
          </p:cNvSpPr>
          <p:nvPr/>
        </p:nvSpPr>
        <p:spPr>
          <a:xfrm xmlns:a="http://schemas.openxmlformats.org/drawingml/2006/main">
            <a:off x="7600950" y="3333750"/>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Constraint-event detection</a:t>
            </a:r>
          </a:p>
        </p:txBody>
      </p:sp>
      <p:sp>
        <p:nvSpPr>
          <p:cNvPr id="25" name="">
            <a:extLst xmlns:a="http://schemas.openxmlformats.org/drawingml/2006/main">
              <a:ext uri="{FF2B5EF4-FFF2-40B4-BE49-F238E27FC236}">
                <a16:creationId xmlns:a16="http://schemas.microsoft.com/office/drawing/2014/main" id="{2304F8A3-6ED9-4680-9C67-27DD19A121C4}"/>
              </a:ext>
            </a:extLst>
          </p:cNvPr>
          <p:cNvSpPr>
            <a:spLocks xmlns:a="http://schemas.openxmlformats.org/drawingml/2006/main" noGrp="1"/>
          </p:cNvSpPr>
          <p:nvPr/>
        </p:nvSpPr>
        <p:spPr>
          <a:xfrm xmlns:a="http://schemas.openxmlformats.org/drawingml/2006/main">
            <a:off x="7353300" y="402907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83916FFC-26DB-43D5-A589-23006A885152}"/>
              </a:ext>
            </a:extLst>
          </p:cNvPr>
          <p:cNvSpPr>
            <a:spLocks xmlns:a="http://schemas.openxmlformats.org/drawingml/2006/main" noGrp="1"/>
          </p:cNvSpPr>
          <p:nvPr/>
        </p:nvSpPr>
        <p:spPr>
          <a:xfrm xmlns:a="http://schemas.openxmlformats.org/drawingml/2006/main">
            <a:off x="7600950" y="3952875"/>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Uncertainty calibration</a:t>
            </a:r>
          </a:p>
        </p:txBody>
      </p:sp>
      <p:sp>
        <p:nvSpPr>
          <p:cNvPr id="27" name="">
            <a:extLst xmlns:a="http://schemas.openxmlformats.org/drawingml/2006/main">
              <a:ext uri="{FF2B5EF4-FFF2-40B4-BE49-F238E27FC236}">
                <a16:creationId xmlns:a16="http://schemas.microsoft.com/office/drawing/2014/main" id="{ACD4515E-ECED-4B77-9C6D-57233CB6DD09}"/>
              </a:ext>
            </a:extLst>
          </p:cNvPr>
          <p:cNvSpPr>
            <a:spLocks xmlns:a="http://schemas.openxmlformats.org/drawingml/2006/main" noGrp="1"/>
          </p:cNvSpPr>
          <p:nvPr/>
        </p:nvSpPr>
        <p:spPr>
          <a:xfrm xmlns:a="http://schemas.openxmlformats.org/drawingml/2006/main">
            <a:off x="7353300" y="46482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3788A49-BB69-4216-B200-E575F6ABBEE2}"/>
              </a:ext>
            </a:extLst>
          </p:cNvPr>
          <p:cNvSpPr>
            <a:spLocks xmlns:a="http://schemas.openxmlformats.org/drawingml/2006/main" noGrp="1"/>
          </p:cNvSpPr>
          <p:nvPr/>
        </p:nvSpPr>
        <p:spPr>
          <a:xfrm xmlns:a="http://schemas.openxmlformats.org/drawingml/2006/main">
            <a:off x="7600950" y="4572000"/>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Reject unsupported scenarios</a:t>
            </a:r>
          </a:p>
        </p:txBody>
      </p:sp>
      <p:sp>
        <p:nvSpPr>
          <p:cNvPr id="29" name="">
            <a:extLst xmlns:a="http://schemas.openxmlformats.org/drawingml/2006/main">
              <a:ext uri="{FF2B5EF4-FFF2-40B4-BE49-F238E27FC236}">
                <a16:creationId xmlns:a16="http://schemas.microsoft.com/office/drawing/2014/main" id="{7D12CC05-67A4-4289-8329-DF23732E346A}"/>
              </a:ext>
            </a:extLst>
          </p:cNvPr>
          <p:cNvSpPr>
            <a:spLocks xmlns:a="http://schemas.openxmlformats.org/drawingml/2006/main" noGrp="1"/>
          </p:cNvSpPr>
          <p:nvPr/>
        </p:nvSpPr>
        <p:spPr>
          <a:xfrm xmlns:a="http://schemas.openxmlformats.org/drawingml/2006/main">
            <a:off x="5619750" y="2190750"/>
            <a:ext cx="0" cy="495300"/>
          </a:xfrm>
          <a:prstGeom xmlns:a="http://schemas.openxmlformats.org/drawingml/2006/main" prst="line">
            <a:avLst/>
          </a:prstGeom>
          <a:noFill xmlns:a="http://schemas.openxmlformats.org/drawingml/2006/main"/>
          <a:ln xmlns:a="http://schemas.openxmlformats.org/drawingml/2006/main" w="28575">
            <a:solidFill>
              <a:srgbClr val="167A55"/>
            </a:solidFill>
            <a:prstDash val="solid"/>
          </a:ln>
        </p:spPr>
      </p:sp>
      <p:sp>
        <p:nvSpPr>
          <p:cNvPr id="30" name="">
            <a:extLst xmlns:a="http://schemas.openxmlformats.org/drawingml/2006/main">
              <a:ext uri="{FF2B5EF4-FFF2-40B4-BE49-F238E27FC236}">
                <a16:creationId xmlns:a16="http://schemas.microsoft.com/office/drawing/2014/main" id="{A9A4745E-EBEF-4912-8858-B2AD7D707DA9}"/>
              </a:ext>
            </a:extLst>
          </p:cNvPr>
          <p:cNvSpPr>
            <a:spLocks xmlns:a="http://schemas.openxmlformats.org/drawingml/2006/main" noGrp="1"/>
          </p:cNvSpPr>
          <p:nvPr/>
        </p:nvSpPr>
        <p:spPr>
          <a:xfrm xmlns:a="http://schemas.openxmlformats.org/drawingml/2006/main">
            <a:off x="6496050" y="3981450"/>
            <a:ext cx="0" cy="714375"/>
          </a:xfrm>
          <a:prstGeom xmlns:a="http://schemas.openxmlformats.org/drawingml/2006/main" prst="line">
            <a:avLst/>
          </a:prstGeom>
          <a:noFill xmlns:a="http://schemas.openxmlformats.org/drawingml/2006/main"/>
          <a:ln xmlns:a="http://schemas.openxmlformats.org/drawingml/2006/main" w="28575">
            <a:solidFill>
              <a:srgbClr val="E69B3A"/>
            </a:solidFill>
            <a:prstDash val="solid"/>
          </a:ln>
        </p:spPr>
      </p:sp>
      <p:sp>
        <p:nvSpPr>
          <p:cNvPr id="31" name="">
            <a:extLst xmlns:a="http://schemas.openxmlformats.org/drawingml/2006/main">
              <a:ext uri="{FF2B5EF4-FFF2-40B4-BE49-F238E27FC236}">
                <a16:creationId xmlns:a16="http://schemas.microsoft.com/office/drawing/2014/main" id="{347E18F5-9B1F-418C-A9ED-39CBDF2EF732}"/>
              </a:ext>
            </a:extLst>
          </p:cNvPr>
          <p:cNvSpPr>
            <a:spLocks xmlns:a="http://schemas.openxmlformats.org/drawingml/2006/main" noGrp="1"/>
          </p:cNvSpPr>
          <p:nvPr/>
        </p:nvSpPr>
        <p:spPr>
          <a:xfrm xmlns:a="http://schemas.openxmlformats.org/drawingml/2006/main">
            <a:off x="3676650" y="5314950"/>
            <a:ext cx="4857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875" b="1" i="0">
                <a:solidFill>
                  <a:srgbClr val="B85246"/>
                </a:solidFill>
                <a:latin typeface="Arimo"/>
                <a:ea typeface="Arimo"/>
                <a:cs typeface="Arimo"/>
              </a:defRPr>
            </a:pPr>
            <a:r>
              <a:rPr sz="1875" b="1" i="0">
                <a:solidFill>
                  <a:srgbClr val="B85246"/>
                </a:solidFill>
                <a:latin typeface="Arimo"/>
                <a:ea typeface="Arimo"/>
                <a:cs typeface="Arimo"/>
              </a:rPr>
              <a:t>Data alignment is the first technical risk</a:t>
            </a:r>
          </a:p>
        </p:txBody>
      </p:sp>
    </p:spTree>
    <p:extLst>
      <p:ext uri="{BB962C8B-B14F-4D97-AF65-F5344CB8AC3E}">
        <p14:creationId xmlns:p14="http://schemas.microsoft.com/office/powerpoint/2010/main" val="2072563570"/>
      </p:ext>
    </p:extLst>
  </p:cSld>
</p:sld>
</file>

<file path=ppt/slides/slide19.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3AE46A6-DD56-47F9-A0BB-917CCD11BA0C}"/>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8F2AC63-DB3C-4DA2-95B1-552A657396D8}"/>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75" b="1" i="0">
                <a:solidFill>
                  <a:srgbClr val="10251D"/>
                </a:solidFill>
                <a:latin typeface="Arimo"/>
                <a:ea typeface="Arimo"/>
                <a:cs typeface="Arimo"/>
              </a:defRPr>
            </a:pPr>
            <a:r>
              <a:rPr sz="2475" b="1" i="0">
                <a:solidFill>
                  <a:srgbClr val="10251D"/>
                </a:solidFill>
                <a:latin typeface="Arimo"/>
                <a:ea typeface="Arimo"/>
                <a:cs typeface="Arimo"/>
              </a:rPr>
              <a:t>Q&amp;A: accuracy and observability</a:t>
            </a:r>
          </a:p>
        </p:txBody>
      </p:sp>
      <p:sp>
        <p:nvSpPr>
          <p:cNvPr id="3" name="">
            <a:extLst xmlns:a="http://schemas.openxmlformats.org/drawingml/2006/main">
              <a:ext uri="{FF2B5EF4-FFF2-40B4-BE49-F238E27FC236}">
                <a16:creationId xmlns:a16="http://schemas.microsoft.com/office/drawing/2014/main" id="{FD4F89EE-779B-479A-8B49-9183B5899D84}"/>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Prediction quality must be reported by use case, horizon, and operating region</a:t>
            </a:r>
          </a:p>
        </p:txBody>
      </p:sp>
      <p:sp>
        <p:nvSpPr>
          <p:cNvPr id="4" name="">
            <a:extLst xmlns:a="http://schemas.openxmlformats.org/drawingml/2006/main">
              <a:ext uri="{FF2B5EF4-FFF2-40B4-BE49-F238E27FC236}">
                <a16:creationId xmlns:a16="http://schemas.microsoft.com/office/drawing/2014/main" id="{66729C3A-E38A-47D1-A7DC-ACFD317E74C3}"/>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5BF6F1C0-DFF8-445C-90E2-2DAEAE92D5D5}"/>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19</a:t>
            </a:r>
          </a:p>
        </p:txBody>
      </p:sp>
      <p:sp>
        <p:nvSpPr>
          <p:cNvPr id="6" name="">
            <a:extLst xmlns:a="http://schemas.openxmlformats.org/drawingml/2006/main">
              <a:ext uri="{FF2B5EF4-FFF2-40B4-BE49-F238E27FC236}">
                <a16:creationId xmlns:a16="http://schemas.microsoft.com/office/drawing/2014/main" id="{EA958FEC-EC51-4C77-BA0B-86515C108D3D}"/>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01</a:t>
            </a:r>
          </a:p>
        </p:txBody>
      </p:sp>
      <p:sp>
        <p:nvSpPr>
          <p:cNvPr id="7" name="">
            <a:extLst xmlns:a="http://schemas.openxmlformats.org/drawingml/2006/main">
              <a:ext uri="{FF2B5EF4-FFF2-40B4-BE49-F238E27FC236}">
                <a16:creationId xmlns:a16="http://schemas.microsoft.com/office/drawing/2014/main" id="{5986F89C-9906-4F16-8AB9-4E99E6D9C2DE}"/>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accurate must the simulator be?</a:t>
            </a:r>
          </a:p>
        </p:txBody>
      </p:sp>
      <p:sp>
        <p:nvSpPr>
          <p:cNvPr id="8" name="">
            <a:extLst xmlns:a="http://schemas.openxmlformats.org/drawingml/2006/main">
              <a:ext uri="{FF2B5EF4-FFF2-40B4-BE49-F238E27FC236}">
                <a16:creationId xmlns:a16="http://schemas.microsoft.com/office/drawing/2014/main" id="{40A5C58E-5AE0-46D0-8055-4C80889C00DE}"/>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Use-case thresholds. Report error by channel, horizon, season, and operating region.</a:t>
            </a:r>
          </a:p>
        </p:txBody>
      </p:sp>
      <p:sp>
        <p:nvSpPr>
          <p:cNvPr id="9" name="">
            <a:extLst xmlns:a="http://schemas.openxmlformats.org/drawingml/2006/main">
              <a:ext uri="{FF2B5EF4-FFF2-40B4-BE49-F238E27FC236}">
                <a16:creationId xmlns:a16="http://schemas.microsoft.com/office/drawing/2014/main" id="{11B9ABE1-97E3-429B-8C99-ED902B13B89E}"/>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1ACF9321-F519-4C4E-B63B-4A33A4FEBE16}"/>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02</a:t>
            </a:r>
          </a:p>
        </p:txBody>
      </p:sp>
      <p:sp>
        <p:nvSpPr>
          <p:cNvPr id="11" name="">
            <a:extLst xmlns:a="http://schemas.openxmlformats.org/drawingml/2006/main">
              <a:ext uri="{FF2B5EF4-FFF2-40B4-BE49-F238E27FC236}">
                <a16:creationId xmlns:a16="http://schemas.microsoft.com/office/drawing/2014/main" id="{219F0859-B206-40C7-A0D8-FAE9754A1F33}"/>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What if sensors are missing or unreliable?</a:t>
            </a:r>
          </a:p>
        </p:txBody>
      </p:sp>
      <p:sp>
        <p:nvSpPr>
          <p:cNvPr id="12" name="">
            <a:extLst xmlns:a="http://schemas.openxmlformats.org/drawingml/2006/main">
              <a:ext uri="{FF2B5EF4-FFF2-40B4-BE49-F238E27FC236}">
                <a16:creationId xmlns:a16="http://schemas.microsoft.com/office/drawing/2014/main" id="{6980175C-3A93-49D9-9437-324E6C832B38}"/>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Flag degraded operation. Reject the run or widen uncertainty when evidence is insufficient.</a:t>
            </a:r>
          </a:p>
        </p:txBody>
      </p:sp>
      <p:sp>
        <p:nvSpPr>
          <p:cNvPr id="13" name="">
            <a:extLst xmlns:a="http://schemas.openxmlformats.org/drawingml/2006/main">
              <a:ext uri="{FF2B5EF4-FFF2-40B4-BE49-F238E27FC236}">
                <a16:creationId xmlns:a16="http://schemas.microsoft.com/office/drawing/2014/main" id="{C6B0E203-7767-4F6F-A91E-BC9A970FC64E}"/>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9612E10B-26BC-48E0-8FE1-706BC0300FB8}"/>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03</a:t>
            </a:r>
          </a:p>
        </p:txBody>
      </p:sp>
      <p:sp>
        <p:nvSpPr>
          <p:cNvPr id="15" name="">
            <a:extLst xmlns:a="http://schemas.openxmlformats.org/drawingml/2006/main">
              <a:ext uri="{FF2B5EF4-FFF2-40B4-BE49-F238E27FC236}">
                <a16:creationId xmlns:a16="http://schemas.microsoft.com/office/drawing/2014/main" id="{A2114992-F8A3-4EF5-B15B-7CA8AC3812BB}"/>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will causal response be validated?</a:t>
            </a:r>
          </a:p>
        </p:txBody>
      </p:sp>
      <p:sp>
        <p:nvSpPr>
          <p:cNvPr id="16" name="">
            <a:extLst xmlns:a="http://schemas.openxmlformats.org/drawingml/2006/main">
              <a:ext uri="{FF2B5EF4-FFF2-40B4-BE49-F238E27FC236}">
                <a16:creationId xmlns:a16="http://schemas.microsoft.com/office/drawing/2014/main" id="{4148EF12-C8F1-4F30-86A9-CE282A7E4A6A}"/>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Align controls, actuator states, context, and protected chronological holdout periods.</a:t>
            </a:r>
          </a:p>
        </p:txBody>
      </p:sp>
      <p:sp>
        <p:nvSpPr>
          <p:cNvPr id="17" name="">
            <a:extLst xmlns:a="http://schemas.openxmlformats.org/drawingml/2006/main">
              <a:ext uri="{FF2B5EF4-FFF2-40B4-BE49-F238E27FC236}">
                <a16:creationId xmlns:a16="http://schemas.microsoft.com/office/drawing/2014/main" id="{DD4723DD-F349-4866-AC19-D463EEAC727A}"/>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1277677307"/>
      </p:ext>
    </p:extLst>
  </p:cSld>
</p:sld>
</file>

<file path=ppt/slides/slide20.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791FF80-73C3-442C-8966-1AE94DCC5937}"/>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C5FB433-5496-4AF1-B895-523FB7FF724D}"/>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Q&amp;A: safety and operational authority</a:t>
            </a:r>
          </a:p>
        </p:txBody>
      </p:sp>
      <p:sp>
        <p:nvSpPr>
          <p:cNvPr id="3" name="">
            <a:extLst xmlns:a="http://schemas.openxmlformats.org/drawingml/2006/main">
              <a:ext uri="{FF2B5EF4-FFF2-40B4-BE49-F238E27FC236}">
                <a16:creationId xmlns:a16="http://schemas.microsoft.com/office/drawing/2014/main" id="{00D93484-702F-47DF-82DF-E3CA7A30A049}"/>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Simulation evidence supports operators and does not bypass them</a:t>
            </a:r>
          </a:p>
        </p:txBody>
      </p:sp>
      <p:sp>
        <p:nvSpPr>
          <p:cNvPr id="4" name="">
            <a:extLst xmlns:a="http://schemas.openxmlformats.org/drawingml/2006/main">
              <a:ext uri="{FF2B5EF4-FFF2-40B4-BE49-F238E27FC236}">
                <a16:creationId xmlns:a16="http://schemas.microsoft.com/office/drawing/2014/main" id="{422F842D-59D6-4418-8F3A-35387C8427FB}"/>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C4DD556D-0501-42E8-A86D-B316DCA78D1E}"/>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20</a:t>
            </a:r>
          </a:p>
        </p:txBody>
      </p:sp>
      <p:sp>
        <p:nvSpPr>
          <p:cNvPr id="6" name="">
            <a:extLst xmlns:a="http://schemas.openxmlformats.org/drawingml/2006/main">
              <a:ext uri="{FF2B5EF4-FFF2-40B4-BE49-F238E27FC236}">
                <a16:creationId xmlns:a16="http://schemas.microsoft.com/office/drawing/2014/main" id="{51F60466-C538-406E-929F-CC761EE10D96}"/>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04</a:t>
            </a:r>
          </a:p>
        </p:txBody>
      </p:sp>
      <p:sp>
        <p:nvSpPr>
          <p:cNvPr id="7" name="">
            <a:extLst xmlns:a="http://schemas.openxmlformats.org/drawingml/2006/main">
              <a:ext uri="{FF2B5EF4-FFF2-40B4-BE49-F238E27FC236}">
                <a16:creationId xmlns:a16="http://schemas.microsoft.com/office/drawing/2014/main" id="{566BF52A-D50C-4E19-9073-5F9D23D6B564}"/>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Could the simulator damage equipment?</a:t>
            </a:r>
          </a:p>
        </p:txBody>
      </p:sp>
      <p:sp>
        <p:nvSpPr>
          <p:cNvPr id="8" name="">
            <a:extLst xmlns:a="http://schemas.openxmlformats.org/drawingml/2006/main">
              <a:ext uri="{FF2B5EF4-FFF2-40B4-BE49-F238E27FC236}">
                <a16:creationId xmlns:a16="http://schemas.microsoft.com/office/drawing/2014/main" id="{F6805CD5-E561-409B-9CD7-5B8B1B1DD98D}"/>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No. The PoC has no write path to equipment.</a:t>
            </a:r>
          </a:p>
        </p:txBody>
      </p:sp>
      <p:sp>
        <p:nvSpPr>
          <p:cNvPr id="9" name="">
            <a:extLst xmlns:a="http://schemas.openxmlformats.org/drawingml/2006/main">
              <a:ext uri="{FF2B5EF4-FFF2-40B4-BE49-F238E27FC236}">
                <a16:creationId xmlns:a16="http://schemas.microsoft.com/office/drawing/2014/main" id="{2363BC82-D244-4AED-B512-C3E31A0775FD}"/>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A7B68B2A-33CD-48EE-B841-9959D0A3A27C}"/>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05</a:t>
            </a:r>
          </a:p>
        </p:txBody>
      </p:sp>
      <p:sp>
        <p:nvSpPr>
          <p:cNvPr id="11" name="">
            <a:extLst xmlns:a="http://schemas.openxmlformats.org/drawingml/2006/main">
              <a:ext uri="{FF2B5EF4-FFF2-40B4-BE49-F238E27FC236}">
                <a16:creationId xmlns:a16="http://schemas.microsoft.com/office/drawing/2014/main" id="{592F4D25-A498-4603-B3D2-CA0264200671}"/>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Who authorizes a field trial?</a:t>
            </a:r>
          </a:p>
        </p:txBody>
      </p:sp>
      <p:sp>
        <p:nvSpPr>
          <p:cNvPr id="12" name="">
            <a:extLst xmlns:a="http://schemas.openxmlformats.org/drawingml/2006/main">
              <a:ext uri="{FF2B5EF4-FFF2-40B4-BE49-F238E27FC236}">
                <a16:creationId xmlns:a16="http://schemas.microsoft.com/office/drawing/2014/main" id="{3ACE0876-4DC7-43F9-974F-3FC6388B2668}"/>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Biosphere 2 operations retains authority for every field trial.</a:t>
            </a:r>
          </a:p>
        </p:txBody>
      </p:sp>
      <p:sp>
        <p:nvSpPr>
          <p:cNvPr id="13" name="">
            <a:extLst xmlns:a="http://schemas.openxmlformats.org/drawingml/2006/main">
              <a:ext uri="{FF2B5EF4-FFF2-40B4-BE49-F238E27FC236}">
                <a16:creationId xmlns:a16="http://schemas.microsoft.com/office/drawing/2014/main" id="{CAD72D0A-6AA4-4F11-ACBA-D473169B5880}"/>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8FB0F013-D0A4-4E4F-966A-E9FC613DF3C6}"/>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06</a:t>
            </a:r>
          </a:p>
        </p:txBody>
      </p:sp>
      <p:sp>
        <p:nvSpPr>
          <p:cNvPr id="15" name="">
            <a:extLst xmlns:a="http://schemas.openxmlformats.org/drawingml/2006/main">
              <a:ext uri="{FF2B5EF4-FFF2-40B4-BE49-F238E27FC236}">
                <a16:creationId xmlns:a16="http://schemas.microsoft.com/office/drawing/2014/main" id="{99F33F8D-2C14-40B4-BDEB-6B56487DE5FF}"/>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is cybersecurity handled?</a:t>
            </a:r>
          </a:p>
        </p:txBody>
      </p:sp>
      <p:sp>
        <p:nvSpPr>
          <p:cNvPr id="16" name="">
            <a:extLst xmlns:a="http://schemas.openxmlformats.org/drawingml/2006/main">
              <a:ext uri="{FF2B5EF4-FFF2-40B4-BE49-F238E27FC236}">
                <a16:creationId xmlns:a16="http://schemas.microsoft.com/office/drawing/2014/main" id="{C3CAB726-DD43-4138-8454-A33A5A9696E0}"/>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Use offline copies, least privilege, versioning, and network separation.</a:t>
            </a:r>
          </a:p>
        </p:txBody>
      </p:sp>
      <p:sp>
        <p:nvSpPr>
          <p:cNvPr id="17" name="">
            <a:extLst xmlns:a="http://schemas.openxmlformats.org/drawingml/2006/main">
              <a:ext uri="{FF2B5EF4-FFF2-40B4-BE49-F238E27FC236}">
                <a16:creationId xmlns:a16="http://schemas.microsoft.com/office/drawing/2014/main" id="{F842389E-A1AC-4327-8469-270B7C6E48CA}"/>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1626675885"/>
      </p:ext>
    </p:extLst>
  </p:cSld>
</p:sld>
</file>

<file path=ppt/slides/slide21.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8217F05-142E-4951-AAA5-93AAA3681D64}"/>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AD1E67F-F2A2-4ED0-9637-1AE268E05F55}"/>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75" b="1" i="0">
                <a:solidFill>
                  <a:srgbClr val="10251D"/>
                </a:solidFill>
                <a:latin typeface="Arimo"/>
                <a:ea typeface="Arimo"/>
                <a:cs typeface="Arimo"/>
              </a:defRPr>
            </a:pPr>
            <a:r>
              <a:rPr sz="2475" b="1" i="0">
                <a:solidFill>
                  <a:srgbClr val="10251D"/>
                </a:solidFill>
                <a:latin typeface="Arimo"/>
                <a:ea typeface="Arimo"/>
                <a:cs typeface="Arimo"/>
              </a:rPr>
              <a:t>Q&amp;A: model and platform choices</a:t>
            </a:r>
          </a:p>
        </p:txBody>
      </p:sp>
      <p:sp>
        <p:nvSpPr>
          <p:cNvPr id="3" name="">
            <a:extLst xmlns:a="http://schemas.openxmlformats.org/drawingml/2006/main">
              <a:ext uri="{FF2B5EF4-FFF2-40B4-BE49-F238E27FC236}">
                <a16:creationId xmlns:a16="http://schemas.microsoft.com/office/drawing/2014/main" id="{95C90CE2-9B00-4405-A7DD-300BA64F72A1}"/>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contract stays stable while evidence determines the engine</a:t>
            </a:r>
          </a:p>
        </p:txBody>
      </p:sp>
      <p:sp>
        <p:nvSpPr>
          <p:cNvPr id="4" name="">
            <a:extLst xmlns:a="http://schemas.openxmlformats.org/drawingml/2006/main">
              <a:ext uri="{FF2B5EF4-FFF2-40B4-BE49-F238E27FC236}">
                <a16:creationId xmlns:a16="http://schemas.microsoft.com/office/drawing/2014/main" id="{5AA2AB0F-DB2B-4B9C-9C0B-901181482DEF}"/>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A24162CE-A12B-4396-B42B-12EB21697440}"/>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21</a:t>
            </a:r>
          </a:p>
        </p:txBody>
      </p:sp>
      <p:sp>
        <p:nvSpPr>
          <p:cNvPr id="6" name="">
            <a:extLst xmlns:a="http://schemas.openxmlformats.org/drawingml/2006/main">
              <a:ext uri="{FF2B5EF4-FFF2-40B4-BE49-F238E27FC236}">
                <a16:creationId xmlns:a16="http://schemas.microsoft.com/office/drawing/2014/main" id="{AF5713A2-9348-4B55-96BB-0920835D7886}"/>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07</a:t>
            </a:r>
          </a:p>
        </p:txBody>
      </p:sp>
      <p:sp>
        <p:nvSpPr>
          <p:cNvPr id="7" name="">
            <a:extLst xmlns:a="http://schemas.openxmlformats.org/drawingml/2006/main">
              <a:ext uri="{FF2B5EF4-FFF2-40B4-BE49-F238E27FC236}">
                <a16:creationId xmlns:a16="http://schemas.microsoft.com/office/drawing/2014/main" id="{BCD714FF-B233-4650-8C6B-6A21C393866D}"/>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Why not use EnergyPlus alone?</a:t>
            </a:r>
          </a:p>
        </p:txBody>
      </p:sp>
      <p:sp>
        <p:nvSpPr>
          <p:cNvPr id="8" name="">
            <a:extLst xmlns:a="http://schemas.openxmlformats.org/drawingml/2006/main">
              <a:ext uri="{FF2B5EF4-FFF2-40B4-BE49-F238E27FC236}">
                <a16:creationId xmlns:a16="http://schemas.microsoft.com/office/drawing/2014/main" id="{7ED58835-9D01-4B06-993A-7DE95C8B09DE}"/>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EnergyPlus still needs RainForest-specific representation, calibration, and validation.</a:t>
            </a:r>
          </a:p>
        </p:txBody>
      </p:sp>
      <p:sp>
        <p:nvSpPr>
          <p:cNvPr id="9" name="">
            <a:extLst xmlns:a="http://schemas.openxmlformats.org/drawingml/2006/main">
              <a:ext uri="{FF2B5EF4-FFF2-40B4-BE49-F238E27FC236}">
                <a16:creationId xmlns:a16="http://schemas.microsoft.com/office/drawing/2014/main" id="{7708A04B-4AF3-4165-95C0-0D3ADA75DF14}"/>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4D13EB29-3F35-4578-8510-6FCAABF04196}"/>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08</a:t>
            </a:r>
          </a:p>
        </p:txBody>
      </p:sp>
      <p:sp>
        <p:nvSpPr>
          <p:cNvPr id="11" name="">
            <a:extLst xmlns:a="http://schemas.openxmlformats.org/drawingml/2006/main">
              <a:ext uri="{FF2B5EF4-FFF2-40B4-BE49-F238E27FC236}">
                <a16:creationId xmlns:a16="http://schemas.microsoft.com/office/drawing/2014/main" id="{B355CC43-FEA7-4BF1-9483-4ED621D30B1B}"/>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Why consider an LSTM?</a:t>
            </a:r>
          </a:p>
        </p:txBody>
      </p:sp>
      <p:sp>
        <p:nvSpPr>
          <p:cNvPr id="12" name="">
            <a:extLst xmlns:a="http://schemas.openxmlformats.org/drawingml/2006/main">
              <a:ext uri="{FF2B5EF4-FFF2-40B4-BE49-F238E27FC236}">
                <a16:creationId xmlns:a16="http://schemas.microsoft.com/office/drawing/2014/main" id="{79AC07AC-EBA5-4078-A33D-66FF3EC1BB29}"/>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An LSTM can learn delayed nonlinear behavior, but it must pass coverage and uncertainty checks.</a:t>
            </a:r>
          </a:p>
        </p:txBody>
      </p:sp>
      <p:sp>
        <p:nvSpPr>
          <p:cNvPr id="13" name="">
            <a:extLst xmlns:a="http://schemas.openxmlformats.org/drawingml/2006/main">
              <a:ext uri="{FF2B5EF4-FFF2-40B4-BE49-F238E27FC236}">
                <a16:creationId xmlns:a16="http://schemas.microsoft.com/office/drawing/2014/main" id="{E631AE5E-0D68-42C1-8D76-B231F93A7E59}"/>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545BA91C-2D77-4D4E-85C9-5E3FF5F0C566}"/>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09</a:t>
            </a:r>
          </a:p>
        </p:txBody>
      </p:sp>
      <p:sp>
        <p:nvSpPr>
          <p:cNvPr id="15" name="">
            <a:extLst xmlns:a="http://schemas.openxmlformats.org/drawingml/2006/main">
              <a:ext uri="{FF2B5EF4-FFF2-40B4-BE49-F238E27FC236}">
                <a16:creationId xmlns:a16="http://schemas.microsoft.com/office/drawing/2014/main" id="{B1165A21-93E5-4D25-8116-2F4F6DA2CCDE}"/>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can a new engine be added?</a:t>
            </a:r>
          </a:p>
        </p:txBody>
      </p:sp>
      <p:sp>
        <p:nvSpPr>
          <p:cNvPr id="16" name="">
            <a:extLst xmlns:a="http://schemas.openxmlformats.org/drawingml/2006/main">
              <a:ext uri="{FF2B5EF4-FFF2-40B4-BE49-F238E27FC236}">
                <a16:creationId xmlns:a16="http://schemas.microsoft.com/office/drawing/2014/main" id="{924A287F-BF85-4DDF-A054-AF00AC32F3B6}"/>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 common input/output contract and adapters isolate every engine.</a:t>
            </a:r>
          </a:p>
        </p:txBody>
      </p:sp>
      <p:sp>
        <p:nvSpPr>
          <p:cNvPr id="17" name="">
            <a:extLst xmlns:a="http://schemas.openxmlformats.org/drawingml/2006/main">
              <a:ext uri="{FF2B5EF4-FFF2-40B4-BE49-F238E27FC236}">
                <a16:creationId xmlns:a16="http://schemas.microsoft.com/office/drawing/2014/main" id="{B9938CC0-A505-42EC-98B8-646F08B90750}"/>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220950595"/>
      </p:ext>
    </p:extLst>
  </p:cSld>
</p:sld>
</file>

<file path=ppt/slides/slide2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2286B2C-D51D-403B-8320-15299D2791F1}"/>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9FE3DC8-DC3F-4856-B8C2-547E0393C589}"/>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75" b="1" i="0">
                <a:solidFill>
                  <a:srgbClr val="10251D"/>
                </a:solidFill>
                <a:latin typeface="Arimo"/>
                <a:ea typeface="Arimo"/>
                <a:cs typeface="Arimo"/>
              </a:defRPr>
            </a:pPr>
            <a:r>
              <a:rPr sz="2475" b="1" i="0">
                <a:solidFill>
                  <a:srgbClr val="10251D"/>
                </a:solidFill>
                <a:latin typeface="Arimo"/>
                <a:ea typeface="Arimo"/>
                <a:cs typeface="Arimo"/>
              </a:rPr>
              <a:t>Q&amp;A: value and schedule</a:t>
            </a:r>
          </a:p>
        </p:txBody>
      </p:sp>
      <p:sp>
        <p:nvSpPr>
          <p:cNvPr id="3" name="">
            <a:extLst xmlns:a="http://schemas.openxmlformats.org/drawingml/2006/main">
              <a:ext uri="{FF2B5EF4-FFF2-40B4-BE49-F238E27FC236}">
                <a16:creationId xmlns:a16="http://schemas.microsoft.com/office/drawing/2014/main" id="{A6C82368-6920-4FF9-9AC9-7940A971F6DA}"/>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PoC measures whether a larger investment is justified</a:t>
            </a:r>
          </a:p>
        </p:txBody>
      </p:sp>
      <p:sp>
        <p:nvSpPr>
          <p:cNvPr id="4" name="">
            <a:extLst xmlns:a="http://schemas.openxmlformats.org/drawingml/2006/main">
              <a:ext uri="{FF2B5EF4-FFF2-40B4-BE49-F238E27FC236}">
                <a16:creationId xmlns:a16="http://schemas.microsoft.com/office/drawing/2014/main" id="{D7986D29-312A-4391-96CD-028B41772391}"/>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AA5314DA-0369-4566-8220-6356ABA47E0C}"/>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22</a:t>
            </a:r>
          </a:p>
        </p:txBody>
      </p:sp>
      <p:sp>
        <p:nvSpPr>
          <p:cNvPr id="6" name="">
            <a:extLst xmlns:a="http://schemas.openxmlformats.org/drawingml/2006/main">
              <a:ext uri="{FF2B5EF4-FFF2-40B4-BE49-F238E27FC236}">
                <a16:creationId xmlns:a16="http://schemas.microsoft.com/office/drawing/2014/main" id="{AEDD4502-EC14-4AE4-803F-8A92D9F53FD7}"/>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10</a:t>
            </a:r>
          </a:p>
        </p:txBody>
      </p:sp>
      <p:sp>
        <p:nvSpPr>
          <p:cNvPr id="7" name="">
            <a:extLst xmlns:a="http://schemas.openxmlformats.org/drawingml/2006/main">
              <a:ext uri="{FF2B5EF4-FFF2-40B4-BE49-F238E27FC236}">
                <a16:creationId xmlns:a16="http://schemas.microsoft.com/office/drawing/2014/main" id="{F390D0EC-A264-4F6B-90EE-B2ED75B1E5F6}"/>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will energy savings be proven?</a:t>
            </a:r>
          </a:p>
        </p:txBody>
      </p:sp>
      <p:sp>
        <p:nvSpPr>
          <p:cNvPr id="8" name="">
            <a:extLst xmlns:a="http://schemas.openxmlformats.org/drawingml/2006/main">
              <a:ext uri="{FF2B5EF4-FFF2-40B4-BE49-F238E27FC236}">
                <a16:creationId xmlns:a16="http://schemas.microsoft.com/office/drawing/2014/main" id="{B719411A-D8CD-4B4B-A293-6144EC92A0E7}"/>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Calibrate energy indicators, then validate them against an approved operational baseline.</a:t>
            </a:r>
          </a:p>
        </p:txBody>
      </p:sp>
      <p:sp>
        <p:nvSpPr>
          <p:cNvPr id="9" name="">
            <a:extLst xmlns:a="http://schemas.openxmlformats.org/drawingml/2006/main">
              <a:ext uri="{FF2B5EF4-FFF2-40B4-BE49-F238E27FC236}">
                <a16:creationId xmlns:a16="http://schemas.microsoft.com/office/drawing/2014/main" id="{7A1D7409-A3C9-459C-91CE-58CB873C10BC}"/>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342E6A4E-AFE1-4814-A80F-C83A99AB090D}"/>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11</a:t>
            </a:r>
          </a:p>
        </p:txBody>
      </p:sp>
      <p:sp>
        <p:nvSpPr>
          <p:cNvPr id="11" name="">
            <a:extLst xmlns:a="http://schemas.openxmlformats.org/drawingml/2006/main">
              <a:ext uri="{FF2B5EF4-FFF2-40B4-BE49-F238E27FC236}">
                <a16:creationId xmlns:a16="http://schemas.microsoft.com/office/drawing/2014/main" id="{BEC90EDB-BE85-497D-A28D-B3F7EF60F818}"/>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What resources does the PoC require?</a:t>
            </a:r>
          </a:p>
        </p:txBody>
      </p:sp>
      <p:sp>
        <p:nvSpPr>
          <p:cNvPr id="12" name="">
            <a:extLst xmlns:a="http://schemas.openxmlformats.org/drawingml/2006/main">
              <a:ext uri="{FF2B5EF4-FFF2-40B4-BE49-F238E27FC236}">
                <a16:creationId xmlns:a16="http://schemas.microsoft.com/office/drawing/2014/main" id="{9A645DC1-EB6D-4DF5-9214-AB28FD5758F5}"/>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Authorized data, an operations liaison, implementation time, and ordinary compute.</a:t>
            </a:r>
          </a:p>
        </p:txBody>
      </p:sp>
      <p:sp>
        <p:nvSpPr>
          <p:cNvPr id="13" name="">
            <a:extLst xmlns:a="http://schemas.openxmlformats.org/drawingml/2006/main">
              <a:ext uri="{FF2B5EF4-FFF2-40B4-BE49-F238E27FC236}">
                <a16:creationId xmlns:a16="http://schemas.microsoft.com/office/drawing/2014/main" id="{B618DBDB-703E-477A-A502-F5F2FF652CC4}"/>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A51EAAEE-887F-42A0-A583-5A43964280E3}"/>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12</a:t>
            </a:r>
          </a:p>
        </p:txBody>
      </p:sp>
      <p:sp>
        <p:nvSpPr>
          <p:cNvPr id="15" name="">
            <a:extLst xmlns:a="http://schemas.openxmlformats.org/drawingml/2006/main">
              <a:ext uri="{FF2B5EF4-FFF2-40B4-BE49-F238E27FC236}">
                <a16:creationId xmlns:a16="http://schemas.microsoft.com/office/drawing/2014/main" id="{DB633807-77CD-4924-93CD-418A50C3A997}"/>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Why sixteen weeks?</a:t>
            </a:r>
          </a:p>
        </p:txBody>
      </p:sp>
      <p:sp>
        <p:nvSpPr>
          <p:cNvPr id="16" name="">
            <a:extLst xmlns:a="http://schemas.openxmlformats.org/drawingml/2006/main">
              <a:ext uri="{FF2B5EF4-FFF2-40B4-BE49-F238E27FC236}">
                <a16:creationId xmlns:a16="http://schemas.microsoft.com/office/drawing/2014/main" id="{AC88294D-82EF-4236-B6D7-3BD416A8AC1C}"/>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Four stages cover data, models, platform integration, and operator-reviewed validation.</a:t>
            </a:r>
          </a:p>
        </p:txBody>
      </p:sp>
      <p:sp>
        <p:nvSpPr>
          <p:cNvPr id="17" name="">
            <a:extLst xmlns:a="http://schemas.openxmlformats.org/drawingml/2006/main">
              <a:ext uri="{FF2B5EF4-FFF2-40B4-BE49-F238E27FC236}">
                <a16:creationId xmlns:a16="http://schemas.microsoft.com/office/drawing/2014/main" id="{B3854A95-8548-4A42-A833-EAB6AD0528E3}"/>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267092164"/>
      </p:ext>
    </p:extLst>
  </p:cSld>
</p:sld>
</file>

<file path=ppt/slides/slide2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3F23AA2-0514-481B-B039-B97CBF8D1987}"/>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FED230B-F0BD-4F44-ACDA-529B5FE7F0F4}"/>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Q&amp;A: students, publications, and governance</a:t>
            </a:r>
          </a:p>
        </p:txBody>
      </p:sp>
      <p:sp>
        <p:nvSpPr>
          <p:cNvPr id="3" name="">
            <a:extLst xmlns:a="http://schemas.openxmlformats.org/drawingml/2006/main">
              <a:ext uri="{FF2B5EF4-FFF2-40B4-BE49-F238E27FC236}">
                <a16:creationId xmlns:a16="http://schemas.microsoft.com/office/drawing/2014/main" id="{E6D82200-2266-4CCA-9273-3380A4499A0B}"/>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Participation expands only after benchmark and review rules are stable</a:t>
            </a:r>
          </a:p>
        </p:txBody>
      </p:sp>
      <p:sp>
        <p:nvSpPr>
          <p:cNvPr id="4" name="">
            <a:extLst xmlns:a="http://schemas.openxmlformats.org/drawingml/2006/main">
              <a:ext uri="{FF2B5EF4-FFF2-40B4-BE49-F238E27FC236}">
                <a16:creationId xmlns:a16="http://schemas.microsoft.com/office/drawing/2014/main" id="{99420A24-FD25-40DD-A315-DBA8CDBB5B9C}"/>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7B7776BD-80FE-4715-B92B-15A39067679A}"/>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23</a:t>
            </a:r>
          </a:p>
        </p:txBody>
      </p:sp>
      <p:sp>
        <p:nvSpPr>
          <p:cNvPr id="6" name="">
            <a:extLst xmlns:a="http://schemas.openxmlformats.org/drawingml/2006/main">
              <a:ext uri="{FF2B5EF4-FFF2-40B4-BE49-F238E27FC236}">
                <a16:creationId xmlns:a16="http://schemas.microsoft.com/office/drawing/2014/main" id="{D7D7D882-236B-4898-8090-DEDF9CC940FF}"/>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13</a:t>
            </a:r>
          </a:p>
        </p:txBody>
      </p:sp>
      <p:sp>
        <p:nvSpPr>
          <p:cNvPr id="7" name="">
            <a:extLst xmlns:a="http://schemas.openxmlformats.org/drawingml/2006/main">
              <a:ext uri="{FF2B5EF4-FFF2-40B4-BE49-F238E27FC236}">
                <a16:creationId xmlns:a16="http://schemas.microsoft.com/office/drawing/2014/main" id="{54AC4112-73C6-4E1A-A8BA-D0C4E41AD979}"/>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is student code isolated?</a:t>
            </a:r>
          </a:p>
        </p:txBody>
      </p:sp>
      <p:sp>
        <p:nvSpPr>
          <p:cNvPr id="8" name="">
            <a:extLst xmlns:a="http://schemas.openxmlformats.org/drawingml/2006/main">
              <a:ext uri="{FF2B5EF4-FFF2-40B4-BE49-F238E27FC236}">
                <a16:creationId xmlns:a16="http://schemas.microsoft.com/office/drawing/2014/main" id="{95A84643-D737-4CB7-BA5F-6AD2DB08853F}"/>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Student code runs offline in isolated environments, never on the operational network.</a:t>
            </a:r>
          </a:p>
        </p:txBody>
      </p:sp>
      <p:sp>
        <p:nvSpPr>
          <p:cNvPr id="9" name="">
            <a:extLst xmlns:a="http://schemas.openxmlformats.org/drawingml/2006/main">
              <a:ext uri="{FF2B5EF4-FFF2-40B4-BE49-F238E27FC236}">
                <a16:creationId xmlns:a16="http://schemas.microsoft.com/office/drawing/2014/main" id="{B9DAE88A-700C-4DF8-A607-AA23FC19C9E2}"/>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29685C0F-49B7-4C5B-947B-489DF7245023}"/>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14</a:t>
            </a:r>
          </a:p>
        </p:txBody>
      </p:sp>
      <p:sp>
        <p:nvSpPr>
          <p:cNvPr id="11" name="">
            <a:extLst xmlns:a="http://schemas.openxmlformats.org/drawingml/2006/main">
              <a:ext uri="{FF2B5EF4-FFF2-40B4-BE49-F238E27FC236}">
                <a16:creationId xmlns:a16="http://schemas.microsoft.com/office/drawing/2014/main" id="{F0829778-584E-4B34-9D88-18F891D0A611}"/>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are publications, data rights, and IP governed?</a:t>
            </a:r>
          </a:p>
        </p:txBody>
      </p:sp>
      <p:sp>
        <p:nvSpPr>
          <p:cNvPr id="12" name="">
            <a:extLst xmlns:a="http://schemas.openxmlformats.org/drawingml/2006/main">
              <a:ext uri="{FF2B5EF4-FFF2-40B4-BE49-F238E27FC236}">
                <a16:creationId xmlns:a16="http://schemas.microsoft.com/office/drawing/2014/main" id="{4A28350F-4523-4556-A7BC-706FE4AE3275}"/>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Written University and Biosphere 2 rules govern data, review, authorship, and IP.</a:t>
            </a:r>
          </a:p>
        </p:txBody>
      </p:sp>
      <p:sp>
        <p:nvSpPr>
          <p:cNvPr id="13" name="">
            <a:extLst xmlns:a="http://schemas.openxmlformats.org/drawingml/2006/main">
              <a:ext uri="{FF2B5EF4-FFF2-40B4-BE49-F238E27FC236}">
                <a16:creationId xmlns:a16="http://schemas.microsoft.com/office/drawing/2014/main" id="{7685EF1E-96BA-4233-8416-267D35F17CAE}"/>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327EC0C1-29DE-4A1D-8800-E640CBEACC8D}"/>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15</a:t>
            </a:r>
          </a:p>
        </p:txBody>
      </p:sp>
      <p:sp>
        <p:nvSpPr>
          <p:cNvPr id="15" name="">
            <a:extLst xmlns:a="http://schemas.openxmlformats.org/drawingml/2006/main">
              <a:ext uri="{FF2B5EF4-FFF2-40B4-BE49-F238E27FC236}">
                <a16:creationId xmlns:a16="http://schemas.microsoft.com/office/drawing/2014/main" id="{A42525FE-1505-4BFF-8854-063F98C67A4D}"/>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Who owns and maintains the platform?</a:t>
            </a:r>
          </a:p>
        </p:txBody>
      </p:sp>
      <p:sp>
        <p:nvSpPr>
          <p:cNvPr id="16" name="">
            <a:extLst xmlns:a="http://schemas.openxmlformats.org/drawingml/2006/main">
              <a:ext uri="{FF2B5EF4-FFF2-40B4-BE49-F238E27FC236}">
                <a16:creationId xmlns:a16="http://schemas.microsoft.com/office/drawing/2014/main" id="{5F11CD40-B7FD-4435-ABCA-EC841AE2FB1A}"/>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Phase 2 needs an operational owner, technical maintainer, and release process.</a:t>
            </a:r>
          </a:p>
        </p:txBody>
      </p:sp>
      <p:sp>
        <p:nvSpPr>
          <p:cNvPr id="17" name="">
            <a:extLst xmlns:a="http://schemas.openxmlformats.org/drawingml/2006/main">
              <a:ext uri="{FF2B5EF4-FFF2-40B4-BE49-F238E27FC236}">
                <a16:creationId xmlns:a16="http://schemas.microsoft.com/office/drawing/2014/main" id="{B2B11575-C585-429D-BE8C-A848E1ABB63A}"/>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759354974"/>
      </p:ext>
    </p:extLst>
  </p:cSld>
</p:sld>
</file>

<file path=ppt/slides/slide2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E8AA62D-C113-4C34-9BA0-8D27B9758954}"/>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3E9C55C-C7E4-4C0D-9D6F-C49DDF8040EC}"/>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References and live demonstration</a:t>
            </a:r>
          </a:p>
        </p:txBody>
      </p:sp>
      <p:sp>
        <p:nvSpPr>
          <p:cNvPr id="3" name="">
            <a:extLst xmlns:a="http://schemas.openxmlformats.org/drawingml/2006/main">
              <a:ext uri="{FF2B5EF4-FFF2-40B4-BE49-F238E27FC236}">
                <a16:creationId xmlns:a16="http://schemas.microsoft.com/office/drawing/2014/main" id="{C5A5474B-93B3-4134-AC44-C06ECC71C3E1}"/>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Authoritative foundations and project resources</a:t>
            </a:r>
          </a:p>
        </p:txBody>
      </p:sp>
      <p:sp>
        <p:nvSpPr>
          <p:cNvPr id="4" name="">
            <a:extLst xmlns:a="http://schemas.openxmlformats.org/drawingml/2006/main">
              <a:ext uri="{FF2B5EF4-FFF2-40B4-BE49-F238E27FC236}">
                <a16:creationId xmlns:a16="http://schemas.microsoft.com/office/drawing/2014/main" id="{DCE34C3F-2336-49F0-B344-CAB1E9B188D5}"/>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CCBDEE76-4CDD-4193-9B4A-C55383758076}"/>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24</a:t>
            </a:r>
          </a:p>
        </p:txBody>
      </p:sp>
      <p:sp>
        <p:nvSpPr>
          <p:cNvPr id="6" name="">
            <a:extLst xmlns:a="http://schemas.openxmlformats.org/drawingml/2006/main">
              <a:ext uri="{FF2B5EF4-FFF2-40B4-BE49-F238E27FC236}">
                <a16:creationId xmlns:a16="http://schemas.microsoft.com/office/drawing/2014/main" id="{1B986971-41D9-4FB3-8109-907227800926}"/>
              </a:ext>
            </a:extLst>
          </p:cNvPr>
          <p:cNvSpPr>
            <a:spLocks xmlns:a="http://schemas.openxmlformats.org/drawingml/2006/main" noGrp="1"/>
          </p:cNvSpPr>
          <p:nvPr/>
        </p:nvSpPr>
        <p:spPr>
          <a:xfrm xmlns:a="http://schemas.openxmlformats.org/drawingml/2006/main">
            <a:off x="685800" y="15811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Biosphere 2</a:t>
            </a:r>
          </a:p>
        </p:txBody>
      </p:sp>
      <p:sp>
        <p:nvSpPr>
          <p:cNvPr id="7" name="">
            <a:extLst xmlns:a="http://schemas.openxmlformats.org/drawingml/2006/main">
              <a:ext uri="{FF2B5EF4-FFF2-40B4-BE49-F238E27FC236}">
                <a16:creationId xmlns:a16="http://schemas.microsoft.com/office/drawing/2014/main" id="{F6E8FBE0-CDDA-48E2-81D1-A5780F627DA0}"/>
              </a:ext>
            </a:extLst>
          </p:cNvPr>
          <p:cNvSpPr>
            <a:spLocks xmlns:a="http://schemas.openxmlformats.org/drawingml/2006/main" noGrp="1"/>
          </p:cNvSpPr>
          <p:nvPr/>
        </p:nvSpPr>
        <p:spPr>
          <a:xfrm xmlns:a="http://schemas.openxmlformats.org/drawingml/2006/main">
            <a:off x="685800" y="190500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b8883be6c8cf44eb"/>
              </a:rPr>
              <a:t>biosphere2.org/about/about-biosphere-2</a:t>
            </a:r>
          </a:p>
        </p:txBody>
      </p:sp>
      <p:sp>
        <p:nvSpPr>
          <p:cNvPr id="8" name="">
            <a:extLst xmlns:a="http://schemas.openxmlformats.org/drawingml/2006/main">
              <a:ext uri="{FF2B5EF4-FFF2-40B4-BE49-F238E27FC236}">
                <a16:creationId xmlns:a16="http://schemas.microsoft.com/office/drawing/2014/main" id="{D6197FAF-08FF-41F8-AF40-BCFF2416EE52}"/>
              </a:ext>
            </a:extLst>
          </p:cNvPr>
          <p:cNvSpPr>
            <a:spLocks xmlns:a="http://schemas.openxmlformats.org/drawingml/2006/main" noGrp="1"/>
          </p:cNvSpPr>
          <p:nvPr/>
        </p:nvSpPr>
        <p:spPr>
          <a:xfrm xmlns:a="http://schemas.openxmlformats.org/drawingml/2006/main">
            <a:off x="685800" y="25812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Biosphere 2 energy and water</a:t>
            </a:r>
          </a:p>
        </p:txBody>
      </p:sp>
      <p:sp>
        <p:nvSpPr>
          <p:cNvPr id="9" name="">
            <a:extLst xmlns:a="http://schemas.openxmlformats.org/drawingml/2006/main">
              <a:ext uri="{FF2B5EF4-FFF2-40B4-BE49-F238E27FC236}">
                <a16:creationId xmlns:a16="http://schemas.microsoft.com/office/drawing/2014/main" id="{3A339731-0CEB-4EB1-982A-D471D99D7A1B}"/>
              </a:ext>
            </a:extLst>
          </p:cNvPr>
          <p:cNvSpPr>
            <a:spLocks xmlns:a="http://schemas.openxmlformats.org/drawingml/2006/main" noGrp="1"/>
          </p:cNvSpPr>
          <p:nvPr/>
        </p:nvSpPr>
        <p:spPr>
          <a:xfrm xmlns:a="http://schemas.openxmlformats.org/drawingml/2006/main">
            <a:off x="685800" y="2905125"/>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9e76cc7ee3084638"/>
              </a:rPr>
              <a:t>biosphere2.org/research/user-facility-information/energy-and-water</a:t>
            </a:r>
          </a:p>
        </p:txBody>
      </p:sp>
      <p:sp>
        <p:nvSpPr>
          <p:cNvPr id="10" name="">
            <a:extLst xmlns:a="http://schemas.openxmlformats.org/drawingml/2006/main">
              <a:ext uri="{FF2B5EF4-FFF2-40B4-BE49-F238E27FC236}">
                <a16:creationId xmlns:a16="http://schemas.microsoft.com/office/drawing/2014/main" id="{B7FAF5AC-A939-4F7D-8053-5A0736E59F8F}"/>
              </a:ext>
            </a:extLst>
          </p:cNvPr>
          <p:cNvSpPr>
            <a:spLocks xmlns:a="http://schemas.openxmlformats.org/drawingml/2006/main" noGrp="1"/>
          </p:cNvSpPr>
          <p:nvPr/>
        </p:nvSpPr>
        <p:spPr>
          <a:xfrm xmlns:a="http://schemas.openxmlformats.org/drawingml/2006/main">
            <a:off x="685800" y="35814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BOPTEST</a:t>
            </a:r>
          </a:p>
        </p:txBody>
      </p:sp>
      <p:sp>
        <p:nvSpPr>
          <p:cNvPr id="11" name="">
            <a:extLst xmlns:a="http://schemas.openxmlformats.org/drawingml/2006/main">
              <a:ext uri="{FF2B5EF4-FFF2-40B4-BE49-F238E27FC236}">
                <a16:creationId xmlns:a16="http://schemas.microsoft.com/office/drawing/2014/main" id="{9FB9DA50-CF71-44C0-B3DF-99CD9E60D438}"/>
              </a:ext>
            </a:extLst>
          </p:cNvPr>
          <p:cNvSpPr>
            <a:spLocks xmlns:a="http://schemas.openxmlformats.org/drawingml/2006/main" noGrp="1"/>
          </p:cNvSpPr>
          <p:nvPr/>
        </p:nvSpPr>
        <p:spPr>
          <a:xfrm xmlns:a="http://schemas.openxmlformats.org/drawingml/2006/main">
            <a:off x="685800" y="390525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85e090a8300846dc"/>
              </a:rPr>
              <a:t>ibpsa.github.io/project1-boptest</a:t>
            </a:r>
          </a:p>
        </p:txBody>
      </p:sp>
      <p:sp>
        <p:nvSpPr>
          <p:cNvPr id="12" name="">
            <a:extLst xmlns:a="http://schemas.openxmlformats.org/drawingml/2006/main">
              <a:ext uri="{FF2B5EF4-FFF2-40B4-BE49-F238E27FC236}">
                <a16:creationId xmlns:a16="http://schemas.microsoft.com/office/drawing/2014/main" id="{2D26FB56-DC79-4616-A763-166F7B8EC933}"/>
              </a:ext>
            </a:extLst>
          </p:cNvPr>
          <p:cNvSpPr>
            <a:spLocks xmlns:a="http://schemas.openxmlformats.org/drawingml/2006/main" noGrp="1"/>
          </p:cNvSpPr>
          <p:nvPr/>
        </p:nvSpPr>
        <p:spPr>
          <a:xfrm xmlns:a="http://schemas.openxmlformats.org/drawingml/2006/main">
            <a:off x="685800" y="458152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EnergyPlus</a:t>
            </a:r>
          </a:p>
        </p:txBody>
      </p:sp>
      <p:sp>
        <p:nvSpPr>
          <p:cNvPr id="13" name="">
            <a:extLst xmlns:a="http://schemas.openxmlformats.org/drawingml/2006/main">
              <a:ext uri="{FF2B5EF4-FFF2-40B4-BE49-F238E27FC236}">
                <a16:creationId xmlns:a16="http://schemas.microsoft.com/office/drawing/2014/main" id="{DCF2AB5C-2AD5-4883-BCE3-4FC229110F2D}"/>
              </a:ext>
            </a:extLst>
          </p:cNvPr>
          <p:cNvSpPr>
            <a:spLocks xmlns:a="http://schemas.openxmlformats.org/drawingml/2006/main" noGrp="1"/>
          </p:cNvSpPr>
          <p:nvPr/>
        </p:nvSpPr>
        <p:spPr>
          <a:xfrm xmlns:a="http://schemas.openxmlformats.org/drawingml/2006/main">
            <a:off x="685800" y="4905375"/>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b0e35e14d6034732"/>
              </a:rPr>
              <a:t>energyplus.net</a:t>
            </a:r>
          </a:p>
        </p:txBody>
      </p:sp>
      <p:sp>
        <p:nvSpPr>
          <p:cNvPr id="14" name="">
            <a:extLst xmlns:a="http://schemas.openxmlformats.org/drawingml/2006/main">
              <a:ext uri="{FF2B5EF4-FFF2-40B4-BE49-F238E27FC236}">
                <a16:creationId xmlns:a16="http://schemas.microsoft.com/office/drawing/2014/main" id="{1F00B287-E503-4DEF-80C7-DB1A5CB8A407}"/>
              </a:ext>
            </a:extLst>
          </p:cNvPr>
          <p:cNvSpPr>
            <a:spLocks xmlns:a="http://schemas.openxmlformats.org/drawingml/2006/main" noGrp="1"/>
          </p:cNvSpPr>
          <p:nvPr/>
        </p:nvSpPr>
        <p:spPr>
          <a:xfrm xmlns:a="http://schemas.openxmlformats.org/drawingml/2006/main">
            <a:off x="4953000" y="15811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Modelica Buildings Library</a:t>
            </a:r>
          </a:p>
        </p:txBody>
      </p:sp>
      <p:sp>
        <p:nvSpPr>
          <p:cNvPr id="15" name="">
            <a:extLst xmlns:a="http://schemas.openxmlformats.org/drawingml/2006/main">
              <a:ext uri="{FF2B5EF4-FFF2-40B4-BE49-F238E27FC236}">
                <a16:creationId xmlns:a16="http://schemas.microsoft.com/office/drawing/2014/main" id="{AAC5A63E-2966-4C09-87DD-D4CDA8C572AF}"/>
              </a:ext>
            </a:extLst>
          </p:cNvPr>
          <p:cNvSpPr>
            <a:spLocks xmlns:a="http://schemas.openxmlformats.org/drawingml/2006/main" noGrp="1"/>
          </p:cNvSpPr>
          <p:nvPr/>
        </p:nvSpPr>
        <p:spPr>
          <a:xfrm xmlns:a="http://schemas.openxmlformats.org/drawingml/2006/main">
            <a:off x="4953000" y="190500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183068f75dc54ffc"/>
              </a:rPr>
              <a:t>simulationresearch.lbl.gov/modelica</a:t>
            </a:r>
          </a:p>
        </p:txBody>
      </p:sp>
      <p:sp>
        <p:nvSpPr>
          <p:cNvPr id="16" name="">
            <a:extLst xmlns:a="http://schemas.openxmlformats.org/drawingml/2006/main">
              <a:ext uri="{FF2B5EF4-FFF2-40B4-BE49-F238E27FC236}">
                <a16:creationId xmlns:a16="http://schemas.microsoft.com/office/drawing/2014/main" id="{4F8DCE96-EB9C-4A97-9D4D-661D026CE604}"/>
              </a:ext>
            </a:extLst>
          </p:cNvPr>
          <p:cNvSpPr>
            <a:spLocks xmlns:a="http://schemas.openxmlformats.org/drawingml/2006/main" noGrp="1"/>
          </p:cNvSpPr>
          <p:nvPr/>
        </p:nvSpPr>
        <p:spPr>
          <a:xfrm xmlns:a="http://schemas.openxmlformats.org/drawingml/2006/main">
            <a:off x="4953000" y="25812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Functional Mock-up Interface</a:t>
            </a:r>
          </a:p>
        </p:txBody>
      </p:sp>
      <p:sp>
        <p:nvSpPr>
          <p:cNvPr id="17" name="">
            <a:extLst xmlns:a="http://schemas.openxmlformats.org/drawingml/2006/main">
              <a:ext uri="{FF2B5EF4-FFF2-40B4-BE49-F238E27FC236}">
                <a16:creationId xmlns:a16="http://schemas.microsoft.com/office/drawing/2014/main" id="{CE5C74CB-64C2-4B43-A413-8A908BB51400}"/>
              </a:ext>
            </a:extLst>
          </p:cNvPr>
          <p:cNvSpPr>
            <a:spLocks xmlns:a="http://schemas.openxmlformats.org/drawingml/2006/main" noGrp="1"/>
          </p:cNvSpPr>
          <p:nvPr/>
        </p:nvSpPr>
        <p:spPr>
          <a:xfrm xmlns:a="http://schemas.openxmlformats.org/drawingml/2006/main">
            <a:off x="4953000" y="2905125"/>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56008020471943c0"/>
              </a:rPr>
              <a:t>fmi-standard.org</a:t>
            </a:r>
          </a:p>
        </p:txBody>
      </p:sp>
      <p:sp>
        <p:nvSpPr>
          <p:cNvPr id="18" name="">
            <a:extLst xmlns:a="http://schemas.openxmlformats.org/drawingml/2006/main">
              <a:ext uri="{FF2B5EF4-FFF2-40B4-BE49-F238E27FC236}">
                <a16:creationId xmlns:a16="http://schemas.microsoft.com/office/drawing/2014/main" id="{5A717D58-2FAB-47F9-BF0C-D3DECC7469DD}"/>
              </a:ext>
            </a:extLst>
          </p:cNvPr>
          <p:cNvSpPr>
            <a:spLocks xmlns:a="http://schemas.openxmlformats.org/drawingml/2006/main" noGrp="1"/>
          </p:cNvSpPr>
          <p:nvPr/>
        </p:nvSpPr>
        <p:spPr>
          <a:xfrm xmlns:a="http://schemas.openxmlformats.org/drawingml/2006/main">
            <a:off x="4953000" y="35814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ASHRAE Standard 140</a:t>
            </a:r>
          </a:p>
        </p:txBody>
      </p:sp>
      <p:sp>
        <p:nvSpPr>
          <p:cNvPr id="19" name="">
            <a:extLst xmlns:a="http://schemas.openxmlformats.org/drawingml/2006/main">
              <a:ext uri="{FF2B5EF4-FFF2-40B4-BE49-F238E27FC236}">
                <a16:creationId xmlns:a16="http://schemas.microsoft.com/office/drawing/2014/main" id="{5EB70E5C-DABF-470F-8BA7-973AD5191DA3}"/>
              </a:ext>
            </a:extLst>
          </p:cNvPr>
          <p:cNvSpPr>
            <a:spLocks xmlns:a="http://schemas.openxmlformats.org/drawingml/2006/main" noGrp="1"/>
          </p:cNvSpPr>
          <p:nvPr/>
        </p:nvSpPr>
        <p:spPr>
          <a:xfrm xmlns:a="http://schemas.openxmlformats.org/drawingml/2006/main">
            <a:off x="4953000" y="390525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7cdb445718b342da"/>
              </a:rPr>
              <a:t>data.ashrae.org/standard140</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30508c979b504468"/>
          <a:stretch xmlns:a="http://schemas.openxmlformats.org/drawingml/2006/main"/>
        </p:blipFill>
        <p:spPr>
          <a:xfrm xmlns:a="http://schemas.openxmlformats.org/drawingml/2006/main">
            <a:off x="9353550" y="1847850"/>
            <a:ext cx="1981200" cy="198120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3166191B-9ECE-4DE0-872F-1770D0644367}"/>
              </a:ext>
            </a:extLst>
          </p:cNvPr>
          <p:cNvSpPr>
            <a:spLocks xmlns:a="http://schemas.openxmlformats.org/drawingml/2006/main" noGrp="1"/>
          </p:cNvSpPr>
          <p:nvPr/>
        </p:nvSpPr>
        <p:spPr>
          <a:xfrm xmlns:a="http://schemas.openxmlformats.org/drawingml/2006/main">
            <a:off x="9048750" y="40767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167A55"/>
                </a:solidFill>
                <a:latin typeface="Arimo"/>
                <a:ea typeface="Arimo"/>
                <a:cs typeface="Arimo"/>
              </a:defRPr>
            </a:pPr>
            <a:r>
              <a:rPr sz="1350" b="1" i="0">
                <a:solidFill>
                  <a:srgbClr val="167A55"/>
                </a:solidFill>
                <a:latin typeface="Arimo"/>
                <a:ea typeface="Arimo"/>
                <a:cs typeface="Arimo"/>
              </a:rPr>
              <a:t>LIVE ILLUSTRATIVE DEMO</a:t>
            </a:r>
          </a:p>
        </p:txBody>
      </p:sp>
      <p:sp>
        <p:nvSpPr>
          <p:cNvPr id="22" name="">
            <a:extLst xmlns:a="http://schemas.openxmlformats.org/drawingml/2006/main">
              <a:ext uri="{FF2B5EF4-FFF2-40B4-BE49-F238E27FC236}">
                <a16:creationId xmlns:a16="http://schemas.microsoft.com/office/drawing/2014/main" id="{824E4BC7-9774-4392-BC8C-D6A3FE948F6C}"/>
              </a:ext>
            </a:extLst>
          </p:cNvPr>
          <p:cNvSpPr>
            <a:spLocks xmlns:a="http://schemas.openxmlformats.org/drawingml/2006/main" noGrp="1"/>
          </p:cNvSpPr>
          <p:nvPr/>
        </p:nvSpPr>
        <p:spPr>
          <a:xfrm xmlns:a="http://schemas.openxmlformats.org/drawingml/2006/main">
            <a:off x="8972550" y="4457700"/>
            <a:ext cx="27241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200" b="0" i="0">
                <a:solidFill>
                  <a:srgbClr val="167A55"/>
                </a:solidFill>
                <a:latin typeface="Arimo"/>
                <a:ea typeface="Arimo"/>
                <a:cs typeface="Arimo"/>
              </a:defRPr>
            </a:pPr>
            <a:r>
              <a:rPr sz="1200" b="0" i="0">
                <a:solidFill>
                  <a:srgbClr val="167A55"/>
                </a:solidFill>
                <a:latin typeface="Arimo"/>
                <a:ea typeface="Arimo"/>
                <a:cs typeface="Arimo"/>
                <a:hlinkClick xmlns:r="http://schemas.openxmlformats.org/officeDocument/2006/relationships" r:id="Rfa36d152cb36414b"/>
              </a:rPr>
              <a:t>rainforest-virtual-proving-ground</a:t>
            </a:r>
          </a:p>
          <a:p xmlns:a="http://schemas.openxmlformats.org/drawingml/2006/main">
            <a:pPr algn="ctr">
              <a:lnSpc>
                <a:spcPct val="105000"/>
              </a:lnSpc>
              <a:buNone/>
              <a:defRPr sz="1200" b="0" i="0">
                <a:solidFill>
                  <a:srgbClr val="167A55"/>
                </a:solidFill>
                <a:latin typeface="Arimo"/>
                <a:ea typeface="Arimo"/>
                <a:cs typeface="Arimo"/>
              </a:defRPr>
            </a:pPr>
            <a:r>
              <a:rPr sz="1200" b="0" i="0">
                <a:solidFill>
                  <a:srgbClr val="167A55"/>
                </a:solidFill>
                <a:latin typeface="Arimo"/>
                <a:ea typeface="Arimo"/>
                <a:cs typeface="Arimo"/>
              </a:rPr>
              <a:t>.bolt.linkpc.net</a:t>
            </a:r>
          </a:p>
        </p:txBody>
      </p:sp>
      <p:sp>
        <p:nvSpPr>
          <p:cNvPr id="23" name="">
            <a:extLst xmlns:a="http://schemas.openxmlformats.org/drawingml/2006/main">
              <a:ext uri="{FF2B5EF4-FFF2-40B4-BE49-F238E27FC236}">
                <a16:creationId xmlns:a16="http://schemas.microsoft.com/office/drawing/2014/main" id="{DBCCFC76-701F-4F65-B690-8FAAC7BB5787}"/>
              </a:ext>
            </a:extLst>
          </p:cNvPr>
          <p:cNvSpPr>
            <a:spLocks xmlns:a="http://schemas.openxmlformats.org/drawingml/2006/main" noGrp="1"/>
          </p:cNvSpPr>
          <p:nvPr/>
        </p:nvSpPr>
        <p:spPr>
          <a:xfrm xmlns:a="http://schemas.openxmlformats.org/drawingml/2006/main">
            <a:off x="4953000" y="5295900"/>
            <a:ext cx="6667500" cy="609600"/>
          </a:xfrm>
          <a:prstGeom xmlns:a="http://schemas.openxmlformats.org/drawingml/2006/main" prst="roundRect">
            <a:avLst>
              <a:gd name="adj" fmla="val 25000"/>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84709"/>
          </a:bodyPr>
          <a:lstStyle xmlns:a="http://schemas.openxmlformats.org/drawingml/2006/main"/>
          <a:p xmlns:a="http://schemas.openxmlformats.org/drawingml/2006/main">
            <a:pPr algn="ctr">
              <a:lnSpc>
                <a:spcPct val="100000"/>
              </a:lnSpc>
              <a:buNone/>
              <a:defRPr sz="1425" b="1">
                <a:solidFill>
                  <a:srgbClr val="10251D"/>
                </a:solidFill>
                <a:latin typeface="Arimo"/>
                <a:ea typeface="Arimo"/>
                <a:cs typeface="Arimo"/>
              </a:defRPr>
            </a:pPr>
            <a:r>
              <a:rPr sz="1425" b="1">
                <a:solidFill>
                  <a:srgbClr val="10251D"/>
                </a:solidFill>
                <a:latin typeface="Arimo"/>
                <a:ea typeface="Arimo"/>
                <a:cs typeface="Arimo"/>
              </a:rPr>
              <a:t>Project sources: DigitalTwin control and sensor inventories, data-pipeline code, and current interface source</a:t>
            </a:r>
          </a:p>
        </p:txBody>
      </p:sp>
    </p:spTree>
    <p:extLst>
      <p:ext uri="{BB962C8B-B14F-4D97-AF65-F5344CB8AC3E}">
        <p14:creationId xmlns:p14="http://schemas.microsoft.com/office/powerpoint/2010/main" val="1620191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2026-09-05T07:24:46.5330000Z</dcterms:created>
  <dcterms:modified xsi:type="dcterms:W3CDTF">2026-09-05T07:24:46.5330000Z</dcterms:modified>
</coreProperties>
</file>