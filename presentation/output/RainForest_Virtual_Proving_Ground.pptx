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fe89d69b684aef" /><Relationship Type="http://schemas.openxmlformats.org/officeDocument/2006/relationships/extended-properties" Target="/docProps/app.xml" Id="R5b52d35387944b73" /><Relationship Type="http://schemas.openxmlformats.org/officeDocument/2006/relationships/officeDocument" Target="/ppt/presentation.xml" Id="Raca58a91d4ca4245" /></Relationships>
</file>

<file path=ppt/presentation.xml><?xml version="1.0" encoding="utf-8"?>
<p:presentation xmlns:p="http://schemas.openxmlformats.org/presentationml/2006/main">
  <p:sldMasterIdLst>
    <p:sldMasterId xmlns:r="http://schemas.openxmlformats.org/officeDocument/2006/relationships" id="2147483648" r:id="R4f6aab25332244ce"/>
  </p:sldMasterIdLst>
  <p:notesMasterIdLst>
    <p:notesMasterId xmlns:r="http://schemas.openxmlformats.org/officeDocument/2006/relationships" r:id="R78050cf026a14c53"/>
  </p:notesMasterIdLst>
  <p:sldIdLst>
    <p:sldId xmlns:r="http://schemas.openxmlformats.org/officeDocument/2006/relationships" id="256" r:id="R591bf8496baf455f"/>
    <p:sldId xmlns:r="http://schemas.openxmlformats.org/officeDocument/2006/relationships" id="257" r:id="Rbb327162486d4d64"/>
    <p:sldId xmlns:r="http://schemas.openxmlformats.org/officeDocument/2006/relationships" id="258" r:id="R34d7ba593de84821"/>
    <p:sldId xmlns:r="http://schemas.openxmlformats.org/officeDocument/2006/relationships" id="259" r:id="R1cd441c7fb094881"/>
    <p:sldId xmlns:r="http://schemas.openxmlformats.org/officeDocument/2006/relationships" id="260" r:id="R9284f01ad5d84158"/>
    <p:sldId xmlns:r="http://schemas.openxmlformats.org/officeDocument/2006/relationships" id="261" r:id="R26cd243703944dce"/>
    <p:sldId xmlns:r="http://schemas.openxmlformats.org/officeDocument/2006/relationships" id="262" r:id="R45fdbbd7a8794626"/>
    <p:sldId xmlns:r="http://schemas.openxmlformats.org/officeDocument/2006/relationships" id="263" r:id="R09586af165d448ac"/>
    <p:sldId xmlns:r="http://schemas.openxmlformats.org/officeDocument/2006/relationships" id="264" r:id="R393c65bf9ae14008"/>
    <p:sldId xmlns:r="http://schemas.openxmlformats.org/officeDocument/2006/relationships" id="265" r:id="Rf05ae3bdd2e148ab"/>
    <p:sldId xmlns:r="http://schemas.openxmlformats.org/officeDocument/2006/relationships" id="266" r:id="R2a419a9dadfc4dd4"/>
    <p:sldId xmlns:r="http://schemas.openxmlformats.org/officeDocument/2006/relationships" id="267" r:id="R21f0d480d24a44b4"/>
    <p:sldId xmlns:r="http://schemas.openxmlformats.org/officeDocument/2006/relationships" id="268" r:id="R3efdb87682b24135"/>
    <p:sldId xmlns:r="http://schemas.openxmlformats.org/officeDocument/2006/relationships" id="269" r:id="R4340880838574309"/>
    <p:sldId xmlns:r="http://schemas.openxmlformats.org/officeDocument/2006/relationships" id="270" r:id="R4a721d800bc441e5"/>
    <p:sldId xmlns:r="http://schemas.openxmlformats.org/officeDocument/2006/relationships" id="271" r:id="R665230223a55498e"/>
    <p:sldId xmlns:r="http://schemas.openxmlformats.org/officeDocument/2006/relationships" id="272" r:id="R275af7b80339467a"/>
    <p:sldId xmlns:r="http://schemas.openxmlformats.org/officeDocument/2006/relationships" id="273" r:id="R4a90bceac01e42aa"/>
    <p:sldId xmlns:r="http://schemas.openxmlformats.org/officeDocument/2006/relationships" id="274" r:id="R7bfcfbd300f74b85"/>
    <p:sldId xmlns:r="http://schemas.openxmlformats.org/officeDocument/2006/relationships" id="275" r:id="R14c67d013be44bbf"/>
    <p:sldId xmlns:r="http://schemas.openxmlformats.org/officeDocument/2006/relationships" id="276" r:id="Rcb0802e9a06b433f"/>
    <p:sldId xmlns:r="http://schemas.openxmlformats.org/officeDocument/2006/relationships" id="277" r:id="R98daeded5c8f4541"/>
    <p:sldId xmlns:r="http://schemas.openxmlformats.org/officeDocument/2006/relationships" id="278" r:id="R52386052c7ed4da4"/>
    <p:sldId xmlns:r="http://schemas.openxmlformats.org/officeDocument/2006/relationships" id="279" r:id="R151041bd487d436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eb8881e21504e1f" /><Relationship Type="http://schemas.openxmlformats.org/officeDocument/2006/relationships/slideMaster" Target="/ppt/slideMasters/slideMaster1.xml" Id="R4f6aab25332244ce" /><Relationship Type="http://schemas.openxmlformats.org/officeDocument/2006/relationships/notesMaster" Target="/ppt/notesMasters/notesMaster1.xml" Id="R78050cf026a14c53" /><Relationship Type="http://schemas.openxmlformats.org/officeDocument/2006/relationships/presProps" Target="/ppt/presProps.xml" Id="Refbd1dddfb6e438f" /><Relationship Type="http://schemas.openxmlformats.org/officeDocument/2006/relationships/tableStyles" Target="/ppt/tableStyles.xml" Id="R050f051fa48f403d" /><Relationship Type="http://schemas.openxmlformats.org/officeDocument/2006/relationships/slide" Target="/ppt/slides/slide1.xml" Id="R591bf8496baf455f" /><Relationship Type="http://schemas.openxmlformats.org/officeDocument/2006/relationships/slide" Target="/ppt/slides/slide2.xml" Id="Rbb327162486d4d64" /><Relationship Type="http://schemas.openxmlformats.org/officeDocument/2006/relationships/slide" Target="/ppt/slides/slide3.xml" Id="R34d7ba593de84821" /><Relationship Type="http://schemas.openxmlformats.org/officeDocument/2006/relationships/slide" Target="/ppt/slides/slide4.xml" Id="R1cd441c7fb094881" /><Relationship Type="http://schemas.openxmlformats.org/officeDocument/2006/relationships/slide" Target="/ppt/slides/slide5.xml" Id="R9284f01ad5d84158" /><Relationship Type="http://schemas.openxmlformats.org/officeDocument/2006/relationships/slide" Target="/ppt/slides/slide6.xml" Id="R26cd243703944dce" /><Relationship Type="http://schemas.openxmlformats.org/officeDocument/2006/relationships/slide" Target="/ppt/slides/slide7.xml" Id="R45fdbbd7a8794626" /><Relationship Type="http://schemas.openxmlformats.org/officeDocument/2006/relationships/slide" Target="/ppt/slides/slide8.xml" Id="R09586af165d448ac" /><Relationship Type="http://schemas.openxmlformats.org/officeDocument/2006/relationships/slide" Target="/ppt/slides/slide9.xml" Id="R393c65bf9ae14008" /><Relationship Type="http://schemas.openxmlformats.org/officeDocument/2006/relationships/slide" Target="/ppt/slides/slide10.xml" Id="Rf05ae3bdd2e148ab" /><Relationship Type="http://schemas.openxmlformats.org/officeDocument/2006/relationships/slide" Target="/ppt/slides/slide11.xml" Id="R2a419a9dadfc4dd4" /><Relationship Type="http://schemas.openxmlformats.org/officeDocument/2006/relationships/slide" Target="/ppt/slides/slide12.xml" Id="R21f0d480d24a44b4" /><Relationship Type="http://schemas.openxmlformats.org/officeDocument/2006/relationships/slide" Target="/ppt/slides/slide13.xml" Id="R3efdb87682b24135" /><Relationship Type="http://schemas.openxmlformats.org/officeDocument/2006/relationships/slide" Target="/ppt/slides/slide14.xml" Id="R4340880838574309" /><Relationship Type="http://schemas.openxmlformats.org/officeDocument/2006/relationships/slide" Target="/ppt/slides/slide15.xml" Id="R4a721d800bc441e5" /><Relationship Type="http://schemas.openxmlformats.org/officeDocument/2006/relationships/slide" Target="/ppt/slides/slide16.xml" Id="R665230223a55498e" /><Relationship Type="http://schemas.openxmlformats.org/officeDocument/2006/relationships/slide" Target="/ppt/slides/slide17.xml" Id="R275af7b80339467a" /><Relationship Type="http://schemas.openxmlformats.org/officeDocument/2006/relationships/slide" Target="/ppt/slides/slide18.xml" Id="R4a90bceac01e42aa" /><Relationship Type="http://schemas.openxmlformats.org/officeDocument/2006/relationships/slide" Target="/ppt/slides/slide19.xml" Id="R7bfcfbd300f74b85" /><Relationship Type="http://schemas.openxmlformats.org/officeDocument/2006/relationships/slide" Target="/ppt/slides/slide20.xml" Id="R14c67d013be44bbf" /><Relationship Type="http://schemas.openxmlformats.org/officeDocument/2006/relationships/slide" Target="/ppt/slides/slide21.xml" Id="Rcb0802e9a06b433f" /><Relationship Type="http://schemas.openxmlformats.org/officeDocument/2006/relationships/slide" Target="/ppt/slides/slide22.xml" Id="R98daeded5c8f4541" /><Relationship Type="http://schemas.openxmlformats.org/officeDocument/2006/relationships/slide" Target="/ppt/slides/slide23.xml" Id="R52386052c7ed4da4" /><Relationship Type="http://schemas.openxmlformats.org/officeDocument/2006/relationships/slide" Target="/ppt/slides/slide24.xml" Id="R151041bd487d43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473bf8db2a41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e83e2540c34863" /><Relationship Type="http://schemas.openxmlformats.org/officeDocument/2006/relationships/notesMaster" Target="/ppt/notesMasters/notesMaster1.xml" Id="R262833a5f69b45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49e11bf7944c7a" /><Relationship Type="http://schemas.openxmlformats.org/officeDocument/2006/relationships/notesMaster" Target="/ppt/notesMasters/notesMaster1.xml" Id="R74460e7a954247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b4d72ca1aa4dc0" /><Relationship Type="http://schemas.openxmlformats.org/officeDocument/2006/relationships/notesMaster" Target="/ppt/notesMasters/notesMaster1.xml" Id="R40987c21074942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7585b7b7244716" /><Relationship Type="http://schemas.openxmlformats.org/officeDocument/2006/relationships/notesMaster" Target="/ppt/notesMasters/notesMaster1.xml" Id="R4842a3be126c4d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a575eba9ad4ae4" /><Relationship Type="http://schemas.openxmlformats.org/officeDocument/2006/relationships/notesMaster" Target="/ppt/notesMasters/notesMaster1.xml" Id="R22101d36c73348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fa36c34a3347ce" /><Relationship Type="http://schemas.openxmlformats.org/officeDocument/2006/relationships/notesMaster" Target="/ppt/notesMasters/notesMaster1.xml" Id="R84b42391f88548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fa0a62f50a45b2" /><Relationship Type="http://schemas.openxmlformats.org/officeDocument/2006/relationships/notesMaster" Target="/ppt/notesMasters/notesMaster1.xml" Id="R02ab8b79345f4338"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ce09a484914cfb" /><Relationship Type="http://schemas.openxmlformats.org/officeDocument/2006/relationships/notesMaster" Target="/ppt/notesMasters/notesMaster1.xml" Id="R8403f31458d14b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66c016d2334a27" /><Relationship Type="http://schemas.openxmlformats.org/officeDocument/2006/relationships/notesMaster" Target="/ppt/notesMasters/notesMaster1.xml" Id="Raabea036b6614a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83de3703414b2d" /><Relationship Type="http://schemas.openxmlformats.org/officeDocument/2006/relationships/notesMaster" Target="/ppt/notesMasters/notesMaster1.xml" Id="R6228f24ad76e427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72364076224006" /><Relationship Type="http://schemas.openxmlformats.org/officeDocument/2006/relationships/notesMaster" Target="/ppt/notesMasters/notesMaster1.xml" Id="R6047a677417c47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742ab3296184282" /><Relationship Type="http://schemas.openxmlformats.org/officeDocument/2006/relationships/notesMaster" Target="/ppt/notesMasters/notesMaster1.xml" Id="Rc0019918aa134f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33869b5b0e4da2" /><Relationship Type="http://schemas.openxmlformats.org/officeDocument/2006/relationships/notesMaster" Target="/ppt/notesMasters/notesMaster1.xml" Id="R962ffa24ef7445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07ab04700b9440a" /><Relationship Type="http://schemas.openxmlformats.org/officeDocument/2006/relationships/notesMaster" Target="/ppt/notesMasters/notesMaster1.xml" Id="R368304509d5044d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daea1b776f4449" /><Relationship Type="http://schemas.openxmlformats.org/officeDocument/2006/relationships/notesMaster" Target="/ppt/notesMasters/notesMaster1.xml" Id="R72d1cdc48dea4fc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09393e6ba5443a" /><Relationship Type="http://schemas.openxmlformats.org/officeDocument/2006/relationships/notesMaster" Target="/ppt/notesMasters/notesMaster1.xml" Id="R3b641c1f569e422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59fdb8f2a14129" /><Relationship Type="http://schemas.openxmlformats.org/officeDocument/2006/relationships/notesMaster" Target="/ppt/notesMasters/notesMaster1.xml" Id="Rb6937ccec46c45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caf79b70bd94386" /><Relationship Type="http://schemas.openxmlformats.org/officeDocument/2006/relationships/notesMaster" Target="/ppt/notesMasters/notesMaster1.xml" Id="Rcdfdbabacc1d4a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935c72ab78b4b43" /><Relationship Type="http://schemas.openxmlformats.org/officeDocument/2006/relationships/notesMaster" Target="/ppt/notesMasters/notesMaster1.xml" Id="Rb7ade184c6834b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3d65e41dffd48b7" /><Relationship Type="http://schemas.openxmlformats.org/officeDocument/2006/relationships/notesMaster" Target="/ppt/notesMasters/notesMaster1.xml" Id="R0616901aa022468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835e1d8666a4cdb" /><Relationship Type="http://schemas.openxmlformats.org/officeDocument/2006/relationships/notesMaster" Target="/ppt/notesMasters/notesMaster1.xml" Id="Rf8934373f0f74aa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48ab53034894d27" /><Relationship Type="http://schemas.openxmlformats.org/officeDocument/2006/relationships/notesMaster" Target="/ppt/notesMasters/notesMaster1.xml" Id="Rd84eac071e344e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c11cb0adea46ce" /><Relationship Type="http://schemas.openxmlformats.org/officeDocument/2006/relationships/notesMaster" Target="/ppt/notesMasters/notesMaster1.xml" Id="R84a7a3140a5642f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42dcb3d17554a68" /><Relationship Type="http://schemas.openxmlformats.org/officeDocument/2006/relationships/notesMaster" Target="/ppt/notesMasters/notesMaster1.xml" Id="R6a92f8605d724c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groups already develop climate-control strategies for Biosphere 2. I propose a shared simulation environment. It gives those teams another way to test scenarios. It also makes the results easier to reproduce. Students could use the same environment. They could test a project, read the results, and improve the design. The platform accepts a scheduled strategy with 64 control values. It predicts the response in 36 RainForest climate channels. Each result shows climate, energy, uncertainty, and operating limits. Strategy authors keep ownership of their methods. Biosphere 2 operations keeps authority over field studies. I am asking for a focused, offline, sixteen-week Proof of Concept.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platform builds on climate-control research that is already underway. Research groups bring their own strategies and questions. Together with domain experts, they choose the scenarios. They choose the initial state, weather case, and performance measures. The simulator returns predicted trajectories and uncertainty. Teams discuss those results with their own models and evidence. The run record keeps the inputs and assumptions. That makes later comparisons easier to reproduce. Students use the same workflow for their projects. This is an extra tool for research and teaching. Each result applies only to the tested model and scenario. The model limits stay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forward-simulation step. X at time k is the measured climate state. U at time k is the 64-value control vector. W at time k is weather and other context. The engine uses those three inputs to estimate the next climate state. That is x at time k plus one. The formula calls this engine F theta. F theta could be a gray-box model, temporal machine learning, physics, or a hybrid. A research group could also contribute its own model. Every engine states its assumptions and validation evidence. For the same inputs, we compare trajectories, uncertainty, constraint flags, and diagnostics.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testing can help researchers and operators plan field studies together. Climate responses have delays. Equipment and outdoor conditions also interact. Simulation gives the group one more way to examine those effects. It can inform operating limits and monitoring plans. Biosphere 2 uses twenty-six air handlers. It reports that a sunny-day power loss can damage biomes in about twenty minutes. Those facts describe the facility. They do not judge any strategy or research group. Our testbed stays offline. Researchers and operators would review its trajectories and uncertainty with other evidence. A field study would still need separate authorization.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workflow has clear responsibilities. A student, researcher, or engineering team creates a strategy outside the platform. The strategy is a timestamped schedule of complete 64-value vectors. The platform checks units, bounds, timestamps, and missing values. It combines the schedule with an initial climate state and a scenario. The engine advances the 36-channel state through time. The evaluation layer reports climate error, energy, stability, constraints, and uncertainty. Authors and operators can inspect the result together. Strategy authors keep control of their methods. The platform does not generate or rewrite their submissions. The run record is versioned. Biosphere 2 operations retains authority over facility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strategy format is simple. At each timestamp, the file gives one complete vector of 64 absolute values. It includes fifteen temperature setpoints. It also includes seven fan commands and forty-two valve, damper, or related commands. Each value remains active until the next timestamp. Complete vectors remove ambiguity about inherited settings. They make every replay deterministic. The first version accepts JSON or CSV. Before simulation, the platform checks the schema, time order, units, ranges, and missing controls. This one format can hold output from PID, MPC, or reinforcement learning. We can compare algorithms without tying the platform to one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prototype shows how a submitted climate-control strategy can be explored visually. I will demonstrate loading a strategy, changing the timeline, switching between temperature and humidity, and selecting a measurement point. The numbers shown here are illustrative. The next slide provides a numbered guide to each part of the interface.</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me walk through the interface using the numbered callouts. The left panel describes the submitted controls, the center shows the RainForest and replay controls, and the right panel shows the selected sensor and scenario results.</a:t>
            </a:r>
          </a:p>
          <a:p xmlns:a="http://schemas.openxmlformats.org/drawingml/2006/main">
            <a:r>
              <a:t/>
            </a:r>
          </a:p>
          <a:p xmlns:a="http://schemas.openxmlformats.org/drawingml/2006/main">
            <a:r>
              <a:t>1. Load strategy file</a:t>
            </a:r>
          </a:p>
          <a:p xmlns:a="http://schemas.openxmlformats.org/drawingml/2006/main">
            <a:r>
              <a:t>This button opens a JSON or CSV strategy file. Each timestamp contains a complete set of 64 absolute control values. The prototype checks the file structure and reports loading errors.</a:t>
            </a:r>
          </a:p>
          <a:p xmlns:a="http://schemas.openxmlformats.org/drawingml/2006/main">
            <a:r>
              <a:t/>
            </a:r>
          </a:p>
          <a:p xmlns:a="http://schemas.openxmlformats.org/drawingml/2006/main">
            <a:r>
              <a:t>2. Download example and Restore</a:t>
            </a:r>
          </a:p>
          <a:p xmlns:a="http://schemas.openxmlformats.org/drawingml/2006/main">
            <a:r>
              <a:t>Download example saves a sample JSON file that shows the expected format. Restore reloads the prepared example, stops playback, and returns the timeline to its first step.</a:t>
            </a:r>
          </a:p>
          <a:p xmlns:a="http://schemas.openxmlformats.org/drawingml/2006/main">
            <a:r>
              <a:t/>
            </a:r>
          </a:p>
          <a:p xmlns:a="http://schemas.openxmlformats.org/drawingml/2006/main">
            <a:r>
              <a:t>3. Loaded strategy</a:t>
            </a:r>
          </a:p>
          <a:p xmlns:a="http://schemas.openxmlformats.org/drawingml/2006/main">
            <a:r>
              <a:t>This panel identifies the loaded file or prepared example and gives the number of snapshots. Here, five snapshots each contain 64 values. The green bar indicates a loaded strategy; it does not show simulation progress.</a:t>
            </a:r>
          </a:p>
          <a:p xmlns:a="http://schemas.openxmlformats.org/drawingml/2006/main">
            <a:r>
              <a:t/>
            </a:r>
          </a:p>
          <a:p xmlns:a="http://schemas.openxmlformats.org/drawingml/2006/main">
            <a:r>
              <a:t>4. Active snapshot and control groups</a:t>
            </a:r>
          </a:p>
          <a:p xmlns:a="http://schemas.openxmlformats.org/drawingml/2006/main">
            <a:r>
              <a:t>The timestamp identifies the control vector currently being displayed. The three cards summarize 15 temperature setpoints, 7 supply-fan commands, and 42 valve or damper commands. Each card shows the group count and average command value. These are input settings; the sensor readings appear on the right. Each snapshot remains active until the next scheduled timestamp.</a:t>
            </a:r>
          </a:p>
          <a:p xmlns:a="http://schemas.openxmlformats.org/drawingml/2006/main">
            <a:r>
              <a:t/>
            </a:r>
          </a:p>
          <a:p xmlns:a="http://schemas.openxmlformats.org/drawingml/2006/main">
            <a:r>
              <a:t>5. Temperature and Humidity</a:t>
            </a:r>
          </a:p>
          <a:p xmlns:a="http://schemas.openxmlformats.org/drawingml/2006/main">
            <a:r>
              <a:t>These buttons choose which quantity colors the sensor points in the 3D view and appears in the time-series plot. The Viewing label below the scene repeats the selected quantity.</a:t>
            </a:r>
          </a:p>
          <a:p xmlns:a="http://schemas.openxmlformats.org/drawingml/2006/main">
            <a:r>
              <a:t/>
            </a:r>
          </a:p>
          <a:p xmlns:a="http://schemas.openxmlformats.org/drawingml/2006/main">
            <a:r>
              <a:t>6. 3D view and sensor points</a:t>
            </a:r>
          </a:p>
          <a:p xmlns:a="http://schemas.openxmlformats.org/drawingml/2006/main">
            <a:r>
              <a:t>The schematic model shows the RainForest and four measurement towers: Mountain, Northeast, Northwest, and South. The 18 measurement points provide 36 channels because each point has both temperature and relative humidity. Drag to rotate the view and scroll to zoom. Click a glowing point to select it and update the detail panel. The point colors illustrate the selected quantity.</a:t>
            </a:r>
          </a:p>
          <a:p xmlns:a="http://schemas.openxmlformats.org/drawingml/2006/main">
            <a:r>
              <a:t/>
            </a:r>
          </a:p>
          <a:p xmlns:a="http://schemas.openxmlformats.org/drawingml/2006/main">
            <a:r>
              <a:t>7. Reset view</a:t>
            </a:r>
          </a:p>
          <a:p xmlns:a="http://schemas.openxmlformats.org/drawingml/2006/main">
            <a:r>
              <a:t>This button returns the camera to its starting position. It changes the viewing angle without reloading the strategy or moving the timeline.</a:t>
            </a:r>
          </a:p>
          <a:p xmlns:a="http://schemas.openxmlformats.org/drawingml/2006/main">
            <a:r>
              <a:t/>
            </a:r>
          </a:p>
          <a:p xmlns:a="http://schemas.openxmlformats.org/drawingml/2006/main">
            <a:r>
              <a:t>8. Measurement point</a:t>
            </a:r>
          </a:p>
          <a:p xmlns:a="http://schemas.openxmlformats.org/drawingml/2006/main">
            <a:r>
              <a:t>This menu selects a point by tower and height. For example, S at 20 meters means the 20-meter measurement point on the South tower. It controls the same selection as clicking a point in the 3D view.</a:t>
            </a:r>
          </a:p>
          <a:p xmlns:a="http://schemas.openxmlformats.org/drawingml/2006/main">
            <a:r>
              <a:t/>
            </a:r>
          </a:p>
          <a:p xmlns:a="http://schemas.openxmlformats.org/drawingml/2006/main">
            <a:r>
              <a:t>9. Current temperature and humidity</a:t>
            </a:r>
          </a:p>
          <a:p xmlns:a="http://schemas.openxmlformats.org/drawingml/2006/main">
            <a:r>
              <a:t>These two cards show the selected point's temperature in degrees Celsius and relative humidity in percent at the active timestamp. Clicking either card also selects the quantity shown in the 3D view and chart.</a:t>
            </a:r>
          </a:p>
          <a:p xmlns:a="http://schemas.openxmlformats.org/drawingml/2006/main">
            <a:r>
              <a:t/>
            </a:r>
          </a:p>
          <a:p xmlns:a="http://schemas.openxmlformats.org/drawingml/2006/main">
            <a:r>
              <a:t>10. Sensor time series</a:t>
            </a:r>
          </a:p>
          <a:p xmlns:a="http://schemas.openxmlformats.org/drawingml/2006/main">
            <a:r>
              <a:t>The graph shows the selected quantity for the selected point across the scenario timestamps. The dashed vertical line marks the active timestamp. Hovering over the curve reveals its time and value. The title identifies the tower, height, and sensor ID.</a:t>
            </a:r>
          </a:p>
          <a:p xmlns:a="http://schemas.openxmlformats.org/drawingml/2006/main">
            <a:r>
              <a:t/>
            </a:r>
          </a:p>
          <a:p xmlns:a="http://schemas.openxmlformats.org/drawingml/2006/main">
            <a:r>
              <a:t>11. Scenario flag</a:t>
            </a:r>
          </a:p>
          <a:p xmlns:a="http://schemas.openxmlformats.org/drawingml/2006/main">
            <a:r>
              <a:t>This panel shows either an illustrative warning or a message that no scenario flag is present. In this prototype, the warning appears at the middle snapshot to demonstrate how a future warning could be presented. It is a prepared example, not the result of a validated threshold detector.</a:t>
            </a:r>
          </a:p>
          <a:p xmlns:a="http://schemas.openxmlformats.org/drawingml/2006/main">
            <a:r>
              <a:t/>
            </a:r>
          </a:p>
          <a:p xmlns:a="http://schemas.openxmlformats.org/drawingml/2006/main">
            <a:r>
              <a:t>12. RainForest mean T and RH</a:t>
            </a:r>
          </a:p>
          <a:p xmlns:a="http://schemas.openxmlformats.org/drawingml/2006/main">
            <a:r>
              <a:t>These values are the arithmetic averages across the 18 displayed measurement points at the active timestamp. They give a quick overview alongside the selected point's readings. They are not volume-weighted averages of the entire biome.</a:t>
            </a:r>
          </a:p>
          <a:p xmlns:a="http://schemas.openxmlformats.org/drawingml/2006/main">
            <a:r>
              <a:t/>
            </a:r>
          </a:p>
          <a:p xmlns:a="http://schemas.openxmlformats.org/drawingml/2006/main">
            <a:r>
              <a:t>13. Review before real-world deployment</a:t>
            </a:r>
          </a:p>
          <a:p xmlns:a="http://schemas.openxmlformats.org/drawingml/2006/main">
            <a:r>
              <a:t>This label reminds us that the results require review before any real-world use. It is an informational notice, not a button that applies the strategy to equipment.</a:t>
            </a:r>
          </a:p>
          <a:p xmlns:a="http://schemas.openxmlformats.org/drawingml/2006/main">
            <a:r>
              <a:t/>
            </a:r>
          </a:p>
          <a:p xmlns:a="http://schemas.openxmlformats.org/drawingml/2006/main">
            <a:r>
              <a:t>14. Simulation timeline</a:t>
            </a:r>
          </a:p>
          <a:p xmlns:a="http://schemas.openxmlformats.org/drawingml/2006/main">
            <a:r>
              <a:t>Play and Pause advance or stop the scenario replay. The slider selects a saved snapshot, and the time label shows the active timestamp. The timestamp cards jump directly to a scheduled control vector. In this example, they cover 08:00 to 16:00 in five snapshots. Moving the timeline updates the active input summary, sensor values, scene colors, graph cursor, means, and example warning together.</a:t>
            </a:r>
          </a:p>
          <a:p xmlns:a="http://schemas.openxmlformats.org/drawingml/2006/main">
            <a:r>
              <a:t/>
            </a:r>
          </a:p>
          <a:p xmlns:a="http://schemas.openxmlformats.org/drawingml/2006/main">
            <a:r>
              <a:t>15. Prototype status and system size</a:t>
            </a:r>
          </a:p>
          <a:p xmlns:a="http://schemas.openxmlformats.org/drawingml/2006/main">
            <a:r>
              <a:t>The Illustrative scenario labels explain that the displayed climate response is prepared for demonstration and is not yet generated by a validated predictive model. The header also summarizes the system size: 64 control inputs and 36 climate measurement channels.</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Proof of Concept stays offline. It cannot write commands to Biosphere 2 equipment. Every strategy passes schema and bound checks before simulation. The system keeps the submitted file, model version, scenario, software version, and result. Another reviewer can then reproduce the run. A future field experiment needs a separate procedure. It needs a named operator, approved limits, rollback conditions, and explicit authorization. Model confidence does not grant operational authority. A prediction informs a decision. The people responsible for the facility still make that decision. The first milestone is evidence for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stable simulation contract lets research groups contribute different engines. Each engine receives the same inputs. Those are the initial 36-channel state, the 64-control schedule, context, and the simulation horizon. Each engine returns the same outputs. Those are predicted trajectories, uncertainty, constraint events, energy indicators, and diagnostics. One engine could be an LSTM trained on synchronized historical data. Another could be a state-space model with physical coefficients. An adapter could wrap EnergyPlus, Modelica, or a hybrid model. Teams can run one strategy through several engines. They can discuss the differences. Each model keeps its own assumptions, version, and attribution. The PoC evaluates candidates for its intended use.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benchmark can compare four model families. A gray-box state-space model has interpretable time constants. It can work with less data. It may miss complex nonlinear interactions. A temporal machine-learning model, such as an LSTM, can learn delays and nonlinear behavior. It needs synchronized controls, sensors, and context. It also needs careful out-of-distribution checks. A physics-based model in EnergyPlus or Modelica represents HVAC components and energy structure. Calibration for a unique biome can take substantial work. A hybrid model combines physical structure with learned residual behavior. The PoC does not assume one family will win. It sets test windows, error metrics, uncertainty checks, and computing requirements. Then it selects the simplest engine that meets the use case.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proposal uses established simulation practice. BOPTEST shows how external control algorithms can use one test environment and receive standard performance measures. EnergyPlus and the Modelica Buildings Library support dynamic building and HVAC simulation. The Functional Mock-up Interface packages and exchanges simulation models. It also supports co-simulation. ASHRAE Standard 140 offers a systematic way to test building-energy simulation programs. These references support the engineering pattern. That pattern has a stable interface, versioned cases, repeatable metrics, and replaceable engines. They do not validate the current RainForest app. The RainForest still needs its own data preparation, calibration, and validation.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 learning is a central purpose of this simulator. A student creates a climate-control project. The student tests it against documented scenarios. Then the student reads the trajectories. Faculty feedback helps explain why the result changes across conditions. The student can revise the design and test again. This gives practice in experimental design and uncertainty. It also connects mathematical methods to a real environmental system. The common strategy format supports PID, MPC, reinforcement learning, and other methods. Versioned runs help students explain and reproduce their findings. Student code stays offline and separate from facility equipment. The main outcome is stronger research and engineering skill.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platform supports research on energy use and climate conditions. Teams compare schedules under agreed scenarios. They can view climate trajectories with fan demand, valve motion, and other equipment indicators. They can ask whether two strategies give similar climate results with different energy needs. These comparisons complement each team's existing analysis. They can also inform jointly planned field studies. Energy-cost savings are a possible benefit. The PoC must first calibrate energy relationships and validate them against measurements. I am not claiming a savings percentage or dollar amount today. Reproducible scenarios can still support research proposals, student projects, and grant applications. Each result keeps its assumptions and model limits.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has four stages. In weeks one through four, we align controls, climate channels, context, energy signals, timestamps, units, and limits. We also define training and holdout periods. In weeks five through eight, we build and compare at least two engine families. We measure forecast error and add uncertainty checks. In weeks nine through twelve, we build the module interface, scenarios, indicators, constraint logic, and review interface. In weeks thirteen through sixteen, we replay historical periods. We compare predictions with measurements. We conduct operator review and acceptance tests. The deliverable is an offline testbed, a validation report, documented limits, and a Phase 2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ask for approval to build the sixteen-week offline Proof of Concept. The project needs a Biosphere 2 operations liaison. It also needs authorized access to synchronized control histories, climate measurements, context, energy signals, and operating limits. I would lead the implementation under Dr. Ildar Gabitov's academic supervision. Researchers and Biosphere 2 staff would help define scenarios. They would review assumptions and acceptance criteria. At the end, leadership receives the testbed, model benchmark, validation evidence, limits, and a Phase 2 recommendation. This request includes no equipment connection. The PoC supports existing climate-control research. It also gives students one shared place to test and improve their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separates the current prototype from the proposed work. We already have a 64-control inventory and a 36-channel measurement schema. We also have data-pipeline code, a timestamped strategy format, and an illustrative 3D interface. The displayed trajectories do not come from a validated causal engine. The PoC must build synchronized training and validation data. It must select and calibrate an engine. It must quantify uncertainty, define energy indicators, and validate operating constraints. These are needs of our implementation. They do not assess another group's models or validation work. The schematic geometry is enough for this phase. Survey-grade CAD, E57 conversion, equipment write access, and autonomous operation are outside the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alignment is our first technical risk. We need command histories. Where possible, we also need actual actuator states. We need temperature and humidity data with quality flags. We need weather, schedules, maintenance events, and operating modes. Those factors can explain apparent dynamics. We also need energy or equipment-power indicators before we discuss savings. The evaluation keeps chronological holdout periods. It includes seasonal and unusual conditions. Acceptance checks error by channel and horizon. It checks constraint events and uncertainty calibration. It also tests missing data. The engine must reject unsupported scenarios instead of giving false confidence.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one through three. Do not give one global accuracy number. The threshold depends on the horizon, channel, and decision. Missing data needs clear quality flags and a degraded mode. Causal claims need aligned controls, context, and historical interventions. Field tests come only after offline validation and governance.</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 How accurate must the simulator be before it is useful?</a:t>
            </a:r>
          </a:p>
          <a:p xmlns:a="http://schemas.openxmlformats.org/drawingml/2006/main">
            <a:r>
              <a:t>The threshold depends on the decision. A model may help rank strategies before it is accurate enough for a field trial. The PoC will report error by channel, horizon, season, and operating region. It will also show when uncertainty grows outside the training data. Biosphere 2 operations should approve the threshold for each use case.</a:t>
            </a:r>
          </a:p>
          <a:p xmlns:a="http://schemas.openxmlformats.org/drawingml/2006/main">
            <a:r>
              <a:t/>
            </a:r>
          </a:p>
          <a:p xmlns:a="http://schemas.openxmlformats.org/drawingml/2006/main">
            <a:r>
              <a:t>2. What happens when sensors are missing or unreliable?</a:t>
            </a:r>
          </a:p>
          <a:p xmlns:a="http://schemas.openxmlformats.org/drawingml/2006/main">
            <a:r>
              <a:t>The platform keeps quality flags and identifies missing channels. It uses only documented imputation or state-estimation methods. The result shows when the engine runs in a degraded mode. If key information is missing, the simulator rejects the run or widens uncertainty. It does not fill the gap silently.</a:t>
            </a:r>
          </a:p>
          <a:p xmlns:a="http://schemas.openxmlformats.org/drawingml/2006/main">
            <a:r>
              <a:t/>
            </a:r>
          </a:p>
          <a:p xmlns:a="http://schemas.openxmlformats.org/drawingml/2006/main">
            <a:r>
              <a:t>3. How will you prove that controls caused the predicted climate response?</a:t>
            </a:r>
          </a:p>
          <a:p xmlns:a="http://schemas.openxmlformats.org/drawingml/2006/main">
            <a:r>
              <a:t>Historical correlation alone does not prove causality. The PoC aligns command histories, actuator states, sensor data, weather, schedules, and operating modes. It tests models on untouched chronological periods. It also examines documented interventions. Any later field-identification experiment needs a separate operator-approved protocol, safe bounds, and rollback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four through six. The PoC has no write path to equipment. Biosphere 2 operations authorizes any future field trial. Security begins with offline data, limited access, versioned artifacts, and separation from operational controls.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4. Could this system damage equipment or the biome?</a:t>
            </a:r>
          </a:p>
          <a:p xmlns:a="http://schemas.openxmlformats.org/drawingml/2006/main">
            <a:r>
              <a:t>The proposed PoC cannot write to facility equipment. It is an offline testbed. It checks the file structure and control bounds. Then it returns predicted consequences for review. Any equipment connection needs a separate project, safety case, procedure, cybersecurity review, named authority, and tested rollback path.</a:t>
            </a:r>
          </a:p>
          <a:p xmlns:a="http://schemas.openxmlformats.org/drawingml/2006/main">
            <a:r>
              <a:t/>
            </a:r>
          </a:p>
          <a:p xmlns:a="http://schemas.openxmlformats.org/drawingml/2006/main">
            <a:r>
              <a:t>5. Who decides whether a strategy can be tested in the real facility?</a:t>
            </a:r>
          </a:p>
          <a:p xmlns:a="http://schemas.openxmlformats.org/drawingml/2006/main">
            <a:r>
              <a:t>Biosphere 2 operations retains that authority. Model developers can provide evidence and recommendations. Model confidence does not authorize deployment. Every field trial needs an approved scope, operator, time window, limits, monitoring plan, and stop conditions.</a:t>
            </a:r>
          </a:p>
          <a:p xmlns:a="http://schemas.openxmlformats.org/drawingml/2006/main">
            <a:r>
              <a:t/>
            </a:r>
          </a:p>
          <a:p xmlns:a="http://schemas.openxmlformats.org/drawingml/2006/main">
            <a:r>
              <a:t>6. How will cybersecurity and access control be handled?</a:t>
            </a:r>
          </a:p>
          <a:p xmlns:a="http://schemas.openxmlformats.org/drawingml/2006/main">
            <a:r>
              <a:t>The first phase uses offline copies of authorized data. It has no operational write path. Access follows least privilege. Strategy files, models, scenarios, and results are versioned. Research services stay separate from building-control networks. Any later integration needs review by the University and Biosphere 2 security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seven through nine. EnergyPlus is a strong foundation. It still needs a RainForest representation, calibration, and validation. LSTM is a candidate for delayed nonlinear behavior. It is not a predetermined winner. A common engine contract, with FMI or FMU adapters, lets the platform compare and replace models while keeping the strategy workflow.</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7. Why not use EnergyPlus as the entire solution?</a:t>
            </a:r>
          </a:p>
          <a:p xmlns:a="http://schemas.openxmlformats.org/drawingml/2006/main">
            <a:r>
              <a:t>EnergyPlus is a mature engine for building and HVAC simulation. The RainForest is an unusual, highly coupled biome. A useful model still needs geometry, system representation, parameter calibration, and validation with facility data. The PoC treats EnergyPlus as one candidate or component. It compares it with lower-order and data-driven alternatives.</a:t>
            </a:r>
          </a:p>
          <a:p xmlns:a="http://schemas.openxmlformats.org/drawingml/2006/main">
            <a:r>
              <a:t/>
            </a:r>
          </a:p>
          <a:p xmlns:a="http://schemas.openxmlformats.org/drawingml/2006/main">
            <a:r>
              <a:t>8. Why are you considering an LSTM?</a:t>
            </a:r>
          </a:p>
          <a:p xmlns:a="http://schemas.openxmlformats.org/drawingml/2006/main">
            <a:r>
              <a:t>An LSTM can represent nonlinear time relationships and delayed responses in long sensor histories. It may be useful for repeated strategy evaluation. It also has limits. It needs synchronized causal inputs. It can fail outside its training region. It is harder to interpret. The PoC benchmarks it. It does not assume that LSTM is the answer.</a:t>
            </a:r>
          </a:p>
          <a:p xmlns:a="http://schemas.openxmlformats.org/drawingml/2006/main">
            <a:r>
              <a:t/>
            </a:r>
          </a:p>
          <a:p xmlns:a="http://schemas.openxmlformats.org/drawingml/2006/main">
            <a:r>
              <a:t>9. How can a new mathematical engine be added later?</a:t>
            </a:r>
          </a:p>
          <a:p xmlns:a="http://schemas.openxmlformats.org/drawingml/2006/main">
            <a:r>
              <a:t>Every engine uses the same input and output contract. It receives an initial state, a 64-control schedule, context, and a horizon. It returns 36-channel trajectories, uncertainty, constraints, energy indicators, and diagnostics. An adapter can wrap a state-space model, a machine-learning service, EnergyPlus, Modelica, or an FMI-compatible model.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ten through twelve. Savings need a calibrated energy baseline and a controlled comparison. We do not promise a percentage today. The request is for access to data and operating knowledge, focused implementation time, and ordinary computing. Sixteen weeks gives time to align data, benchmark models, build the testbed, and complete operator-reviewed validation.</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10. How will you prove energy savings?</a:t>
            </a:r>
          </a:p>
          <a:p xmlns:a="http://schemas.openxmlformats.org/drawingml/2006/main">
            <a:r>
              <a:t>The PoC first defines energy indicators. It calibrates them with available equipment or facility energy data. Then it compares strategies under identical scenarios. A real savings claim needs an approved baseline and controlled operational validation. That validation must account for weather and operating differences. No percentage or dollar figure comes before that evidence.</a:t>
            </a:r>
          </a:p>
          <a:p xmlns:a="http://schemas.openxmlformats.org/drawingml/2006/main">
            <a:r>
              <a:t/>
            </a:r>
          </a:p>
          <a:p xmlns:a="http://schemas.openxmlformats.org/drawingml/2006/main">
            <a:r>
              <a:t>11. What resources does the Proof of Concept require?</a:t>
            </a:r>
          </a:p>
          <a:p xmlns:a="http://schemas.openxmlformats.org/drawingml/2006/main">
            <a:r>
              <a:t>The essential resources are authorized access to synchronized control, sensor, weather, operating-context, and energy data. We also need regular time with an operations liaison, implementation effort, and ordinary computing. The first four weeks show whether we need extra instruments or specialized software.</a:t>
            </a:r>
          </a:p>
          <a:p xmlns:a="http://schemas.openxmlformats.org/drawingml/2006/main">
            <a:r>
              <a:t/>
            </a:r>
          </a:p>
          <a:p xmlns:a="http://schemas.openxmlformats.org/drawingml/2006/main">
            <a:r>
              <a:t>12. Why is the schedule sixteen weeks?</a:t>
            </a:r>
          </a:p>
          <a:p xmlns:a="http://schemas.openxmlformats.org/drawingml/2006/main">
            <a:r>
              <a:t>The sixteen-week schedule has four stages. They are data alignment, model benchmarking, platform integration, and historical replay with operator review. It gives us time to assess our engine and its limits. It also documents the scenarios and prepares a shared testbed. The scope ends with a clear Phase 2 decision.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thirteen through fifteen. Student algorithms run outside the operational network. They use versioned benchmark scenarios. Written University and Biosphere 2 rules govern data, publication review, authorship, and intellectual property. The PoC ends with a governance recommendation. It identifies an operational owner, a technical maintainer, release criteria, and a review process for models and scenarios.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13. How will you prevent student code from creating operational risk?</a:t>
            </a:r>
          </a:p>
          <a:p xmlns:a="http://schemas.openxmlformats.org/drawingml/2006/main">
            <a:r>
              <a:t>Students work with offline benchmark scenarios and a documented strategy interface. Their code does not connect to facility equipment. Submissions can run in isolated containers with resource limits. The platform checks outputs and keeps a complete run record. Only Biosphere 2 operations can authorize any later field evaluation.</a:t>
            </a:r>
          </a:p>
          <a:p xmlns:a="http://schemas.openxmlformats.org/drawingml/2006/main">
            <a:r>
              <a:t/>
            </a:r>
          </a:p>
          <a:p xmlns:a="http://schemas.openxmlformats.org/drawingml/2006/main">
            <a:r>
              <a:t>14. How will publications, data rights, and intellectual property be managed?</a:t>
            </a:r>
          </a:p>
          <a:p xmlns:a="http://schemas.openxmlformats.org/drawingml/2006/main">
            <a:r>
              <a:t>The program should set written rules before external participation. The rules should say which datasets can be shared. They should protect sensitive operating information. They should define review before publication. They should also follow University and Biosphere 2 policy on authorship and intellectual property. Reproducible results make these decisions easier to audit.</a:t>
            </a:r>
          </a:p>
          <a:p xmlns:a="http://schemas.openxmlformats.org/drawingml/2006/main">
            <a:r>
              <a:t/>
            </a:r>
          </a:p>
          <a:p xmlns:a="http://schemas.openxmlformats.org/drawingml/2006/main">
            <a:r>
              <a:t>15. Who owns and maintains the platform after the PoC?</a:t>
            </a:r>
          </a:p>
          <a:p xmlns:a="http://schemas.openxmlformats.org/drawingml/2006/main">
            <a:r>
              <a:t>The PoC ends with a governance recommendation. It does not assume an owner. A sustainable arrangement needs a Biosphere 2 operational owner and a named technical maintainer. It also needs release criteria for models and scenarios, a review calendar, and a process for incidents and outdated engines. Leadership can decide where that structure belongs.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the presentation sources. It also includes a QR code for the live illustrative interface. The external references support the facility context and the simulation architecture. Project counts and workflow details come from the DigitalTwin inventories and the current application source. The live app remains illustrative until a validated model produces the trajectories.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a:p xmlns:a="http://schemas.openxmlformats.org/drawingml/2006/main">
            <a:r>
              <a:t/>
            </a:r>
          </a:p>
          <a:p xmlns:a="http://schemas.openxmlformats.org/drawingml/2006/main">
            <a:r>
              <a:t>https://biosphere2.org/research/user-facility-information/energy-and-water</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0e7d633f074d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e5e58937624875" /><Relationship Type="http://schemas.openxmlformats.org/officeDocument/2006/relationships/slideLayout" Target="/ppt/slideLayouts/slideLayout1.xml" Id="R2348d0ce49dc46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48d0ce49dc46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f06136370e4f7f" /><Relationship Type="http://schemas.openxmlformats.org/officeDocument/2006/relationships/image" Target="/ppt/media/image.png" Id="Reb39c5283e1f49e5" /><Relationship Type="http://schemas.openxmlformats.org/officeDocument/2006/relationships/notesSlide" Target="/ppt/notesSlides/notesSlide1.xml" Id="R77c537e1b8a148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9f35e3fb61e48e1" /><Relationship Type="http://schemas.openxmlformats.org/officeDocument/2006/relationships/notesSlide" Target="/ppt/notesSlides/notesSlide2.xml" Id="Reb8918af2d4142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e122efca534cfc" /><Relationship Type="http://schemas.openxmlformats.org/officeDocument/2006/relationships/image" Target="/ppt/media/image2.png" Id="R57f3996389f24dec" /><Relationship Type="http://schemas.openxmlformats.org/officeDocument/2006/relationships/image" Target="/ppt/media/image.svg" Id="R43ff226b8c2b4a29" /><Relationship Type="http://schemas.openxmlformats.org/officeDocument/2006/relationships/image" Target="/ppt/media/image3.png" Id="Rad6c92186b8b4f50" /><Relationship Type="http://schemas.openxmlformats.org/officeDocument/2006/relationships/image" Target="/ppt/media/image2.svg" Id="Rdb23b702b9cc49a9" /><Relationship Type="http://schemas.openxmlformats.org/officeDocument/2006/relationships/image" Target="/ppt/media/image4.png" Id="Rb6960702a70e44d0" /><Relationship Type="http://schemas.openxmlformats.org/officeDocument/2006/relationships/image" Target="/ppt/media/image3.svg" Id="R9b3a0fe6c3a94af6" /><Relationship Type="http://schemas.openxmlformats.org/officeDocument/2006/relationships/image" Target="/ppt/media/image5.png" Id="R6245d3b3ef5045a7" /><Relationship Type="http://schemas.openxmlformats.org/officeDocument/2006/relationships/image" Target="/ppt/media/image4.svg" Id="R7cb5b546d7c04de1" /><Relationship Type="http://schemas.openxmlformats.org/officeDocument/2006/relationships/notesSlide" Target="/ppt/notesSlides/notesSlide3.xml" Id="R073ab00d53d44d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373f899de504e1f" /><Relationship Type="http://schemas.openxmlformats.org/officeDocument/2006/relationships/notesSlide" Target="/ppt/notesSlides/notesSlide4.xml" Id="R51f3d8cb9b8d42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ced241b6364aa5" /><Relationship Type="http://schemas.openxmlformats.org/officeDocument/2006/relationships/notesSlide" Target="/ppt/notesSlides/notesSlide5.xml" Id="Re54f6756537343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d9edf30956d47d3" /><Relationship Type="http://schemas.openxmlformats.org/officeDocument/2006/relationships/image" Target="/ppt/media/image6.png" Id="R8d4b4c0916974dc1" /><Relationship Type="http://schemas.openxmlformats.org/officeDocument/2006/relationships/image" Target="/ppt/media/image5.svg" Id="Rdfc2b84c3bc44b8a" /><Relationship Type="http://schemas.openxmlformats.org/officeDocument/2006/relationships/image" Target="/ppt/media/image7.png" Id="R67138a85506e4d85" /><Relationship Type="http://schemas.openxmlformats.org/officeDocument/2006/relationships/image" Target="/ppt/media/image6.svg" Id="R961ad74fe75a4e7d" /><Relationship Type="http://schemas.openxmlformats.org/officeDocument/2006/relationships/image" Target="/ppt/media/image8.png" Id="R6fe3231c9b0e443b" /><Relationship Type="http://schemas.openxmlformats.org/officeDocument/2006/relationships/image" Target="/ppt/media/image7.svg" Id="Rf797ffe0c06b44e2" /><Relationship Type="http://schemas.openxmlformats.org/officeDocument/2006/relationships/image" Target="/ppt/media/image9.png" Id="R969740fee24540b5" /><Relationship Type="http://schemas.openxmlformats.org/officeDocument/2006/relationships/image" Target="/ppt/media/image8.svg" Id="R95d5b4be385847ef" /><Relationship Type="http://schemas.openxmlformats.org/officeDocument/2006/relationships/image" Target="/ppt/media/image10.png" Id="R4d686a960c87499c" /><Relationship Type="http://schemas.openxmlformats.org/officeDocument/2006/relationships/image" Target="/ppt/media/image9.svg" Id="R698df0c125694291" /><Relationship Type="http://schemas.openxmlformats.org/officeDocument/2006/relationships/notesSlide" Target="/ppt/notesSlides/notesSlide6.xml" Id="R4f8a18a3bf6842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e8c2f4816524513" /><Relationship Type="http://schemas.openxmlformats.org/officeDocument/2006/relationships/image" Target="/ppt/media/prototype-static-overview.png" Id="Rb8f9fc2e7ab54980" /><Relationship Type="http://schemas.openxmlformats.org/officeDocument/2006/relationships/image" Target="/ppt/media/image11.png" Id="R8dbbb9f917344cf8" /><Relationship Type="http://schemas.openxmlformats.org/officeDocument/2006/relationships/hyperlink" Target="https://rainforest-virtual-proving-ground.bolt.linkpc.net/" TargetMode="External" Id="Ra283d137863048ba" /><Relationship Type="http://schemas.openxmlformats.org/officeDocument/2006/relationships/notesSlide" Target="/ppt/notesSlides/notesSlide7.xml" Id="R3166f18801a54a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c4f64f1917c4a3d" /><Relationship Type="http://schemas.openxmlformats.org/officeDocument/2006/relationships/image" Target="/ppt/media/annotated-prototype-image.png" Id="R3bd0f94c66a04e94" /><Relationship Type="http://schemas.openxmlformats.org/officeDocument/2006/relationships/notesSlide" Target="/ppt/notesSlides/notesSlide8.xml" Id="R962737ae49024a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d5705027d234273" /><Relationship Type="http://schemas.openxmlformats.org/officeDocument/2006/relationships/notesSlide" Target="/ppt/notesSlides/notesSlide9.xml" Id="R6f3f90f5a23146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78d7163e16415c" /><Relationship Type="http://schemas.openxmlformats.org/officeDocument/2006/relationships/notesSlide" Target="/ppt/notesSlides/notesSlide10.xml" Id="R34eac2eeb6fd42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d946c41edf14c11" /><Relationship Type="http://schemas.openxmlformats.org/officeDocument/2006/relationships/notesSlide" Target="/ppt/notesSlides/notesSlide11.xml" Id="R20ec6784bc824a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3e95e9e88eb4001" /><Relationship Type="http://schemas.openxmlformats.org/officeDocument/2006/relationships/notesSlide" Target="/ppt/notesSlides/notesSlide12.xml" Id="Rbc6756f6f2ff4bf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8b8b27084a04660" /><Relationship Type="http://schemas.openxmlformats.org/officeDocument/2006/relationships/notesSlide" Target="/ppt/notesSlides/notesSlide13.xml" Id="Re8d3456c8c38490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8e786ba363b4e29" /><Relationship Type="http://schemas.openxmlformats.org/officeDocument/2006/relationships/notesSlide" Target="/ppt/notesSlides/notesSlide14.xml" Id="R55c68827ba1040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ae3cbcb3d0f4a45" /><Relationship Type="http://schemas.openxmlformats.org/officeDocument/2006/relationships/notesSlide" Target="/ppt/notesSlides/notesSlide15.xml" Id="R46e598f4d3f1426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58f98972fc2401b" /><Relationship Type="http://schemas.openxmlformats.org/officeDocument/2006/relationships/image" Target="/ppt/media/image13.png" Id="R4425121ef3764253" /><Relationship Type="http://schemas.openxmlformats.org/officeDocument/2006/relationships/notesSlide" Target="/ppt/notesSlides/notesSlide16.xml" Id="R17c5de9813b4450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4e493a7849743bb" /><Relationship Type="http://schemas.openxmlformats.org/officeDocument/2006/relationships/notesSlide" Target="/ppt/notesSlides/notesSlide17.xml" Id="R9f64c3b939b744e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d1fc8a8596a457e" /><Relationship Type="http://schemas.openxmlformats.org/officeDocument/2006/relationships/notesSlide" Target="/ppt/notesSlides/notesSlide18.xml" Id="Re752bc38a5e14c3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42595354095433e" /><Relationship Type="http://schemas.openxmlformats.org/officeDocument/2006/relationships/notesSlide" Target="/ppt/notesSlides/notesSlide19.xml" Id="R1499f46516db40d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06fb192ebc44fa3" /><Relationship Type="http://schemas.openxmlformats.org/officeDocument/2006/relationships/notesSlide" Target="/ppt/notesSlides/notesSlide20.xml" Id="Rcea3eaa8b35c4f1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ffa3e3b0d2f4818" /><Relationship Type="http://schemas.openxmlformats.org/officeDocument/2006/relationships/notesSlide" Target="/ppt/notesSlides/notesSlide21.xml" Id="R5fcd39abc49b424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627e1e535184e20" /><Relationship Type="http://schemas.openxmlformats.org/officeDocument/2006/relationships/notesSlide" Target="/ppt/notesSlides/notesSlide22.xml" Id="Rfda16b5b44d9411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7fe0e78d544ba2" /><Relationship Type="http://schemas.openxmlformats.org/officeDocument/2006/relationships/notesSlide" Target="/ppt/notesSlides/notesSlide23.xml" Id="R78c72e4ccaed40c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2cd77b7769542c2" /><Relationship Type="http://schemas.openxmlformats.org/officeDocument/2006/relationships/hyperlink" Target="https://biosphere2.org/about/about-biosphere-2" TargetMode="External" Id="R2af55264a0a746b8" /><Relationship Type="http://schemas.openxmlformats.org/officeDocument/2006/relationships/hyperlink" Target="https://biosphere2.org/research/user-facility-information/energy-and-water" TargetMode="External" Id="Rc37c224b8f104fb7" /><Relationship Type="http://schemas.openxmlformats.org/officeDocument/2006/relationships/hyperlink" Target="https://ibpsa.github.io/project1-boptest" TargetMode="External" Id="Rfc5357ee08c8408c" /><Relationship Type="http://schemas.openxmlformats.org/officeDocument/2006/relationships/hyperlink" Target="https://energyplus.net" TargetMode="External" Id="R071cb4309f004518" /><Relationship Type="http://schemas.openxmlformats.org/officeDocument/2006/relationships/hyperlink" Target="https://simulationresearch.lbl.gov/modelica" TargetMode="External" Id="R6dbcec56198b4db8" /><Relationship Type="http://schemas.openxmlformats.org/officeDocument/2006/relationships/hyperlink" Target="https://fmi-standard.org" TargetMode="External" Id="R1932a0f60e00446c" /><Relationship Type="http://schemas.openxmlformats.org/officeDocument/2006/relationships/hyperlink" Target="https://data.ashrae.org/standard140" TargetMode="External" Id="R15a9135d24d2480d" /><Relationship Type="http://schemas.openxmlformats.org/officeDocument/2006/relationships/image" Target="/ppt/media/image14.png" Id="Ra53051f0a49342dd" /><Relationship Type="http://schemas.openxmlformats.org/officeDocument/2006/relationships/hyperlink" Target="https://rainforest-virtual-proving-ground.bolt.linkpc.net/" TargetMode="External" Id="R95adadf794f74500" /><Relationship Type="http://schemas.openxmlformats.org/officeDocument/2006/relationships/notesSlide" Target="/ppt/notesSlides/notesSlide24.xml" Id="Rd6b9828bfadf4f1f" /></Relationships>
</file>

<file path=ppt/slides/slide1.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b39c5283e1f49e5"/>
          <a:srcRect xmlns:a="http://schemas.openxmlformats.org/drawingml/2006/main" l="21289" t="0" r="21289" b="0"/>
          <a:stretch xmlns:a="http://schemas.openxmlformats.org/drawingml/2006/main">
            <a:fillRect l="0" t="0" r="0" b="0"/>
          </a:stretch>
        </p:blipFill>
        <p:spPr>
          <a:xfrm xmlns:a="http://schemas.openxmlformats.org/drawingml/2006/main">
            <a:off x="5191125" y="0"/>
            <a:ext cx="700087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9DD6C51-814C-4C33-84C5-438FAE889DDB}"/>
              </a:ext>
            </a:extLst>
          </p:cNvPr>
          <p:cNvSpPr>
            <a:spLocks xmlns:a="http://schemas.openxmlformats.org/drawingml/2006/main" noGrp="1"/>
          </p:cNvSpPr>
          <p:nvPr/>
        </p:nvSpPr>
        <p:spPr>
          <a:xfrm xmlns:a="http://schemas.openxmlformats.org/drawingml/2006/main">
            <a:off x="0" y="0"/>
            <a:ext cx="6429375" cy="6858000"/>
          </a:xfrm>
          <a:prstGeom xmlns:a="http://schemas.openxmlformats.org/drawingml/2006/main" prst="rect">
            <a:avLst/>
          </a:prstGeom>
          <a:solidFill xmlns:a="http://schemas.openxmlformats.org/drawingml/2006/main">
            <a:srgbClr val="06171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B864124-1F20-43AA-8687-EB4BFFEDD6E8}"/>
              </a:ext>
            </a:extLst>
          </p:cNvPr>
          <p:cNvSpPr>
            <a:spLocks xmlns:a="http://schemas.openxmlformats.org/drawingml/2006/main" noGrp="1"/>
          </p:cNvSpPr>
          <p:nvPr/>
        </p:nvSpPr>
        <p:spPr>
          <a:xfrm xmlns:a="http://schemas.openxmlformats.org/drawingml/2006/main">
            <a:off x="5905500" y="0"/>
            <a:ext cx="1524000" cy="6858000"/>
          </a:xfrm>
          <a:prstGeom xmlns:a="http://schemas.openxmlformats.org/drawingml/2006/main" prst="rect">
            <a:avLst/>
          </a:prstGeom>
          <a:gradFill xmlns:a="http://schemas.openxmlformats.org/drawingml/2006/main">
            <a:gsLst>
              <a:gs pos="0">
                <a:srgbClr val="061710"/>
              </a:gs>
              <a:gs pos="100000">
                <a:srgbClr val="061710">
                  <a:alpha val="0"/>
                </a:srgbClr>
              </a:gs>
            </a:gsLst>
            <a:lin ang="5400000"/>
          </a:gra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53AFB0-495E-4936-ABDF-D51B2FC9AFD2}"/>
              </a:ext>
            </a:extLst>
          </p:cNvPr>
          <p:cNvSpPr>
            <a:spLocks xmlns:a="http://schemas.openxmlformats.org/drawingml/2006/main" noGrp="1"/>
          </p:cNvSpPr>
          <p:nvPr/>
        </p:nvSpPr>
        <p:spPr>
          <a:xfrm xmlns:a="http://schemas.openxmlformats.org/drawingml/2006/main">
            <a:off x="666750" y="6096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2FAD79"/>
                </a:solidFill>
                <a:latin typeface="Arimo"/>
                <a:ea typeface="Arimo"/>
                <a:cs typeface="Arimo"/>
              </a:defRPr>
            </a:pPr>
            <a:r>
              <a:rPr sz="1125" b="1" i="0">
                <a:solidFill>
                  <a:srgbClr val="2FAD79"/>
                </a:solidFill>
                <a:latin typeface="Arimo"/>
                <a:ea typeface="Arimo"/>
                <a:cs typeface="Arimo"/>
              </a:rPr>
              <a:t>BIOSPHERE 2  /  RAINFOREST</a:t>
            </a:r>
          </a:p>
        </p:txBody>
      </p:sp>
      <p:sp>
        <p:nvSpPr>
          <p:cNvPr id="5" name="">
            <a:extLst xmlns:a="http://schemas.openxmlformats.org/drawingml/2006/main">
              <a:ext uri="{FF2B5EF4-FFF2-40B4-BE49-F238E27FC236}">
                <a16:creationId xmlns:a16="http://schemas.microsoft.com/office/drawing/2014/main" id="{0CD4CE6E-61E2-497F-9561-013BFE040537}"/>
              </a:ext>
            </a:extLst>
          </p:cNvPr>
          <p:cNvSpPr>
            <a:spLocks xmlns:a="http://schemas.openxmlformats.org/drawingml/2006/main" noGrp="1"/>
          </p:cNvSpPr>
          <p:nvPr/>
        </p:nvSpPr>
        <p:spPr>
          <a:xfrm xmlns:a="http://schemas.openxmlformats.org/drawingml/2006/main">
            <a:off x="647700" y="1200150"/>
            <a:ext cx="58102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Virtual Proving Ground</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for RainForest</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Climate Strategies</a:t>
            </a:r>
          </a:p>
        </p:txBody>
      </p:sp>
      <p:sp>
        <p:nvSpPr>
          <p:cNvPr id="6" name="">
            <a:extLst xmlns:a="http://schemas.openxmlformats.org/drawingml/2006/main">
              <a:ext uri="{FF2B5EF4-FFF2-40B4-BE49-F238E27FC236}">
                <a16:creationId xmlns:a16="http://schemas.microsoft.com/office/drawing/2014/main" id="{E2A50A75-0051-4C9F-8B99-5D0B5FABE969}"/>
              </a:ext>
            </a:extLst>
          </p:cNvPr>
          <p:cNvSpPr>
            <a:spLocks xmlns:a="http://schemas.openxmlformats.org/drawingml/2006/main" noGrp="1"/>
          </p:cNvSpPr>
          <p:nvPr/>
        </p:nvSpPr>
        <p:spPr>
          <a:xfrm xmlns:a="http://schemas.openxmlformats.org/drawingml/2006/main">
            <a:off x="685800" y="38481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C5E2D4"/>
                </a:solidFill>
                <a:latin typeface="Arimo"/>
                <a:ea typeface="Arimo"/>
                <a:cs typeface="Arimo"/>
              </a:defRPr>
            </a:pPr>
            <a:r>
              <a:rPr sz="1875" b="0" i="0">
                <a:solidFill>
                  <a:srgbClr val="C5E2D4"/>
                </a:solidFill>
                <a:latin typeface="Arimo"/>
                <a:ea typeface="Arimo"/>
                <a:cs typeface="Arimo"/>
              </a:rPr>
              <a:t>Supporting climate research and student learning</a:t>
            </a:r>
          </a:p>
        </p:txBody>
      </p:sp>
      <p:sp>
        <p:nvSpPr>
          <p:cNvPr id="7" name="">
            <a:extLst xmlns:a="http://schemas.openxmlformats.org/drawingml/2006/main">
              <a:ext uri="{FF2B5EF4-FFF2-40B4-BE49-F238E27FC236}">
                <a16:creationId xmlns:a16="http://schemas.microsoft.com/office/drawing/2014/main" id="{6D34C9DE-42D5-4358-A162-83601138B0EB}"/>
              </a:ext>
            </a:extLst>
          </p:cNvPr>
          <p:cNvSpPr>
            <a:spLocks xmlns:a="http://schemas.openxmlformats.org/drawingml/2006/main" noGrp="1"/>
          </p:cNvSpPr>
          <p:nvPr/>
        </p:nvSpPr>
        <p:spPr>
          <a:xfrm xmlns:a="http://schemas.openxmlformats.org/drawingml/2006/main">
            <a:off x="6667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93255"/>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64 scheduled controls</a:t>
            </a:r>
          </a:p>
        </p:txBody>
      </p:sp>
      <p:sp>
        <p:nvSpPr>
          <p:cNvPr id="8" name="">
            <a:extLst xmlns:a="http://schemas.openxmlformats.org/drawingml/2006/main">
              <a:ext uri="{FF2B5EF4-FFF2-40B4-BE49-F238E27FC236}">
                <a16:creationId xmlns:a16="http://schemas.microsoft.com/office/drawing/2014/main" id="{536BC0A9-4792-471A-88E7-773009B5E5C9}"/>
              </a:ext>
            </a:extLst>
          </p:cNvPr>
          <p:cNvSpPr>
            <a:spLocks xmlns:a="http://schemas.openxmlformats.org/drawingml/2006/main" noGrp="1"/>
          </p:cNvSpPr>
          <p:nvPr/>
        </p:nvSpPr>
        <p:spPr>
          <a:xfrm xmlns:a="http://schemas.openxmlformats.org/drawingml/2006/main">
            <a:off x="28765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36 climate channels</a:t>
            </a:r>
          </a:p>
        </p:txBody>
      </p:sp>
      <p:sp>
        <p:nvSpPr>
          <p:cNvPr id="9" name="">
            <a:extLst xmlns:a="http://schemas.openxmlformats.org/drawingml/2006/main">
              <a:ext uri="{FF2B5EF4-FFF2-40B4-BE49-F238E27FC236}">
                <a16:creationId xmlns:a16="http://schemas.microsoft.com/office/drawing/2014/main" id="{1BCEA784-6453-41A4-A790-4DA259D177FD}"/>
              </a:ext>
            </a:extLst>
          </p:cNvPr>
          <p:cNvSpPr>
            <a:spLocks xmlns:a="http://schemas.openxmlformats.org/drawingml/2006/main" noGrp="1"/>
          </p:cNvSpPr>
          <p:nvPr/>
        </p:nvSpPr>
        <p:spPr>
          <a:xfrm xmlns:a="http://schemas.openxmlformats.org/drawingml/2006/main">
            <a:off x="666750" y="5924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FFFFFF"/>
                </a:solidFill>
                <a:latin typeface="Arimo"/>
                <a:ea typeface="Arimo"/>
                <a:cs typeface="Arimo"/>
              </a:defRPr>
            </a:pPr>
            <a:r>
              <a:rPr sz="1425" b="1" i="0">
                <a:solidFill>
                  <a:srgbClr val="FFFFFF"/>
                </a:solidFill>
                <a:latin typeface="Arimo"/>
                <a:ea typeface="Arimo"/>
                <a:cs typeface="Arimo"/>
              </a:rPr>
              <a:t>Dimitri Bolt</a:t>
            </a:r>
          </a:p>
        </p:txBody>
      </p:sp>
      <p:sp>
        <p:nvSpPr>
          <p:cNvPr id="10" name="">
            <a:extLst xmlns:a="http://schemas.openxmlformats.org/drawingml/2006/main">
              <a:ext uri="{FF2B5EF4-FFF2-40B4-BE49-F238E27FC236}">
                <a16:creationId xmlns:a16="http://schemas.microsoft.com/office/drawing/2014/main" id="{7BFFD54B-D055-4645-9ADA-6DA284EAEBA0}"/>
              </a:ext>
            </a:extLst>
          </p:cNvPr>
          <p:cNvSpPr>
            <a:spLocks xmlns:a="http://schemas.openxmlformats.org/drawingml/2006/main" noGrp="1"/>
          </p:cNvSpPr>
          <p:nvPr/>
        </p:nvSpPr>
        <p:spPr>
          <a:xfrm xmlns:a="http://schemas.openxmlformats.org/drawingml/2006/main">
            <a:off x="666750" y="62293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8DB7A5"/>
                </a:solidFill>
                <a:latin typeface="Arimo"/>
                <a:ea typeface="Arimo"/>
                <a:cs typeface="Arimo"/>
              </a:defRPr>
            </a:pPr>
            <a:r>
              <a:rPr sz="1125" b="0" i="0">
                <a:solidFill>
                  <a:srgbClr val="8DB7A5"/>
                </a:solidFill>
                <a:latin typeface="Arimo"/>
                <a:ea typeface="Arimo"/>
                <a:cs typeface="Arimo"/>
              </a:rPr>
              <a:t>Academic supervision: Dr. Ildar Gabitov</a:t>
            </a:r>
          </a:p>
        </p:txBody>
      </p:sp>
    </p:spTree>
    <p:extLst>
      <p:ext uri="{BB962C8B-B14F-4D97-AF65-F5344CB8AC3E}">
        <p14:creationId xmlns:p14="http://schemas.microsoft.com/office/powerpoint/2010/main" val="1113503203"/>
      </p:ext>
    </p:extLst>
  </p:cSld>
</p:sld>
</file>

<file path=ppt/slides/slide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162C591-F15B-4951-85FD-8E890F418AF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01F7945-FB78-4819-A705-35D4E555D7A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Shared evaluation of climate strategies</a:t>
            </a:r>
          </a:p>
        </p:txBody>
      </p:sp>
      <p:sp>
        <p:nvSpPr>
          <p:cNvPr id="3" name="">
            <a:extLst xmlns:a="http://schemas.openxmlformats.org/drawingml/2006/main">
              <a:ext uri="{FF2B5EF4-FFF2-40B4-BE49-F238E27FC236}">
                <a16:creationId xmlns:a16="http://schemas.microsoft.com/office/drawing/2014/main" id="{D60FC284-7B03-4513-8404-9D33D1457AA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Additional scenario testing supports existing research and student projects</a:t>
            </a:r>
          </a:p>
        </p:txBody>
      </p:sp>
      <p:sp>
        <p:nvSpPr>
          <p:cNvPr id="4" name="">
            <a:extLst xmlns:a="http://schemas.openxmlformats.org/drawingml/2006/main">
              <a:ext uri="{FF2B5EF4-FFF2-40B4-BE49-F238E27FC236}">
                <a16:creationId xmlns:a16="http://schemas.microsoft.com/office/drawing/2014/main" id="{197A4039-4179-4BE1-A49D-B4D7EAE0576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6C2AA422-408A-454F-907A-7C967A6E15D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02</a:t>
            </a:r>
          </a:p>
        </p:txBody>
      </p:sp>
      <p:sp>
        <p:nvSpPr>
          <p:cNvPr id="6" name="">
            <a:extLst xmlns:a="http://schemas.openxmlformats.org/drawingml/2006/main">
              <a:ext uri="{FF2B5EF4-FFF2-40B4-BE49-F238E27FC236}">
                <a16:creationId xmlns:a16="http://schemas.microsoft.com/office/drawing/2014/main" id="{5D838BFB-214C-431F-8B33-917DBC2CE855}"/>
              </a:ext>
            </a:extLst>
          </p:cNvPr>
          <p:cNvSpPr>
            <a:spLocks xmlns:a="http://schemas.openxmlformats.org/drawingml/2006/main" noGrp="1"/>
          </p:cNvSpPr>
          <p:nvPr/>
        </p:nvSpPr>
        <p:spPr>
          <a:xfrm xmlns:a="http://schemas.openxmlformats.org/drawingml/2006/main">
            <a:off x="762000" y="2190750"/>
            <a:ext cx="2667000"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Strategies from</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research groups</a:t>
            </a:r>
          </a:p>
        </p:txBody>
      </p:sp>
      <p:sp>
        <p:nvSpPr>
          <p:cNvPr id="7" name="">
            <a:extLst xmlns:a="http://schemas.openxmlformats.org/drawingml/2006/main">
              <a:ext uri="{FF2B5EF4-FFF2-40B4-BE49-F238E27FC236}">
                <a16:creationId xmlns:a16="http://schemas.microsoft.com/office/drawing/2014/main" id="{0853D593-3801-4AB3-A818-DBCE2F6922A1}"/>
              </a:ext>
            </a:extLst>
          </p:cNvPr>
          <p:cNvSpPr>
            <a:spLocks xmlns:a="http://schemas.openxmlformats.org/drawingml/2006/main" noGrp="1"/>
          </p:cNvSpPr>
          <p:nvPr/>
        </p:nvSpPr>
        <p:spPr>
          <a:xfrm xmlns:a="http://schemas.openxmlformats.org/drawingml/2006/main">
            <a:off x="4714875" y="2190750"/>
            <a:ext cx="2667000"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Shared simulation</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scenarios</a:t>
            </a:r>
          </a:p>
        </p:txBody>
      </p:sp>
      <p:sp>
        <p:nvSpPr>
          <p:cNvPr id="8" name="">
            <a:extLst xmlns:a="http://schemas.openxmlformats.org/drawingml/2006/main">
              <a:ext uri="{FF2B5EF4-FFF2-40B4-BE49-F238E27FC236}">
                <a16:creationId xmlns:a16="http://schemas.microsoft.com/office/drawing/2014/main" id="{A57FE04D-93E3-498F-809F-320CF7D05ADC}"/>
              </a:ext>
            </a:extLst>
          </p:cNvPr>
          <p:cNvSpPr>
            <a:spLocks xmlns:a="http://schemas.openxmlformats.org/drawingml/2006/main" noGrp="1"/>
          </p:cNvSpPr>
          <p:nvPr/>
        </p:nvSpPr>
        <p:spPr>
          <a:xfrm xmlns:a="http://schemas.openxmlformats.org/drawingml/2006/main">
            <a:off x="8572500" y="2190750"/>
            <a:ext cx="2667000" cy="1095375"/>
          </a:xfrm>
          <a:prstGeom xmlns:a="http://schemas.openxmlformats.org/drawingml/2006/main" prst="roundRect">
            <a:avLst>
              <a:gd name="adj" fmla="val 13913"/>
            </a:avLst>
          </a:prstGeom>
          <a:solidFill xmlns:a="http://schemas.openxmlformats.org/drawingml/2006/main">
            <a:srgbClr val="E4EF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Results for</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team discussion</a:t>
            </a:r>
          </a:p>
        </p:txBody>
      </p: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3429000" y="2738438"/>
            <a:ext cx="128587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3" name=""/>
          <p:cNvCxnSpPr>
            <a:stCxn xmlns:a="http://schemas.openxmlformats.org/drawingml/2006/main" id="7" idx="3"/>
            <a:endCxn xmlns:a="http://schemas.openxmlformats.org/drawingml/2006/main" id="8" idx="1"/>
          </p:cNvCxnSpPr>
          <p:nvPr/>
        </p:nvCxnSpPr>
        <p:spPr>
          <a:xfrm xmlns:a="http://schemas.openxmlformats.org/drawingml/2006/main">
            <a:off x="7381875" y="2738438"/>
            <a:ext cx="1190625"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328045D4-BDF6-4F28-AE89-5ED4B4873A45}"/>
              </a:ext>
            </a:extLst>
          </p:cNvPr>
          <p:cNvSpPr>
            <a:spLocks xmlns:a="http://schemas.openxmlformats.org/drawingml/2006/main" noGrp="1"/>
          </p:cNvSpPr>
          <p:nvPr/>
        </p:nvSpPr>
        <p:spPr>
          <a:xfrm xmlns:a="http://schemas.openxmlformats.org/drawingml/2006/main">
            <a:off x="2047875" y="3762375"/>
            <a:ext cx="809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725" b="1" i="0">
                <a:solidFill>
                  <a:srgbClr val="167A55"/>
                </a:solidFill>
                <a:latin typeface="Arimo"/>
                <a:ea typeface="Arimo"/>
                <a:cs typeface="Arimo"/>
              </a:defRPr>
            </a:pPr>
            <a:r>
              <a:rPr sz="1725" b="1" i="0">
                <a:solidFill>
                  <a:srgbClr val="167A55"/>
                </a:solidFill>
                <a:latin typeface="Arimo"/>
                <a:ea typeface="Arimo"/>
                <a:cs typeface="Arimo"/>
              </a:rPr>
              <a:t>Agreed inputs, documented assumptions, reproducible results</a:t>
            </a:r>
          </a:p>
        </p:txBody>
      </p:sp>
      <p:sp>
        <p:nvSpPr>
          <p:cNvPr id="12" name="">
            <a:extLst xmlns:a="http://schemas.openxmlformats.org/drawingml/2006/main">
              <a:ext uri="{FF2B5EF4-FFF2-40B4-BE49-F238E27FC236}">
                <a16:creationId xmlns:a16="http://schemas.microsoft.com/office/drawing/2014/main" id="{F2708917-C898-4443-9EB1-0F4AB8A2B03E}"/>
              </a:ext>
            </a:extLst>
          </p:cNvPr>
          <p:cNvSpPr>
            <a:spLocks xmlns:a="http://schemas.openxmlformats.org/drawingml/2006/main" noGrp="1"/>
          </p:cNvSpPr>
          <p:nvPr/>
        </p:nvSpPr>
        <p:spPr>
          <a:xfrm xmlns:a="http://schemas.openxmlformats.org/drawingml/2006/main">
            <a:off x="1905000" y="4552950"/>
            <a:ext cx="7810500" cy="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3" name="">
            <a:extLst xmlns:a="http://schemas.openxmlformats.org/drawingml/2006/main">
              <a:ext uri="{FF2B5EF4-FFF2-40B4-BE49-F238E27FC236}">
                <a16:creationId xmlns:a16="http://schemas.microsoft.com/office/drawing/2014/main" id="{BDF7C98E-851B-4B0A-BCCB-86A945A807CD}"/>
              </a:ext>
            </a:extLst>
          </p:cNvPr>
          <p:cNvSpPr>
            <a:spLocks xmlns:a="http://schemas.openxmlformats.org/drawingml/2006/main" noGrp="1"/>
          </p:cNvSpPr>
          <p:nvPr/>
        </p:nvSpPr>
        <p:spPr>
          <a:xfrm xmlns:a="http://schemas.openxmlformats.org/drawingml/2006/main">
            <a:off x="1428750" y="4857750"/>
            <a:ext cx="9334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2100" b="1" i="0">
                <a:solidFill>
                  <a:srgbClr val="10251D"/>
                </a:solidFill>
                <a:latin typeface="Arimo"/>
                <a:ea typeface="Arimo"/>
                <a:cs typeface="Arimo"/>
              </a:defRPr>
            </a:pPr>
            <a:r>
              <a:rPr sz="2100" b="1" i="0">
                <a:solidFill>
                  <a:srgbClr val="10251D"/>
                </a:solidFill>
                <a:latin typeface="Arimo"/>
                <a:ea typeface="Arimo"/>
                <a:cs typeface="Arimo"/>
              </a:rPr>
              <a:t>Additional scenario testing alongside each team's own analyses and evidence</a:t>
            </a:r>
          </a:p>
        </p:txBody>
      </p:sp>
    </p:spTree>
    <p:extLst>
      <p:ext uri="{BB962C8B-B14F-4D97-AF65-F5344CB8AC3E}">
        <p14:creationId xmlns:p14="http://schemas.microsoft.com/office/powerpoint/2010/main" val="29415824"/>
      </p:ext>
    </p:extLst>
  </p:cSld>
</p:sld>
</file>

<file path=ppt/slides/slide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5A98123-ACBD-4C32-A36A-A2F40F3AFC6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855830-1145-4641-817F-62DEF380F31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Forward models for scenario testing</a:t>
            </a:r>
          </a:p>
        </p:txBody>
      </p:sp>
      <p:sp>
        <p:nvSpPr>
          <p:cNvPr id="3" name="">
            <a:extLst xmlns:a="http://schemas.openxmlformats.org/drawingml/2006/main">
              <a:ext uri="{FF2B5EF4-FFF2-40B4-BE49-F238E27FC236}">
                <a16:creationId xmlns:a16="http://schemas.microsoft.com/office/drawing/2014/main" id="{02A09F68-C3CC-429D-B01E-E9C6532AF6AF}"/>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Dynamics connect a 64-value action to the next 36-channel climate state</a:t>
            </a:r>
          </a:p>
        </p:txBody>
      </p:sp>
      <p:sp>
        <p:nvSpPr>
          <p:cNvPr id="4" name="">
            <a:extLst xmlns:a="http://schemas.openxmlformats.org/drawingml/2006/main">
              <a:ext uri="{FF2B5EF4-FFF2-40B4-BE49-F238E27FC236}">
                <a16:creationId xmlns:a16="http://schemas.microsoft.com/office/drawing/2014/main" id="{7C5BCAA8-60D0-4F16-BE04-9D83494757A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38FBF5BF-FE60-45EB-80FC-BA18D31BD25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03</a:t>
            </a:r>
          </a:p>
        </p:txBody>
      </p:sp>
      <p:sp>
        <p:nvSpPr>
          <p:cNvPr id="6" name="">
            <a:extLst xmlns:a="http://schemas.openxmlformats.org/drawingml/2006/main">
              <a:ext uri="{FF2B5EF4-FFF2-40B4-BE49-F238E27FC236}">
                <a16:creationId xmlns:a16="http://schemas.microsoft.com/office/drawing/2014/main" id="{75683398-7133-40BA-82FD-98559491650D}"/>
              </a:ext>
            </a:extLst>
          </p:cNvPr>
          <p:cNvSpPr>
            <a:spLocks xmlns:a="http://schemas.openxmlformats.org/drawingml/2006/main" noGrp="1"/>
          </p:cNvSpPr>
          <p:nvPr/>
        </p:nvSpPr>
        <p:spPr>
          <a:xfrm xmlns:a="http://schemas.openxmlformats.org/drawingml/2006/main">
            <a:off x="762000" y="1657350"/>
            <a:ext cx="1000125" cy="323850"/>
          </a:xfrm>
          <a:prstGeom xmlns:a="http://schemas.openxmlformats.org/drawingml/2006/main" prst="roundRect">
            <a:avLst>
              <a:gd name="adj" fmla="val 50000"/>
            </a:avLst>
          </a:prstGeom>
          <a:solidFill xmlns:a="http://schemas.openxmlformats.org/drawingml/2006/main">
            <a:srgbClr val="30AFC2"/>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STATE</a:t>
            </a:r>
          </a:p>
        </p:txBody>
      </p:sp>
      <p:sp>
        <p:nvSpPr>
          <p:cNvPr id="7" name="">
            <a:extLst xmlns:a="http://schemas.openxmlformats.org/drawingml/2006/main">
              <a:ext uri="{FF2B5EF4-FFF2-40B4-BE49-F238E27FC236}">
                <a16:creationId xmlns:a16="http://schemas.microsoft.com/office/drawing/2014/main" id="{2C60F640-A754-40DE-A89C-260ABCF63AA8}"/>
              </a:ext>
            </a:extLst>
          </p:cNvPr>
          <p:cNvSpPr>
            <a:spLocks xmlns:a="http://schemas.openxmlformats.org/drawingml/2006/main" noGrp="1"/>
          </p:cNvSpPr>
          <p:nvPr/>
        </p:nvSpPr>
        <p:spPr>
          <a:xfrm xmlns:a="http://schemas.openxmlformats.org/drawingml/2006/main">
            <a:off x="762000" y="2095500"/>
            <a:ext cx="2333625" cy="1095375"/>
          </a:xfrm>
          <a:prstGeom xmlns:a="http://schemas.openxmlformats.org/drawingml/2006/main" prst="roundRect">
            <a:avLst>
              <a:gd name="adj" fmla="val 13913"/>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r>
              <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36 T/RH channels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7f3996389f24dec">
            <a:extLst>
              <a:ext uri="{96DAC541-7B7A-43D3-8B79-37D633B846F1}">
                <asvg:svgBlip xmlns:asvg="http://schemas.microsoft.com/office/drawing/2016/SVG/main" r:embed="R43ff226b8c2b4a29"/>
              </a:ext>
            </a:extLst>
          </a:blip>
          <a:stretch xmlns:a="http://schemas.openxmlformats.org/drawingml/2006/main"/>
        </p:blipFill>
        <p:spPr>
          <a:xfrm xmlns:a="http://schemas.openxmlformats.org/drawingml/2006/main">
            <a:off x="1609725" y="2362200"/>
            <a:ext cx="647700" cy="3238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E1D58E1-41FF-424C-9D6B-7413ECC2A46E}"/>
              </a:ext>
            </a:extLst>
          </p:cNvPr>
          <p:cNvSpPr>
            <a:spLocks xmlns:a="http://schemas.openxmlformats.org/drawingml/2006/main" noGrp="1"/>
          </p:cNvSpPr>
          <p:nvPr/>
        </p:nvSpPr>
        <p:spPr>
          <a:xfrm xmlns:a="http://schemas.openxmlformats.org/drawingml/2006/main">
            <a:off x="3476625" y="1657350"/>
            <a:ext cx="1066800" cy="323850"/>
          </a:xfrm>
          <a:prstGeom xmlns:a="http://schemas.openxmlformats.org/drawingml/2006/main" prst="roundRect">
            <a:avLst>
              <a:gd name="adj" fmla="val 50000"/>
            </a:avLst>
          </a:prstGeom>
          <a:solidFill xmlns:a="http://schemas.openxmlformats.org/drawingml/2006/main">
            <a:srgbClr val="167A55"/>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ACTION</a:t>
            </a:r>
          </a:p>
        </p:txBody>
      </p:sp>
      <p:sp>
        <p:nvSpPr>
          <p:cNvPr id="10" name="">
            <a:extLst xmlns:a="http://schemas.openxmlformats.org/drawingml/2006/main">
              <a:ext uri="{FF2B5EF4-FFF2-40B4-BE49-F238E27FC236}">
                <a16:creationId xmlns:a16="http://schemas.microsoft.com/office/drawing/2014/main" id="{B512FA19-76E7-4E99-9C02-832FB719A2A8}"/>
              </a:ext>
            </a:extLst>
          </p:cNvPr>
          <p:cNvSpPr>
            <a:spLocks xmlns:a="http://schemas.openxmlformats.org/drawingml/2006/main" noGrp="1"/>
          </p:cNvSpPr>
          <p:nvPr/>
        </p:nvSpPr>
        <p:spPr>
          <a:xfrm xmlns:a="http://schemas.openxmlformats.org/drawingml/2006/main">
            <a:off x="3476625" y="2095500"/>
            <a:ext cx="2333625"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r>
              <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64 control values</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d6c92186b8b4f50">
            <a:extLst>
              <a:ext uri="{96DAC541-7B7A-43D3-8B79-37D633B846F1}">
                <asvg:svgBlip xmlns:asvg="http://schemas.microsoft.com/office/drawing/2016/SVG/main" r:embed="Rdb23b702b9cc49a9"/>
              </a:ext>
            </a:extLst>
          </a:blip>
          <a:stretch xmlns:a="http://schemas.openxmlformats.org/drawingml/2006/main"/>
        </p:blipFill>
        <p:spPr>
          <a:xfrm xmlns:a="http://schemas.openxmlformats.org/drawingml/2006/main">
            <a:off x="4324350" y="2362200"/>
            <a:ext cx="647700" cy="3238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8E68FD5E-C60C-4DB5-B145-53F9117BCDB2}"/>
              </a:ext>
            </a:extLst>
          </p:cNvPr>
          <p:cNvSpPr>
            <a:spLocks xmlns:a="http://schemas.openxmlformats.org/drawingml/2006/main" noGrp="1"/>
          </p:cNvSpPr>
          <p:nvPr/>
        </p:nvSpPr>
        <p:spPr>
          <a:xfrm xmlns:a="http://schemas.openxmlformats.org/drawingml/2006/main">
            <a:off x="6191250" y="1657350"/>
            <a:ext cx="1190625" cy="323850"/>
          </a:xfrm>
          <a:prstGeom xmlns:a="http://schemas.openxmlformats.org/drawingml/2006/main" prst="roundRect">
            <a:avLst>
              <a:gd name="adj" fmla="val 50000"/>
            </a:avLst>
          </a:prstGeom>
          <a:solidFill xmlns:a="http://schemas.openxmlformats.org/drawingml/2006/main">
            <a:srgbClr val="E69B3A"/>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CONTEXT</a:t>
            </a:r>
          </a:p>
        </p:txBody>
      </p:sp>
      <p:sp>
        <p:nvSpPr>
          <p:cNvPr id="13" name="">
            <a:extLst xmlns:a="http://schemas.openxmlformats.org/drawingml/2006/main">
              <a:ext uri="{FF2B5EF4-FFF2-40B4-BE49-F238E27FC236}">
                <a16:creationId xmlns:a16="http://schemas.microsoft.com/office/drawing/2014/main" id="{869759A9-5AFC-490E-AB66-F01C4370A519}"/>
              </a:ext>
            </a:extLst>
          </p:cNvPr>
          <p:cNvSpPr>
            <a:spLocks xmlns:a="http://schemas.openxmlformats.org/drawingml/2006/main" noGrp="1"/>
          </p:cNvSpPr>
          <p:nvPr/>
        </p:nvSpPr>
        <p:spPr>
          <a:xfrm xmlns:a="http://schemas.openxmlformats.org/drawingml/2006/main">
            <a:off x="6191250" y="2095500"/>
            <a:ext cx="2333625"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a:bodyPr>
          <a:lstStyle xmlns:a="http://schemas.openxmlformats.org/drawingml/2006/main"/>
          <a:p xmlns:a="http://schemas.openxmlformats.org/drawingml/2006/main">
            <a:r>
              <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b6960702a70e44d0">
            <a:extLst>
              <a:ext uri="{96DAC541-7B7A-43D3-8B79-37D633B846F1}">
                <asvg:svgBlip xmlns:asvg="http://schemas.microsoft.com/office/drawing/2016/SVG/main" r:embed="R9b3a0fe6c3a94af6"/>
              </a:ext>
            </a:extLst>
          </a:blip>
          <a:stretch xmlns:a="http://schemas.openxmlformats.org/drawingml/2006/main"/>
        </p:blipFill>
        <p:spPr>
          <a:xfrm xmlns:a="http://schemas.openxmlformats.org/drawingml/2006/main">
            <a:off x="7038975" y="2266950"/>
            <a:ext cx="647700" cy="2857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77DCBE0D-6490-4BD6-9F96-81E3CF02960F}"/>
              </a:ext>
            </a:extLst>
          </p:cNvPr>
          <p:cNvSpPr>
            <a:spLocks xmlns:a="http://schemas.openxmlformats.org/drawingml/2006/main" noGrp="1"/>
          </p:cNvSpPr>
          <p:nvPr/>
        </p:nvSpPr>
        <p:spPr>
          <a:xfrm xmlns:a="http://schemas.openxmlformats.org/drawingml/2006/main">
            <a:off x="6429375" y="2619375"/>
            <a:ext cx="1857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weather and</a:t>
            </a:r>
          </a:p>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mode</a:t>
            </a:r>
          </a:p>
        </p:txBody>
      </p:sp>
      <p:sp>
        <p:nvSpPr>
          <p:cNvPr id="16" name="">
            <a:extLst xmlns:a="http://schemas.openxmlformats.org/drawingml/2006/main">
              <a:ext uri="{FF2B5EF4-FFF2-40B4-BE49-F238E27FC236}">
                <a16:creationId xmlns:a16="http://schemas.microsoft.com/office/drawing/2014/main" id="{644718D8-EB60-4E82-8550-7F871F6CAC64}"/>
              </a:ext>
            </a:extLst>
          </p:cNvPr>
          <p:cNvSpPr>
            <a:spLocks xmlns:a="http://schemas.openxmlformats.org/drawingml/2006/main" noGrp="1"/>
          </p:cNvSpPr>
          <p:nvPr/>
        </p:nvSpPr>
        <p:spPr>
          <a:xfrm xmlns:a="http://schemas.openxmlformats.org/drawingml/2006/main">
            <a:off x="1809750" y="3676650"/>
            <a:ext cx="7810500" cy="895350"/>
          </a:xfrm>
          <a:prstGeom xmlns:a="http://schemas.openxmlformats.org/drawingml/2006/main" prst="roundRect">
            <a:avLst>
              <a:gd name="adj" fmla="val 19149"/>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a:bodyPr>
          <a:lstStyle xmlns:a="http://schemas.openxmlformats.org/drawingml/2006/main"/>
          <a:p xmlns:a="http://schemas.openxmlformats.org/drawingml/2006/main">
            <a:r>
              <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6245d3b3ef5045a7">
            <a:extLst>
              <a:ext uri="{96DAC541-7B7A-43D3-8B79-37D633B846F1}">
                <asvg:svgBlip xmlns:asvg="http://schemas.microsoft.com/office/drawing/2016/SVG/main" r:embed="R7cb5b546d7c04de1"/>
              </a:ext>
            </a:extLst>
          </a:blip>
          <a:stretch xmlns:a="http://schemas.openxmlformats.org/drawingml/2006/main"/>
        </p:blipFill>
        <p:spPr>
          <a:xfrm xmlns:a="http://schemas.openxmlformats.org/drawingml/2006/main">
            <a:off x="3524250" y="3857625"/>
            <a:ext cx="4381500" cy="5524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A3F6BFF-FA2F-4E85-B8DE-F9E5A1192495}"/>
              </a:ext>
            </a:extLst>
          </p:cNvPr>
          <p:cNvSpPr>
            <a:spLocks xmlns:a="http://schemas.openxmlformats.org/drawingml/2006/main" noGrp="1"/>
          </p:cNvSpPr>
          <p:nvPr/>
        </p:nvSpPr>
        <p:spPr>
          <a:xfrm xmlns:a="http://schemas.openxmlformats.org/drawingml/2006/main">
            <a:off x="1857375" y="4905375"/>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999"/>
          </a:bodyPr>
          <a:lstStyle xmlns:a="http://schemas.openxmlformats.org/drawingml/2006/main"/>
          <a:p xmlns:a="http://schemas.openxmlformats.org/drawingml/2006/main">
            <a:pPr algn="ctr">
              <a:lnSpc>
                <a:spcPct val="104000"/>
              </a:lnSpc>
              <a:buNone/>
              <a:defRPr sz="2025" b="1" i="0">
                <a:solidFill>
                  <a:srgbClr val="10251D"/>
                </a:solidFill>
                <a:latin typeface="Arimo"/>
                <a:ea typeface="Arimo"/>
                <a:cs typeface="Arimo"/>
              </a:defRPr>
            </a:pPr>
            <a:r>
              <a:rPr sz="2025" b="1" i="0">
                <a:solidFill>
                  <a:srgbClr val="10251D"/>
                </a:solidFill>
                <a:latin typeface="Arimo"/>
                <a:ea typeface="Arimo"/>
                <a:cs typeface="Arimo"/>
              </a:rPr>
              <a:t>Then evaluate climate deviation, energy use, equipment wear, and hard constraints</a:t>
            </a:r>
          </a:p>
        </p:txBody>
      </p:sp>
      <p:sp>
        <p:nvSpPr>
          <p:cNvPr id="19" name="">
            <a:extLst xmlns:a="http://schemas.openxmlformats.org/drawingml/2006/main">
              <a:ext uri="{FF2B5EF4-FFF2-40B4-BE49-F238E27FC236}">
                <a16:creationId xmlns:a16="http://schemas.microsoft.com/office/drawing/2014/main" id="{A0AC1B9E-A408-4CF0-8259-550A58994583}"/>
              </a:ext>
            </a:extLst>
          </p:cNvPr>
          <p:cNvSpPr>
            <a:spLocks xmlns:a="http://schemas.openxmlformats.org/drawingml/2006/main" noGrp="1"/>
          </p:cNvSpPr>
          <p:nvPr/>
        </p:nvSpPr>
        <p:spPr>
          <a:xfrm xmlns:a="http://schemas.openxmlformats.org/drawingml/2006/main">
            <a:off x="2381250" y="5715000"/>
            <a:ext cx="742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0" i="0">
                <a:solidFill>
                  <a:srgbClr val="5E7068"/>
                </a:solidFill>
                <a:latin typeface="Arimo"/>
                <a:ea typeface="Arimo"/>
                <a:cs typeface="Arimo"/>
              </a:defRPr>
            </a:pPr>
            <a:r>
              <a:rPr sz="1425" b="0" i="0">
                <a:solidFill>
                  <a:srgbClr val="5E7068"/>
                </a:solidFill>
                <a:latin typeface="Arimo"/>
                <a:ea typeface="Arimo"/>
                <a:cs typeface="Arimo"/>
              </a:rPr>
              <a:t>Each engine documents its assumptions and validation evidence</a:t>
            </a:r>
          </a:p>
        </p:txBody>
      </p:sp>
    </p:spTree>
    <p:extLst>
      <p:ext uri="{BB962C8B-B14F-4D97-AF65-F5344CB8AC3E}">
        <p14:creationId xmlns:p14="http://schemas.microsoft.com/office/powerpoint/2010/main" val="818348006"/>
      </p:ext>
    </p:extLst>
  </p:cSld>
</p:sld>
</file>

<file path=ppt/slides/slide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49D8E37-E225-4622-869D-51B8FCEF0F05}"/>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6D689D9-E07D-4E74-B7F4-A81F94E767BF}"/>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Support for planning field studies</a:t>
            </a:r>
          </a:p>
        </p:txBody>
      </p:sp>
      <p:sp>
        <p:nvSpPr>
          <p:cNvPr id="3" name="">
            <a:extLst xmlns:a="http://schemas.openxmlformats.org/drawingml/2006/main">
              <a:ext uri="{FF2B5EF4-FFF2-40B4-BE49-F238E27FC236}">
                <a16:creationId xmlns:a16="http://schemas.microsoft.com/office/drawing/2014/main" id="{EE6A73E9-AB2B-4D59-AD34-4F2AA99A4C3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Offline scenario testing complements operator-led review</a:t>
            </a:r>
          </a:p>
        </p:txBody>
      </p:sp>
      <p:sp>
        <p:nvSpPr>
          <p:cNvPr id="4" name="">
            <a:extLst xmlns:a="http://schemas.openxmlformats.org/drawingml/2006/main">
              <a:ext uri="{FF2B5EF4-FFF2-40B4-BE49-F238E27FC236}">
                <a16:creationId xmlns:a16="http://schemas.microsoft.com/office/drawing/2014/main" id="{D66B1F98-5904-413C-A717-DB5F96F1643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264092D4-48B5-481B-BE11-862C2C539E2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04</a:t>
            </a:r>
          </a:p>
        </p:txBody>
      </p:sp>
      <p:sp>
        <p:nvSpPr>
          <p:cNvPr id="6" name="">
            <a:extLst xmlns:a="http://schemas.openxmlformats.org/drawingml/2006/main">
              <a:ext uri="{FF2B5EF4-FFF2-40B4-BE49-F238E27FC236}">
                <a16:creationId xmlns:a16="http://schemas.microsoft.com/office/drawing/2014/main" id="{C0902CF9-5C79-4EEE-85C9-2BF67A5AC4DE}"/>
              </a:ext>
            </a:extLst>
          </p:cNvPr>
          <p:cNvSpPr>
            <a:spLocks xmlns:a="http://schemas.openxmlformats.org/drawingml/2006/main" noGrp="1"/>
          </p:cNvSpPr>
          <p:nvPr/>
        </p:nvSpPr>
        <p:spPr>
          <a:xfrm xmlns:a="http://schemas.openxmlformats.org/drawingml/2006/main">
            <a:off x="809625" y="1762125"/>
            <a:ext cx="2095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949"/>
          </a:bodyPr>
          <a:lstStyle xmlns:a="http://schemas.openxmlformats.org/drawingml/2006/main"/>
          <a:p xmlns:a="http://schemas.openxmlformats.org/drawingml/2006/main">
            <a:pPr algn="ctr">
              <a:lnSpc>
                <a:spcPct val="104000"/>
              </a:lnSpc>
              <a:buNone/>
              <a:defRPr sz="7500" b="1" i="0">
                <a:solidFill>
                  <a:srgbClr val="167A55"/>
                </a:solidFill>
                <a:latin typeface="Arimo"/>
                <a:ea typeface="Arimo"/>
                <a:cs typeface="Arimo"/>
              </a:defRPr>
            </a:pPr>
            <a:r>
              <a:rPr sz="7500" b="1" i="0">
                <a:solidFill>
                  <a:srgbClr val="167A55"/>
                </a:solidFill>
                <a:latin typeface="Arimo"/>
                <a:ea typeface="Arimo"/>
                <a:cs typeface="Arimo"/>
              </a:rPr>
              <a:t>26</a:t>
            </a:r>
          </a:p>
        </p:txBody>
      </p:sp>
      <p:sp>
        <p:nvSpPr>
          <p:cNvPr id="7" name="">
            <a:extLst xmlns:a="http://schemas.openxmlformats.org/drawingml/2006/main">
              <a:ext uri="{FF2B5EF4-FFF2-40B4-BE49-F238E27FC236}">
                <a16:creationId xmlns:a16="http://schemas.microsoft.com/office/drawing/2014/main" id="{4D1E8BDB-FFA0-4CEC-ABA4-4D2C72E4BD6A}"/>
              </a:ext>
            </a:extLst>
          </p:cNvPr>
          <p:cNvSpPr>
            <a:spLocks xmlns:a="http://schemas.openxmlformats.org/drawingml/2006/main" noGrp="1"/>
          </p:cNvSpPr>
          <p:nvPr/>
        </p:nvSpPr>
        <p:spPr>
          <a:xfrm xmlns:a="http://schemas.openxmlformats.org/drawingml/2006/main">
            <a:off x="666750" y="28956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10251D"/>
                </a:solidFill>
                <a:latin typeface="Arimo"/>
                <a:ea typeface="Arimo"/>
                <a:cs typeface="Arimo"/>
              </a:defRPr>
            </a:pPr>
            <a:r>
              <a:rPr sz="1875" b="1" i="0">
                <a:solidFill>
                  <a:srgbClr val="10251D"/>
                </a:solidFill>
                <a:latin typeface="Arimo"/>
                <a:ea typeface="Arimo"/>
                <a:cs typeface="Arimo"/>
              </a:rPr>
              <a:t>air handlers support the facility</a:t>
            </a:r>
          </a:p>
        </p:txBody>
      </p:sp>
      <p:sp>
        <p:nvSpPr>
          <p:cNvPr id="8" name="">
            <a:extLst xmlns:a="http://schemas.openxmlformats.org/drawingml/2006/main">
              <a:ext uri="{FF2B5EF4-FFF2-40B4-BE49-F238E27FC236}">
                <a16:creationId xmlns:a16="http://schemas.microsoft.com/office/drawing/2014/main" id="{501B444D-AD4B-48F7-9739-7F1ED14DE82E}"/>
              </a:ext>
            </a:extLst>
          </p:cNvPr>
          <p:cNvSpPr>
            <a:spLocks xmlns:a="http://schemas.openxmlformats.org/drawingml/2006/main" noGrp="1"/>
          </p:cNvSpPr>
          <p:nvPr/>
        </p:nvSpPr>
        <p:spPr>
          <a:xfrm xmlns:a="http://schemas.openxmlformats.org/drawingml/2006/main">
            <a:off x="3476625"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9" name="">
            <a:extLst xmlns:a="http://schemas.openxmlformats.org/drawingml/2006/main">
              <a:ext uri="{FF2B5EF4-FFF2-40B4-BE49-F238E27FC236}">
                <a16:creationId xmlns:a16="http://schemas.microsoft.com/office/drawing/2014/main" id="{3C56C750-A501-4E5E-B4F0-E873504326E0}"/>
              </a:ext>
            </a:extLst>
          </p:cNvPr>
          <p:cNvSpPr>
            <a:spLocks xmlns:a="http://schemas.openxmlformats.org/drawingml/2006/main" noGrp="1"/>
          </p:cNvSpPr>
          <p:nvPr/>
        </p:nvSpPr>
        <p:spPr>
          <a:xfrm xmlns:a="http://schemas.openxmlformats.org/drawingml/2006/main">
            <a:off x="4000500" y="1762125"/>
            <a:ext cx="371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6450" b="1" i="0">
                <a:solidFill>
                  <a:srgbClr val="E69B3A"/>
                </a:solidFill>
                <a:latin typeface="Arimo"/>
                <a:ea typeface="Arimo"/>
                <a:cs typeface="Arimo"/>
              </a:defRPr>
            </a:pPr>
            <a:r>
              <a:rPr sz="6450" b="1" i="0">
                <a:solidFill>
                  <a:srgbClr val="E69B3A"/>
                </a:solidFill>
                <a:latin typeface="Arimo"/>
                <a:ea typeface="Arimo"/>
                <a:cs typeface="Arimo"/>
              </a:rPr>
              <a:t>about 20</a:t>
            </a:r>
          </a:p>
        </p:txBody>
      </p:sp>
      <p:sp>
        <p:nvSpPr>
          <p:cNvPr id="10" name="">
            <a:extLst xmlns:a="http://schemas.openxmlformats.org/drawingml/2006/main">
              <a:ext uri="{FF2B5EF4-FFF2-40B4-BE49-F238E27FC236}">
                <a16:creationId xmlns:a16="http://schemas.microsoft.com/office/drawing/2014/main" id="{78361790-3AF7-4DCE-A10F-D235CFBED5CD}"/>
              </a:ext>
            </a:extLst>
          </p:cNvPr>
          <p:cNvSpPr>
            <a:spLocks xmlns:a="http://schemas.openxmlformats.org/drawingml/2006/main" noGrp="1"/>
          </p:cNvSpPr>
          <p:nvPr/>
        </p:nvSpPr>
        <p:spPr>
          <a:xfrm xmlns:a="http://schemas.openxmlformats.org/drawingml/2006/main">
            <a:off x="4095750" y="2895600"/>
            <a:ext cx="3524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00" b="1" i="0">
                <a:solidFill>
                  <a:srgbClr val="10251D"/>
                </a:solidFill>
                <a:latin typeface="Arimo"/>
                <a:ea typeface="Arimo"/>
                <a:cs typeface="Arimo"/>
              </a:defRPr>
            </a:pPr>
            <a:r>
              <a:rPr sz="1800" b="1" i="0">
                <a:solidFill>
                  <a:srgbClr val="10251D"/>
                </a:solidFill>
                <a:latin typeface="Arimo"/>
                <a:ea typeface="Arimo"/>
                <a:cs typeface="Arimo"/>
              </a:rPr>
              <a:t>minutes before a sunny-day power loss could irreparably damage biomes</a:t>
            </a:r>
          </a:p>
        </p:txBody>
      </p:sp>
      <p:sp>
        <p:nvSpPr>
          <p:cNvPr id="11" name="">
            <a:extLst xmlns:a="http://schemas.openxmlformats.org/drawingml/2006/main">
              <a:ext uri="{FF2B5EF4-FFF2-40B4-BE49-F238E27FC236}">
                <a16:creationId xmlns:a16="http://schemas.microsoft.com/office/drawing/2014/main" id="{3729BE34-A6E1-491B-A68E-CD35EBEFD589}"/>
              </a:ext>
            </a:extLst>
          </p:cNvPr>
          <p:cNvSpPr>
            <a:spLocks xmlns:a="http://schemas.openxmlformats.org/drawingml/2006/main" noGrp="1"/>
          </p:cNvSpPr>
          <p:nvPr/>
        </p:nvSpPr>
        <p:spPr>
          <a:xfrm xmlns:a="http://schemas.openxmlformats.org/drawingml/2006/main">
            <a:off x="8096250"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2" name="">
            <a:extLst xmlns:a="http://schemas.openxmlformats.org/drawingml/2006/main">
              <a:ext uri="{FF2B5EF4-FFF2-40B4-BE49-F238E27FC236}">
                <a16:creationId xmlns:a16="http://schemas.microsoft.com/office/drawing/2014/main" id="{D4BB8668-0FE6-4EAA-BB5B-77EDBBC85588}"/>
              </a:ext>
            </a:extLst>
          </p:cNvPr>
          <p:cNvSpPr>
            <a:spLocks xmlns:a="http://schemas.openxmlformats.org/drawingml/2006/main" noGrp="1"/>
          </p:cNvSpPr>
          <p:nvPr/>
        </p:nvSpPr>
        <p:spPr>
          <a:xfrm xmlns:a="http://schemas.openxmlformats.org/drawingml/2006/main">
            <a:off x="8620125" y="1962150"/>
            <a:ext cx="2571750" cy="1619250"/>
          </a:xfrm>
          <a:prstGeom xmlns:a="http://schemas.openxmlformats.org/drawingml/2006/main" prst="roundRect">
            <a:avLst>
              <a:gd name="adj" fmla="val 941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Researchers and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operators plan</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field studies together</a:t>
            </a:r>
          </a:p>
        </p:txBody>
      </p:sp>
      <p:sp>
        <p:nvSpPr>
          <p:cNvPr id="13" name="">
            <a:extLst xmlns:a="http://schemas.openxmlformats.org/drawingml/2006/main">
              <a:ext uri="{FF2B5EF4-FFF2-40B4-BE49-F238E27FC236}">
                <a16:creationId xmlns:a16="http://schemas.microsoft.com/office/drawing/2014/main" id="{2C69EA15-7EF6-4014-AD86-9E96A6411010}"/>
              </a:ext>
            </a:extLst>
          </p:cNvPr>
          <p:cNvSpPr>
            <a:spLocks xmlns:a="http://schemas.openxmlformats.org/drawingml/2006/main" noGrp="1"/>
          </p:cNvSpPr>
          <p:nvPr/>
        </p:nvSpPr>
        <p:spPr>
          <a:xfrm xmlns:a="http://schemas.openxmlformats.org/drawingml/2006/main">
            <a:off x="1143000" y="476250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Facility context from Biosphere 2. The figures describe environmental support, not algorithm-specific risk.</a:t>
            </a:r>
          </a:p>
        </p:txBody>
      </p:sp>
    </p:spTree>
    <p:extLst>
      <p:ext uri="{BB962C8B-B14F-4D97-AF65-F5344CB8AC3E}">
        <p14:creationId xmlns:p14="http://schemas.microsoft.com/office/powerpoint/2010/main" val="771105849"/>
      </p:ext>
    </p:extLst>
  </p:cSld>
</p:sld>
</file>

<file path=ppt/slides/slide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28CB790-D889-4F87-A314-398690575A6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9D48D8-AD70-4C38-9B91-D7DE0CF9112E}"/>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Virtual Proving Ground architecture</a:t>
            </a:r>
          </a:p>
        </p:txBody>
      </p:sp>
      <p:sp>
        <p:nvSpPr>
          <p:cNvPr id="3" name="">
            <a:extLst xmlns:a="http://schemas.openxmlformats.org/drawingml/2006/main">
              <a:ext uri="{FF2B5EF4-FFF2-40B4-BE49-F238E27FC236}">
                <a16:creationId xmlns:a16="http://schemas.microsoft.com/office/drawing/2014/main" id="{2708A926-D830-4A16-B484-C3FF4EE066D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shared workflow supports strategy authors and Biosphere 2 operations</a:t>
            </a:r>
          </a:p>
        </p:txBody>
      </p:sp>
      <p:sp>
        <p:nvSpPr>
          <p:cNvPr id="4" name="">
            <a:extLst xmlns:a="http://schemas.openxmlformats.org/drawingml/2006/main">
              <a:ext uri="{FF2B5EF4-FFF2-40B4-BE49-F238E27FC236}">
                <a16:creationId xmlns:a16="http://schemas.microsoft.com/office/drawing/2014/main" id="{99B0F569-8020-46EA-A6E5-84B910022BA5}"/>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72564E97-0D00-49BA-9523-FD19BAE4517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05</a:t>
            </a:r>
          </a:p>
        </p:txBody>
      </p:sp>
      <p:sp>
        <p:nvSpPr>
          <p:cNvPr id="6" name="">
            <a:extLst xmlns:a="http://schemas.openxmlformats.org/drawingml/2006/main">
              <a:ext uri="{FF2B5EF4-FFF2-40B4-BE49-F238E27FC236}">
                <a16:creationId xmlns:a16="http://schemas.microsoft.com/office/drawing/2014/main" id="{02D789F6-3CA5-4301-95A2-CF03FA41577F}"/>
              </a:ext>
            </a:extLst>
          </p:cNvPr>
          <p:cNvSpPr>
            <a:spLocks xmlns:a="http://schemas.openxmlformats.org/drawingml/2006/main" noGrp="1"/>
          </p:cNvSpPr>
          <p:nvPr/>
        </p:nvSpPr>
        <p:spPr>
          <a:xfrm xmlns:a="http://schemas.openxmlformats.org/drawingml/2006/main">
            <a:off x="495300" y="2419350"/>
            <a:ext cx="1809750" cy="1066800"/>
          </a:xfrm>
          <a:prstGeom xmlns:a="http://schemas.openxmlformats.org/drawingml/2006/main" prst="roundRect">
            <a:avLst>
              <a:gd name="adj" fmla="val 14286"/>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Strategy</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file</a:t>
            </a:r>
          </a:p>
        </p:txBody>
      </p:sp>
      <p:sp>
        <p:nvSpPr>
          <p:cNvPr id="7" name="">
            <a:extLst xmlns:a="http://schemas.openxmlformats.org/drawingml/2006/main">
              <a:ext uri="{FF2B5EF4-FFF2-40B4-BE49-F238E27FC236}">
                <a16:creationId xmlns:a16="http://schemas.microsoft.com/office/drawing/2014/main" id="{390A4B79-DF30-4AE5-ACAB-B3C49EC5A71E}"/>
              </a:ext>
            </a:extLst>
          </p:cNvPr>
          <p:cNvSpPr>
            <a:spLocks xmlns:a="http://schemas.openxmlformats.org/drawingml/2006/main" noGrp="1"/>
          </p:cNvSpPr>
          <p:nvPr/>
        </p:nvSpPr>
        <p:spPr>
          <a:xfrm xmlns:a="http://schemas.openxmlformats.org/drawingml/2006/main">
            <a:off x="2800350" y="2419350"/>
            <a:ext cx="1809750" cy="1066800"/>
          </a:xfrm>
          <a:prstGeom xmlns:a="http://schemas.openxmlformats.org/drawingml/2006/main" prst="roundRect">
            <a:avLst>
              <a:gd name="adj" fmla="val 14286"/>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Validate and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set scenario</a:t>
            </a:r>
          </a:p>
        </p:txBody>
      </p:sp>
      <p:sp>
        <p:nvSpPr>
          <p:cNvPr id="8" name="">
            <a:extLst xmlns:a="http://schemas.openxmlformats.org/drawingml/2006/main">
              <a:ext uri="{FF2B5EF4-FFF2-40B4-BE49-F238E27FC236}">
                <a16:creationId xmlns:a16="http://schemas.microsoft.com/office/drawing/2014/main" id="{D06B1F3D-A88D-4ACA-A547-BE6500EA6224}"/>
              </a:ext>
            </a:extLst>
          </p:cNvPr>
          <p:cNvSpPr>
            <a:spLocks xmlns:a="http://schemas.openxmlformats.org/drawingml/2006/main" noGrp="1"/>
          </p:cNvSpPr>
          <p:nvPr/>
        </p:nvSpPr>
        <p:spPr>
          <a:xfrm xmlns:a="http://schemas.openxmlformats.org/drawingml/2006/main">
            <a:off x="5105400" y="2419350"/>
            <a:ext cx="1809750" cy="1066800"/>
          </a:xfrm>
          <a:prstGeom xmlns:a="http://schemas.openxmlformats.org/drawingml/2006/main" prst="roundRect">
            <a:avLst>
              <a:gd name="adj" fmla="val 14286"/>
            </a:avLst>
          </a:prstGeom>
          <a:solidFill xmlns:a="http://schemas.openxmlformats.org/drawingml/2006/main">
            <a:srgbClr val="D7EEE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Forward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model</a:t>
            </a:r>
          </a:p>
        </p:txBody>
      </p:sp>
      <p:sp>
        <p:nvSpPr>
          <p:cNvPr id="9" name="">
            <a:extLst xmlns:a="http://schemas.openxmlformats.org/drawingml/2006/main">
              <a:ext uri="{FF2B5EF4-FFF2-40B4-BE49-F238E27FC236}">
                <a16:creationId xmlns:a16="http://schemas.microsoft.com/office/drawing/2014/main" id="{41616016-7753-4A99-8AEE-8BD89ED0359B}"/>
              </a:ext>
            </a:extLst>
          </p:cNvPr>
          <p:cNvSpPr>
            <a:spLocks xmlns:a="http://schemas.openxmlformats.org/drawingml/2006/main" noGrp="1"/>
          </p:cNvSpPr>
          <p:nvPr/>
        </p:nvSpPr>
        <p:spPr>
          <a:xfrm xmlns:a="http://schemas.openxmlformats.org/drawingml/2006/main">
            <a:off x="7410450" y="2419350"/>
            <a:ext cx="1809750" cy="1066800"/>
          </a:xfrm>
          <a:prstGeom xmlns:a="http://schemas.openxmlformats.org/drawingml/2006/main" prst="roundRect">
            <a:avLst>
              <a:gd name="adj" fmla="val 14286"/>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Evaluate</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results</a:t>
            </a:r>
          </a:p>
        </p:txBody>
      </p:sp>
      <p:sp>
        <p:nvSpPr>
          <p:cNvPr id="10" name="">
            <a:extLst xmlns:a="http://schemas.openxmlformats.org/drawingml/2006/main">
              <a:ext uri="{FF2B5EF4-FFF2-40B4-BE49-F238E27FC236}">
                <a16:creationId xmlns:a16="http://schemas.microsoft.com/office/drawing/2014/main" id="{77EBD975-CF0E-45A7-AB62-2AA869427704}"/>
              </a:ext>
            </a:extLst>
          </p:cNvPr>
          <p:cNvSpPr>
            <a:spLocks xmlns:a="http://schemas.openxmlformats.org/drawingml/2006/main" noGrp="1"/>
          </p:cNvSpPr>
          <p:nvPr/>
        </p:nvSpPr>
        <p:spPr>
          <a:xfrm xmlns:a="http://schemas.openxmlformats.org/drawingml/2006/main">
            <a:off x="9715500" y="2419350"/>
            <a:ext cx="1809750" cy="1066800"/>
          </a:xfrm>
          <a:prstGeom xmlns:a="http://schemas.openxmlformats.org/drawingml/2006/main" prst="roundRect">
            <a:avLst>
              <a:gd name="adj" fmla="val 14286"/>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Operator</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review</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30505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46101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6915150" y="2952750"/>
            <a:ext cx="49530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92202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5" name="">
            <a:extLst xmlns:a="http://schemas.openxmlformats.org/drawingml/2006/main">
              <a:ext uri="{FF2B5EF4-FFF2-40B4-BE49-F238E27FC236}">
                <a16:creationId xmlns:a16="http://schemas.microsoft.com/office/drawing/2014/main" id="{1069BB10-3315-4EC3-B786-2D0D2B3C3647}"/>
              </a:ext>
            </a:extLst>
          </p:cNvPr>
          <p:cNvSpPr>
            <a:spLocks xmlns:a="http://schemas.openxmlformats.org/drawingml/2006/main" noGrp="1"/>
          </p:cNvSpPr>
          <p:nvPr/>
        </p:nvSpPr>
        <p:spPr>
          <a:xfrm xmlns:a="http://schemas.openxmlformats.org/drawingml/2006/main">
            <a:off x="1047750" y="4267200"/>
            <a:ext cx="10096500" cy="723900"/>
          </a:xfrm>
          <a:prstGeom xmlns:a="http://schemas.openxmlformats.org/drawingml/2006/main" prst="roundRect">
            <a:avLst>
              <a:gd name="adj" fmla="val 18421"/>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3839"/>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Versioned run record: submitted schedule, initial state, context, model, metrics, uncertainty, and flags</a:t>
            </a:r>
          </a:p>
        </p:txBody>
      </p:sp>
      <p:sp>
        <p:nvSpPr>
          <p:cNvPr id="16" name="">
            <a:extLst xmlns:a="http://schemas.openxmlformats.org/drawingml/2006/main">
              <a:ext uri="{FF2B5EF4-FFF2-40B4-BE49-F238E27FC236}">
                <a16:creationId xmlns:a16="http://schemas.microsoft.com/office/drawing/2014/main" id="{E00879A6-75A7-4027-ADDD-7CBB88020390}"/>
              </a:ext>
            </a:extLst>
          </p:cNvPr>
          <p:cNvSpPr>
            <a:spLocks xmlns:a="http://schemas.openxmlformats.org/drawingml/2006/main" noGrp="1"/>
          </p:cNvSpPr>
          <p:nvPr/>
        </p:nvSpPr>
        <p:spPr>
          <a:xfrm xmlns:a="http://schemas.openxmlformats.org/drawingml/2006/main">
            <a:off x="6096000" y="3486150"/>
            <a:ext cx="0" cy="7620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17" name="">
            <a:extLst xmlns:a="http://schemas.openxmlformats.org/drawingml/2006/main">
              <a:ext uri="{FF2B5EF4-FFF2-40B4-BE49-F238E27FC236}">
                <a16:creationId xmlns:a16="http://schemas.microsoft.com/office/drawing/2014/main" id="{EC141E8E-B08D-4DFC-AEF9-8221E0092B0E}"/>
              </a:ext>
            </a:extLst>
          </p:cNvPr>
          <p:cNvSpPr>
            <a:spLocks xmlns:a="http://schemas.openxmlformats.org/drawingml/2006/main" noGrp="1"/>
          </p:cNvSpPr>
          <p:nvPr/>
        </p:nvSpPr>
        <p:spPr>
          <a:xfrm xmlns:a="http://schemas.openxmlformats.org/drawingml/2006/main">
            <a:off x="1666875" y="5314950"/>
            <a:ext cx="885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167A55"/>
                </a:solidFill>
                <a:latin typeface="Arimo"/>
                <a:ea typeface="Arimo"/>
                <a:cs typeface="Arimo"/>
              </a:defRPr>
            </a:pPr>
            <a:r>
              <a:rPr sz="1650" b="1" i="0">
                <a:solidFill>
                  <a:srgbClr val="167A55"/>
                </a:solidFill>
                <a:latin typeface="Arimo"/>
                <a:ea typeface="Arimo"/>
                <a:cs typeface="Arimo"/>
              </a:rPr>
              <a:t>The platform tests externally created strategies. It does not generate or rewrite them.</a:t>
            </a:r>
          </a:p>
        </p:txBody>
      </p:sp>
    </p:spTree>
    <p:extLst>
      <p:ext uri="{BB962C8B-B14F-4D97-AF65-F5344CB8AC3E}">
        <p14:creationId xmlns:p14="http://schemas.microsoft.com/office/powerpoint/2010/main" val="1050077766"/>
      </p:ext>
    </p:extLst>
  </p:cSld>
</p:sld>
</file>

<file path=ppt/slides/slide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460CBCB-51B1-49C5-B89C-6C4876332030}"/>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A3F53F-B0E1-4A9A-8462-645E9530EB4D}"/>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Climate strategy contract</a:t>
            </a:r>
          </a:p>
        </p:txBody>
      </p:sp>
      <p:sp>
        <p:nvSpPr>
          <p:cNvPr id="3" name="">
            <a:extLst xmlns:a="http://schemas.openxmlformats.org/drawingml/2006/main">
              <a:ext uri="{FF2B5EF4-FFF2-40B4-BE49-F238E27FC236}">
                <a16:creationId xmlns:a16="http://schemas.microsoft.com/office/drawing/2014/main" id="{60677CDC-107E-43AE-BE0B-95C24A4CD3FC}"/>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strategy is a timestamped sequence of complete commands</a:t>
            </a:r>
          </a:p>
        </p:txBody>
      </p:sp>
      <p:sp>
        <p:nvSpPr>
          <p:cNvPr id="4" name="">
            <a:extLst xmlns:a="http://schemas.openxmlformats.org/drawingml/2006/main">
              <a:ext uri="{FF2B5EF4-FFF2-40B4-BE49-F238E27FC236}">
                <a16:creationId xmlns:a16="http://schemas.microsoft.com/office/drawing/2014/main" id="{FC8BA87A-265D-4274-91F1-F7D87EE73C9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05C0EE0B-86D6-412C-9486-070DEFF3F048}"/>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06</a:t>
            </a:r>
          </a:p>
        </p:txBody>
      </p:sp>
      <p:sp>
        <p:nvSpPr>
          <p:cNvPr id="6" name="">
            <a:extLst xmlns:a="http://schemas.openxmlformats.org/drawingml/2006/main">
              <a:ext uri="{FF2B5EF4-FFF2-40B4-BE49-F238E27FC236}">
                <a16:creationId xmlns:a16="http://schemas.microsoft.com/office/drawing/2014/main" id="{7C494477-6BB2-45A2-831F-E008AAFB0EEB}"/>
              </a:ext>
            </a:extLst>
          </p:cNvPr>
          <p:cNvSpPr>
            <a:spLocks xmlns:a="http://schemas.openxmlformats.org/drawingml/2006/main" noGrp="1"/>
          </p:cNvSpPr>
          <p:nvPr/>
        </p:nvSpPr>
        <p:spPr>
          <a:xfrm xmlns:a="http://schemas.openxmlformats.org/drawingml/2006/main">
            <a:off x="838200" y="1581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timestamp</a:t>
            </a:r>
          </a:p>
        </p:txBody>
      </p:sp>
      <p:sp>
        <p:nvSpPr>
          <p:cNvPr id="7" name="">
            <a:extLst xmlns:a="http://schemas.openxmlformats.org/drawingml/2006/main">
              <a:ext uri="{FF2B5EF4-FFF2-40B4-BE49-F238E27FC236}">
                <a16:creationId xmlns:a16="http://schemas.microsoft.com/office/drawing/2014/main" id="{47D0BCE7-29E5-4932-A815-46640F689669}"/>
              </a:ext>
            </a:extLst>
          </p:cNvPr>
          <p:cNvSpPr>
            <a:spLocks xmlns:a="http://schemas.openxmlformats.org/drawingml/2006/main" noGrp="1"/>
          </p:cNvSpPr>
          <p:nvPr/>
        </p:nvSpPr>
        <p:spPr>
          <a:xfrm xmlns:a="http://schemas.openxmlformats.org/drawingml/2006/main">
            <a:off x="25717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complete absolute control vector</a:t>
            </a:r>
          </a:p>
        </p:txBody>
      </p:sp>
      <p:sp>
        <p:nvSpPr>
          <p:cNvPr id="8" name="">
            <a:extLst xmlns:a="http://schemas.openxmlformats.org/drawingml/2006/main">
              <a:ext uri="{FF2B5EF4-FFF2-40B4-BE49-F238E27FC236}">
                <a16:creationId xmlns:a16="http://schemas.microsoft.com/office/drawing/2014/main" id="{1E1ABB2C-1B32-4ADB-9121-010FCDFEC328}"/>
              </a:ext>
            </a:extLst>
          </p:cNvPr>
          <p:cNvSpPr>
            <a:spLocks xmlns:a="http://schemas.openxmlformats.org/drawingml/2006/main" noGrp="1"/>
          </p:cNvSpPr>
          <p:nvPr/>
        </p:nvSpPr>
        <p:spPr>
          <a:xfrm xmlns:a="http://schemas.openxmlformats.org/drawingml/2006/main">
            <a:off x="762000" y="19526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08:00</a:t>
            </a:r>
          </a:p>
        </p:txBody>
      </p:sp>
      <p:sp>
        <p:nvSpPr>
          <p:cNvPr id="9" name="">
            <a:extLst xmlns:a="http://schemas.openxmlformats.org/drawingml/2006/main">
              <a:ext uri="{FF2B5EF4-FFF2-40B4-BE49-F238E27FC236}">
                <a16:creationId xmlns:a16="http://schemas.microsoft.com/office/drawing/2014/main" id="{4ED1B8E2-DC48-420F-9C67-9370206CFA0B}"/>
              </a:ext>
            </a:extLst>
          </p:cNvPr>
          <p:cNvSpPr>
            <a:spLocks xmlns:a="http://schemas.openxmlformats.org/drawingml/2006/main" noGrp="1"/>
          </p:cNvSpPr>
          <p:nvPr/>
        </p:nvSpPr>
        <p:spPr>
          <a:xfrm xmlns:a="http://schemas.openxmlformats.org/drawingml/2006/main">
            <a:off x="2476500" y="19526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a:bodyPr>
          <a:lstStyle xmlns:a="http://schemas.openxmlformats.org/drawingml/2006/main"/>
          <a:p xmlns:a="http://schemas.openxmlformats.org/drawingml/2006/main">
            <a:r>
              <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d4b4c0916974dc1">
            <a:extLst>
              <a:ext uri="{96DAC541-7B7A-43D3-8B79-37D633B846F1}">
                <asvg:svgBlip xmlns:asvg="http://schemas.microsoft.com/office/drawing/2016/SVG/main" r:embed="Rdfc2b84c3bc44b8a"/>
              </a:ext>
            </a:extLst>
          </a:blip>
          <a:stretch xmlns:a="http://schemas.openxmlformats.org/drawingml/2006/main"/>
        </p:blipFill>
        <p:spPr>
          <a:xfrm xmlns:a="http://schemas.openxmlformats.org/drawingml/2006/main">
            <a:off x="2714625" y="2028825"/>
            <a:ext cx="3381375" cy="2952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4D137554-94F9-4288-9541-E7FEE041AC3D}"/>
              </a:ext>
            </a:extLst>
          </p:cNvPr>
          <p:cNvSpPr>
            <a:spLocks xmlns:a="http://schemas.openxmlformats.org/drawingml/2006/main" noGrp="1"/>
          </p:cNvSpPr>
          <p:nvPr/>
        </p:nvSpPr>
        <p:spPr>
          <a:xfrm xmlns:a="http://schemas.openxmlformats.org/drawingml/2006/main">
            <a:off x="762000" y="26384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10:00</a:t>
            </a:r>
          </a:p>
        </p:txBody>
      </p:sp>
      <p:sp>
        <p:nvSpPr>
          <p:cNvPr id="12" name="">
            <a:extLst xmlns:a="http://schemas.openxmlformats.org/drawingml/2006/main">
              <a:ext uri="{FF2B5EF4-FFF2-40B4-BE49-F238E27FC236}">
                <a16:creationId xmlns:a16="http://schemas.microsoft.com/office/drawing/2014/main" id="{DFDE8747-F959-4A5D-BA92-7C3A069C53AF}"/>
              </a:ext>
            </a:extLst>
          </p:cNvPr>
          <p:cNvSpPr>
            <a:spLocks xmlns:a="http://schemas.openxmlformats.org/drawingml/2006/main" noGrp="1"/>
          </p:cNvSpPr>
          <p:nvPr/>
        </p:nvSpPr>
        <p:spPr>
          <a:xfrm xmlns:a="http://schemas.openxmlformats.org/drawingml/2006/main">
            <a:off x="2476500" y="26384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a:bodyPr>
          <a:lstStyle xmlns:a="http://schemas.openxmlformats.org/drawingml/2006/main"/>
          <a:p xmlns:a="http://schemas.openxmlformats.org/drawingml/2006/main">
            <a:r>
              <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67138a85506e4d85">
            <a:extLst>
              <a:ext uri="{96DAC541-7B7A-43D3-8B79-37D633B846F1}">
                <asvg:svgBlip xmlns:asvg="http://schemas.microsoft.com/office/drawing/2016/SVG/main" r:embed="R961ad74fe75a4e7d"/>
              </a:ext>
            </a:extLst>
          </a:blip>
          <a:stretch xmlns:a="http://schemas.openxmlformats.org/drawingml/2006/main"/>
        </p:blipFill>
        <p:spPr>
          <a:xfrm xmlns:a="http://schemas.openxmlformats.org/drawingml/2006/main">
            <a:off x="2714625" y="2714625"/>
            <a:ext cx="3381375" cy="29527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AF1E0E09-D9FF-4CDC-90DB-60DDB1848FDE}"/>
              </a:ext>
            </a:extLst>
          </p:cNvPr>
          <p:cNvSpPr>
            <a:spLocks xmlns:a="http://schemas.openxmlformats.org/drawingml/2006/main" noGrp="1"/>
          </p:cNvSpPr>
          <p:nvPr/>
        </p:nvSpPr>
        <p:spPr>
          <a:xfrm xmlns:a="http://schemas.openxmlformats.org/drawingml/2006/main">
            <a:off x="762000" y="3324225"/>
            <a:ext cx="1428750" cy="457200"/>
          </a:xfrm>
          <a:prstGeom xmlns:a="http://schemas.openxmlformats.org/drawingml/2006/main" prst="roundRect">
            <a:avLst>
              <a:gd name="adj" fmla="val 3333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12:00</a:t>
            </a:r>
          </a:p>
        </p:txBody>
      </p:sp>
      <p:sp>
        <p:nvSpPr>
          <p:cNvPr id="15" name="">
            <a:extLst xmlns:a="http://schemas.openxmlformats.org/drawingml/2006/main">
              <a:ext uri="{FF2B5EF4-FFF2-40B4-BE49-F238E27FC236}">
                <a16:creationId xmlns:a16="http://schemas.microsoft.com/office/drawing/2014/main" id="{C33EEDDA-8A76-4166-A722-1104F0F3FE5D}"/>
              </a:ext>
            </a:extLst>
          </p:cNvPr>
          <p:cNvSpPr>
            <a:spLocks xmlns:a="http://schemas.openxmlformats.org/drawingml/2006/main" noGrp="1"/>
          </p:cNvSpPr>
          <p:nvPr/>
        </p:nvSpPr>
        <p:spPr>
          <a:xfrm xmlns:a="http://schemas.openxmlformats.org/drawingml/2006/main">
            <a:off x="2476500" y="3324225"/>
            <a:ext cx="4953000" cy="457200"/>
          </a:xfrm>
          <a:prstGeom xmlns:a="http://schemas.openxmlformats.org/drawingml/2006/main" prst="roundRect">
            <a:avLst>
              <a:gd name="adj" fmla="val 33333"/>
            </a:avLst>
          </a:prstGeom>
          <a:solidFill xmlns:a="http://schemas.openxmlformats.org/drawingml/2006/main">
            <a:srgbClr val="FFF6E6"/>
          </a:solidFill>
          <a:ln xmlns:a="http://schemas.openxmlformats.org/drawingml/2006/main" w="9525">
            <a:solidFill>
              <a:srgbClr val="C9D9CF"/>
            </a:solidFill>
            <a:prstDash val="solid"/>
          </a:ln>
        </p:spPr>
        <p:txBody>
          <a:bodyPr xmlns:a="http://schemas.openxmlformats.org/drawingml/2006/main" lIns="190500" tIns="76200" rIns="114300" bIns="76200" anchor="ctr">
            <a:normAutofit/>
          </a:bodyPr>
          <a:lstStyle xmlns:a="http://schemas.openxmlformats.org/drawingml/2006/main"/>
          <a:p xmlns:a="http://schemas.openxmlformats.org/drawingml/2006/main">
            <a:r>
              <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fe3231c9b0e443b">
            <a:extLst>
              <a:ext uri="{96DAC541-7B7A-43D3-8B79-37D633B846F1}">
                <asvg:svgBlip xmlns:asvg="http://schemas.microsoft.com/office/drawing/2016/SVG/main" r:embed="Rf797ffe0c06b44e2"/>
              </a:ext>
            </a:extLst>
          </a:blip>
          <a:stretch xmlns:a="http://schemas.openxmlformats.org/drawingml/2006/main"/>
        </p:blipFill>
        <p:spPr>
          <a:xfrm xmlns:a="http://schemas.openxmlformats.org/drawingml/2006/main">
            <a:off x="2714625" y="3400425"/>
            <a:ext cx="3381375" cy="2952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6CC40EDD-946A-42C2-9387-B6C693DB7235}"/>
              </a:ext>
            </a:extLst>
          </p:cNvPr>
          <p:cNvSpPr>
            <a:spLocks xmlns:a="http://schemas.openxmlformats.org/drawingml/2006/main" noGrp="1"/>
          </p:cNvSpPr>
          <p:nvPr/>
        </p:nvSpPr>
        <p:spPr>
          <a:xfrm xmlns:a="http://schemas.openxmlformats.org/drawingml/2006/main">
            <a:off x="762000" y="40100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14:00</a:t>
            </a:r>
          </a:p>
        </p:txBody>
      </p:sp>
      <p:sp>
        <p:nvSpPr>
          <p:cNvPr id="18" name="">
            <a:extLst xmlns:a="http://schemas.openxmlformats.org/drawingml/2006/main">
              <a:ext uri="{FF2B5EF4-FFF2-40B4-BE49-F238E27FC236}">
                <a16:creationId xmlns:a16="http://schemas.microsoft.com/office/drawing/2014/main" id="{98F00F6A-9FC7-4FF4-A6CE-CBFBAD9C23EF}"/>
              </a:ext>
            </a:extLst>
          </p:cNvPr>
          <p:cNvSpPr>
            <a:spLocks xmlns:a="http://schemas.openxmlformats.org/drawingml/2006/main" noGrp="1"/>
          </p:cNvSpPr>
          <p:nvPr/>
        </p:nvSpPr>
        <p:spPr>
          <a:xfrm xmlns:a="http://schemas.openxmlformats.org/drawingml/2006/main">
            <a:off x="2476500" y="40100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a:bodyPr>
          <a:lstStyle xmlns:a="http://schemas.openxmlformats.org/drawingml/2006/main"/>
          <a:p xmlns:a="http://schemas.openxmlformats.org/drawingml/2006/main">
            <a:r>
              <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969740fee24540b5">
            <a:extLst>
              <a:ext uri="{96DAC541-7B7A-43D3-8B79-37D633B846F1}">
                <asvg:svgBlip xmlns:asvg="http://schemas.microsoft.com/office/drawing/2016/SVG/main" r:embed="R95d5b4be385847ef"/>
              </a:ext>
            </a:extLst>
          </a:blip>
          <a:stretch xmlns:a="http://schemas.openxmlformats.org/drawingml/2006/main"/>
        </p:blipFill>
        <p:spPr>
          <a:xfrm xmlns:a="http://schemas.openxmlformats.org/drawingml/2006/main">
            <a:off x="2714625" y="4086225"/>
            <a:ext cx="3381375" cy="295275"/>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B2462FBD-D363-4F4E-97BD-5C6ADB0D5560}"/>
              </a:ext>
            </a:extLst>
          </p:cNvPr>
          <p:cNvSpPr>
            <a:spLocks xmlns:a="http://schemas.openxmlformats.org/drawingml/2006/main" noGrp="1"/>
          </p:cNvSpPr>
          <p:nvPr/>
        </p:nvSpPr>
        <p:spPr>
          <a:xfrm xmlns:a="http://schemas.openxmlformats.org/drawingml/2006/main">
            <a:off x="762000" y="46958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16:00</a:t>
            </a:r>
          </a:p>
        </p:txBody>
      </p:sp>
      <p:sp>
        <p:nvSpPr>
          <p:cNvPr id="21" name="">
            <a:extLst xmlns:a="http://schemas.openxmlformats.org/drawingml/2006/main">
              <a:ext uri="{FF2B5EF4-FFF2-40B4-BE49-F238E27FC236}">
                <a16:creationId xmlns:a16="http://schemas.microsoft.com/office/drawing/2014/main" id="{3B6C1ACF-F218-4DCE-B712-2302EFC1AF94}"/>
              </a:ext>
            </a:extLst>
          </p:cNvPr>
          <p:cNvSpPr>
            <a:spLocks xmlns:a="http://schemas.openxmlformats.org/drawingml/2006/main" noGrp="1"/>
          </p:cNvSpPr>
          <p:nvPr/>
        </p:nvSpPr>
        <p:spPr>
          <a:xfrm xmlns:a="http://schemas.openxmlformats.org/drawingml/2006/main">
            <a:off x="2476500" y="46958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a:bodyPr>
          <a:lstStyle xmlns:a="http://schemas.openxmlformats.org/drawingml/2006/main"/>
          <a:p xmlns:a="http://schemas.openxmlformats.org/drawingml/2006/main">
            <a:r>
              <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4d686a960c87499c">
            <a:extLst>
              <a:ext uri="{96DAC541-7B7A-43D3-8B79-37D633B846F1}">
                <asvg:svgBlip xmlns:asvg="http://schemas.microsoft.com/office/drawing/2016/SVG/main" r:embed="R698df0c125694291"/>
              </a:ext>
            </a:extLst>
          </a:blip>
          <a:stretch xmlns:a="http://schemas.openxmlformats.org/drawingml/2006/main"/>
        </p:blipFill>
        <p:spPr>
          <a:xfrm xmlns:a="http://schemas.openxmlformats.org/drawingml/2006/main">
            <a:off x="2714625" y="4772025"/>
            <a:ext cx="3381375" cy="295275"/>
          </a:xfrm>
          <a:prstGeom xmlns:a="http://schemas.openxmlformats.org/drawingml/2006/main" prst="rect">
            <a:avLst/>
          </a:prstGeom>
        </p:spPr>
      </p:pic>
      <p:sp>
        <p:nvSpPr>
          <p:cNvPr id="23" name="">
            <a:extLst xmlns:a="http://schemas.openxmlformats.org/drawingml/2006/main">
              <a:ext uri="{FF2B5EF4-FFF2-40B4-BE49-F238E27FC236}">
                <a16:creationId xmlns:a16="http://schemas.microsoft.com/office/drawing/2014/main" id="{69B51713-50DD-4D65-BDE9-1202E7A97BB4}"/>
              </a:ext>
            </a:extLst>
          </p:cNvPr>
          <p:cNvSpPr>
            <a:spLocks xmlns:a="http://schemas.openxmlformats.org/drawingml/2006/main" noGrp="1"/>
          </p:cNvSpPr>
          <p:nvPr/>
        </p:nvSpPr>
        <p:spPr>
          <a:xfrm xmlns:a="http://schemas.openxmlformats.org/drawingml/2006/main">
            <a:off x="8020050" y="2000250"/>
            <a:ext cx="1428750" cy="876300"/>
          </a:xfrm>
          <a:prstGeom xmlns:a="http://schemas.openxmlformats.org/drawingml/2006/main" prst="roundRect">
            <a:avLst>
              <a:gd name="adj" fmla="val 17391"/>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15</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setpoints</a:t>
            </a:r>
          </a:p>
        </p:txBody>
      </p:sp>
      <p:sp>
        <p:nvSpPr>
          <p:cNvPr id="24" name="">
            <a:extLst xmlns:a="http://schemas.openxmlformats.org/drawingml/2006/main">
              <a:ext uri="{FF2B5EF4-FFF2-40B4-BE49-F238E27FC236}">
                <a16:creationId xmlns:a16="http://schemas.microsoft.com/office/drawing/2014/main" id="{3C9D8E78-6B17-45D4-8296-B730233E2FD8}"/>
              </a:ext>
            </a:extLst>
          </p:cNvPr>
          <p:cNvSpPr>
            <a:spLocks xmlns:a="http://schemas.openxmlformats.org/drawingml/2006/main" noGrp="1"/>
          </p:cNvSpPr>
          <p:nvPr/>
        </p:nvSpPr>
        <p:spPr>
          <a:xfrm xmlns:a="http://schemas.openxmlformats.org/drawingml/2006/main">
            <a:off x="9601200" y="2000250"/>
            <a:ext cx="1066800" cy="876300"/>
          </a:xfrm>
          <a:prstGeom xmlns:a="http://schemas.openxmlformats.org/drawingml/2006/main" prst="roundRect">
            <a:avLst>
              <a:gd name="adj" fmla="val 17391"/>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7</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fans</a:t>
            </a:r>
          </a:p>
        </p:txBody>
      </p:sp>
      <p:sp>
        <p:nvSpPr>
          <p:cNvPr id="25" name="">
            <a:extLst xmlns:a="http://schemas.openxmlformats.org/drawingml/2006/main">
              <a:ext uri="{FF2B5EF4-FFF2-40B4-BE49-F238E27FC236}">
                <a16:creationId xmlns:a16="http://schemas.microsoft.com/office/drawing/2014/main" id="{CFCFCC9D-4CDD-49FB-BA6E-AF05000638A6}"/>
              </a:ext>
            </a:extLst>
          </p:cNvPr>
          <p:cNvSpPr>
            <a:spLocks xmlns:a="http://schemas.openxmlformats.org/drawingml/2006/main" noGrp="1"/>
          </p:cNvSpPr>
          <p:nvPr/>
        </p:nvSpPr>
        <p:spPr>
          <a:xfrm xmlns:a="http://schemas.openxmlformats.org/drawingml/2006/main">
            <a:off x="8191500" y="3086100"/>
            <a:ext cx="2247900" cy="990600"/>
          </a:xfrm>
          <a:prstGeom xmlns:a="http://schemas.openxmlformats.org/drawingml/2006/main" prst="roundRect">
            <a:avLst>
              <a:gd name="adj" fmla="val 1538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4960"/>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42</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valves and dampers</a:t>
            </a:r>
          </a:p>
        </p:txBody>
      </p:sp>
      <p:sp>
        <p:nvSpPr>
          <p:cNvPr id="26" name="">
            <a:extLst xmlns:a="http://schemas.openxmlformats.org/drawingml/2006/main">
              <a:ext uri="{FF2B5EF4-FFF2-40B4-BE49-F238E27FC236}">
                <a16:creationId xmlns:a16="http://schemas.microsoft.com/office/drawing/2014/main" id="{805FCF49-6B76-4D42-A306-DCF886A578B8}"/>
              </a:ext>
            </a:extLst>
          </p:cNvPr>
          <p:cNvSpPr>
            <a:spLocks xmlns:a="http://schemas.openxmlformats.org/drawingml/2006/main" noGrp="1"/>
          </p:cNvSpPr>
          <p:nvPr/>
        </p:nvSpPr>
        <p:spPr>
          <a:xfrm xmlns:a="http://schemas.openxmlformats.org/drawingml/2006/main">
            <a:off x="8096250" y="4552950"/>
            <a:ext cx="2762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72"/>
          </a:bodyPr>
          <a:lstStyle xmlns:a="http://schemas.openxmlformats.org/drawingml/2006/main"/>
          <a:p xmlns:a="http://schemas.openxmlformats.org/drawingml/2006/main">
            <a:pPr algn="ctr">
              <a:lnSpc>
                <a:spcPct val="118000"/>
              </a:lnSpc>
              <a:buNone/>
              <a:defRPr sz="1500" b="1" i="0">
                <a:solidFill>
                  <a:srgbClr val="5E7068"/>
                </a:solidFill>
                <a:latin typeface="Arimo"/>
                <a:ea typeface="Arimo"/>
                <a:cs typeface="Arimo"/>
              </a:defRPr>
            </a:pPr>
            <a:r>
              <a:rPr sz="1500" b="1" i="0">
                <a:solidFill>
                  <a:srgbClr val="5E7068"/>
                </a:solidFill>
                <a:latin typeface="Arimo"/>
                <a:ea typeface="Arimo"/>
                <a:cs typeface="Arimo"/>
              </a:rPr>
              <a:t>JSON or CSV  /  units  /  bounds  /  monotone timestamps  /  no missing controls</a:t>
            </a:r>
          </a:p>
        </p:txBody>
      </p:sp>
    </p:spTree>
    <p:extLst>
      <p:ext uri="{BB962C8B-B14F-4D97-AF65-F5344CB8AC3E}">
        <p14:creationId xmlns:p14="http://schemas.microsoft.com/office/powerpoint/2010/main" val="527970071"/>
      </p:ext>
    </p:extLst>
  </p:cSld>
</p:sld>
</file>

<file path=ppt/slides/slide7.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B0B3FF-4791-4B86-AB3F-ADF5F11974C1}"/>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FFFFFF"/>
                </a:solidFill>
                <a:latin typeface="Arimo"/>
                <a:ea typeface="Arimo"/>
                <a:cs typeface="Arimo"/>
              </a:defRPr>
            </a:pPr>
            <a:r>
              <a:rPr sz="2775" b="1" i="0">
                <a:solidFill>
                  <a:srgbClr val="FFFFFF"/>
                </a:solidFill>
                <a:latin typeface="Arimo"/>
                <a:ea typeface="Arimo"/>
                <a:cs typeface="Arimo"/>
              </a:rPr>
              <a:t>Illustrative interface demonstration</a:t>
            </a:r>
          </a:p>
        </p:txBody>
      </p:sp>
      <p:sp>
        <p:nvSpPr>
          <p:cNvPr id="2" name="">
            <a:extLst xmlns:a="http://schemas.openxmlformats.org/drawingml/2006/main">
              <a:ext uri="{FF2B5EF4-FFF2-40B4-BE49-F238E27FC236}">
                <a16:creationId xmlns:a16="http://schemas.microsoft.com/office/drawing/2014/main" id="{4CDA864F-4636-4DF0-9DCB-D646AA8EA1E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The current app demonstrates the evaluation workflow, not a validated prediction</a:t>
            </a:r>
          </a:p>
        </p:txBody>
      </p:sp>
      <p:sp>
        <p:nvSpPr>
          <p:cNvPr id="3" name="">
            <a:extLst xmlns:a="http://schemas.openxmlformats.org/drawingml/2006/main">
              <a:ext uri="{FF2B5EF4-FFF2-40B4-BE49-F238E27FC236}">
                <a16:creationId xmlns:a16="http://schemas.microsoft.com/office/drawing/2014/main" id="{B9CCE9E8-F283-4F48-A233-ADDFF76CCC9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AFAC7052-CAEC-4FDF-A117-354655EBD50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07</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8f9fc2e7ab54980"/>
          <a:stretch xmlns:a="http://schemas.openxmlformats.org/drawingml/2006/main"/>
        </p:blipFill>
        <p:spPr>
          <a:xfrm xmlns:a="http://schemas.openxmlformats.org/drawingml/2006/main">
            <a:off x="405342" y="1381125"/>
            <a:ext cx="8466667" cy="4762500"/>
          </a:xfrm>
          <a:prstGeom xmlns:a="http://schemas.openxmlformats.org/drawingml/2006/main" prst="roundRect">
            <a:avLst>
              <a:gd name="adj" fmla="val 3200"/>
            </a:avLst>
          </a:prstGeom>
        </p:spPr>
      </p:pic>
      <p:sp>
        <p:nvSpPr>
          <p:cNvPr id="6" name="">
            <a:extLst xmlns:a="http://schemas.openxmlformats.org/drawingml/2006/main">
              <a:ext uri="{FF2B5EF4-FFF2-40B4-BE49-F238E27FC236}">
                <a16:creationId xmlns:a16="http://schemas.microsoft.com/office/drawing/2014/main" id="{1D3CB143-8D1D-48D1-9809-537E2E5BB891}"/>
              </a:ext>
            </a:extLst>
          </p:cNvPr>
          <p:cNvSpPr>
            <a:spLocks xmlns:a="http://schemas.openxmlformats.org/drawingml/2006/main" noGrp="1"/>
          </p:cNvSpPr>
          <p:nvPr/>
        </p:nvSpPr>
        <p:spPr>
          <a:xfrm xmlns:a="http://schemas.openxmlformats.org/drawingml/2006/main">
            <a:off x="9124950" y="1504950"/>
            <a:ext cx="2305050" cy="457200"/>
          </a:xfrm>
          <a:prstGeom xmlns:a="http://schemas.openxmlformats.org/drawingml/2006/main" prst="roundRect">
            <a:avLst>
              <a:gd name="adj" fmla="val 33333"/>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86924"/>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Prototype demonstration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dbbb9f917344cf8"/>
          <a:stretch xmlns:a="http://schemas.openxmlformats.org/drawingml/2006/main"/>
        </p:blipFill>
        <p:spPr>
          <a:xfrm xmlns:a="http://schemas.openxmlformats.org/drawingml/2006/main">
            <a:off x="9353550" y="2305050"/>
            <a:ext cx="1847850" cy="1847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606E41C-BA7D-4D4B-A8CA-7AC92F079E39}"/>
              </a:ext>
            </a:extLst>
          </p:cNvPr>
          <p:cNvSpPr>
            <a:spLocks xmlns:a="http://schemas.openxmlformats.org/drawingml/2006/main" noGrp="1"/>
          </p:cNvSpPr>
          <p:nvPr/>
        </p:nvSpPr>
        <p:spPr>
          <a:xfrm xmlns:a="http://schemas.openxmlformats.org/drawingml/2006/main">
            <a:off x="9353550" y="42862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hlinkClick xmlns:r="http://schemas.openxmlformats.org/officeDocument/2006/relationships" r:id="Ra283d137863048ba"/>
              </a:rPr>
              <a:t>Open live demo</a:t>
            </a:r>
          </a:p>
        </p:txBody>
      </p:sp>
      <p:sp>
        <p:nvSpPr>
          <p:cNvPr id="9" name="">
            <a:extLst xmlns:a="http://schemas.openxmlformats.org/drawingml/2006/main">
              <a:ext uri="{FF2B5EF4-FFF2-40B4-BE49-F238E27FC236}">
                <a16:creationId xmlns:a16="http://schemas.microsoft.com/office/drawing/2014/main" id="{A835CA1C-8B3F-4A76-8196-A9B3E6563EDC}"/>
              </a:ext>
            </a:extLst>
          </p:cNvPr>
          <p:cNvSpPr>
            <a:spLocks xmlns:a="http://schemas.openxmlformats.org/drawingml/2006/main" noGrp="1"/>
          </p:cNvSpPr>
          <p:nvPr/>
        </p:nvSpPr>
        <p:spPr>
          <a:xfrm xmlns:a="http://schemas.openxmlformats.org/drawingml/2006/main">
            <a:off x="9220200" y="50101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Illustrative scenario</a:t>
            </a:r>
          </a:p>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not yet model-generated</a:t>
            </a:r>
          </a:p>
        </p:txBody>
      </p:sp>
    </p:spTree>
    <p:extLst>
      <p:ext uri="{BB962C8B-B14F-4D97-AF65-F5344CB8AC3E}">
        <p14:creationId xmlns:p14="http://schemas.microsoft.com/office/powerpoint/2010/main" val="395308140"/>
      </p:ext>
    </p:extLst>
  </p:cSld>
</p:sld>
</file>

<file path=ppt/slides/slide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6" name="Template green edge">
            <a:extLst xmlns:a="http://schemas.openxmlformats.org/drawingml/2006/main">
              <a:ext uri="{FF2B5EF4-FFF2-40B4-BE49-F238E27FC236}">
                <a16:creationId xmlns:a16="http://schemas.microsoft.com/office/drawing/2014/main" id="{D117FE08-C8E2-4B52-AE26-34EDC12F673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Title">
            <a:extLst xmlns:a="http://schemas.openxmlformats.org/drawingml/2006/main">
              <a:ext uri="{FF2B5EF4-FFF2-40B4-BE49-F238E27FC236}">
                <a16:creationId xmlns:a16="http://schemas.microsoft.com/office/drawing/2014/main" id="{7E1F1E6E-B520-453B-9823-68D4B39C40EF}"/>
              </a:ext>
            </a:extLst>
          </p:cNvPr>
          <p:cNvSpPr>
            <a:spLocks xmlns:a="http://schemas.openxmlformats.org/drawingml/2006/main" noGrp="1"/>
          </p:cNvSpPr>
          <p:nvPr/>
        </p:nvSpPr>
        <p:spPr>
          <a:xfrm xmlns:a="http://schemas.openxmlformats.org/drawingml/2006/main">
            <a:off x="400050" y="295275"/>
            <a:ext cx="1119187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3000" b="1">
                <a:solidFill>
                  <a:srgbClr val="10251D"/>
                </a:solidFill>
                <a:latin typeface="Arimo"/>
                <a:ea typeface="Arimo"/>
                <a:cs typeface="Arimo"/>
              </a:defRPr>
            </a:pPr>
            <a:r>
              <a:rPr sz="3000" b="1">
                <a:solidFill>
                  <a:srgbClr val="10251D"/>
                </a:solidFill>
                <a:latin typeface="Arimo"/>
                <a:ea typeface="Arimo"/>
                <a:cs typeface="Arimo"/>
              </a:rPr>
              <a:t>Prototype interface guide</a:t>
            </a:r>
          </a:p>
        </p:txBody>
      </p:sp>
      <p:sp>
        <p:nvSpPr>
          <p:cNvPr id="3" name="Subtitle">
            <a:extLst xmlns:a="http://schemas.openxmlformats.org/drawingml/2006/main">
              <a:ext uri="{FF2B5EF4-FFF2-40B4-BE49-F238E27FC236}">
                <a16:creationId xmlns:a16="http://schemas.microsoft.com/office/drawing/2014/main" id="{C2EA332B-571D-4771-ABE5-6F02114D5038}"/>
              </a:ext>
            </a:extLst>
          </p:cNvPr>
          <p:cNvSpPr>
            <a:spLocks xmlns:a="http://schemas.openxmlformats.org/drawingml/2006/main" noGrp="1"/>
          </p:cNvSpPr>
          <p:nvPr/>
        </p:nvSpPr>
        <p:spPr>
          <a:xfrm xmlns:a="http://schemas.openxmlformats.org/drawingml/2006/main">
            <a:off x="419100" y="819150"/>
            <a:ext cx="1095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500" b="0">
                <a:solidFill>
                  <a:srgbClr val="4E655A"/>
                </a:solidFill>
                <a:latin typeface="Arimo"/>
                <a:ea typeface="Arimo"/>
                <a:cs typeface="Arimo"/>
              </a:defRPr>
            </a:pPr>
            <a:r>
              <a:rPr sz="1500" b="0">
                <a:solidFill>
                  <a:srgbClr val="4E655A"/>
                </a:solidFill>
                <a:latin typeface="Arimo"/>
                <a:ea typeface="Arimo"/>
                <a:cs typeface="Arimo"/>
              </a:rPr>
              <a:t>Controls and sensor responses in the illustrative RainForest prototype</a:t>
            </a:r>
          </a:p>
        </p:txBody>
      </p:sp>
      <p:pic>
        <p:nvPicPr>
          <p:cNvPr id="99" name=""/>
          <p:cNvPicPr>
            <a:picLocks xmlns:a="http://schemas.openxmlformats.org/drawingml/2006/main" noChangeAspect="1"/>
          </p:cNvPicPr>
          <p:nvPr/>
        </p:nvPicPr>
        <p:blipFill>
          <a:blip xmlns:r="http://schemas.openxmlformats.org/officeDocument/2006/relationships" xmlns:a="http://schemas.openxmlformats.org/drawingml/2006/main" r:embed="R3bd0f94c66a04e94"/>
          <a:stretch xmlns:a="http://schemas.openxmlformats.org/drawingml/2006/main"/>
        </p:blipFill>
        <p:spPr>
          <a:xfrm xmlns:a="http://schemas.openxmlformats.org/drawingml/2006/main">
            <a:off x="2381250" y="1752600"/>
            <a:ext cx="7429500" cy="4179094"/>
          </a:xfrm>
          <a:prstGeom xmlns:a="http://schemas.openxmlformats.org/drawingml/2006/main" prst="rect">
            <a:avLst/>
          </a:prstGeom>
        </p:spPr>
      </p:pic>
      <p:sp>
        <p:nvSpPr>
          <p:cNvPr id="5" name="Callout 1">
            <a:extLst xmlns:a="http://schemas.openxmlformats.org/drawingml/2006/main">
              <a:ext uri="{FF2B5EF4-FFF2-40B4-BE49-F238E27FC236}">
                <a16:creationId xmlns:a16="http://schemas.microsoft.com/office/drawing/2014/main" id="{E397194E-4B9F-4343-94AF-CFB75C2F5D6F}"/>
              </a:ext>
            </a:extLst>
          </p:cNvPr>
          <p:cNvSpPr>
            <a:spLocks xmlns:a="http://schemas.openxmlformats.org/drawingml/2006/main" noGrp="1"/>
          </p:cNvSpPr>
          <p:nvPr/>
        </p:nvSpPr>
        <p:spPr>
          <a:xfrm xmlns:a="http://schemas.openxmlformats.org/drawingml/2006/main">
            <a:off x="285750" y="1933575"/>
            <a:ext cx="1924050" cy="600075"/>
          </a:xfrm>
          <a:prstGeom xmlns:a="http://schemas.openxmlformats.org/drawingml/2006/main" prst="roundRect">
            <a:avLst>
              <a:gd name="adj" fmla="val 12698"/>
            </a:avLst>
          </a:prstGeom>
          <a:solidFill xmlns:a="http://schemas.openxmlformats.org/drawingml/2006/main">
            <a:srgbClr val="F0F5EE"/>
          </a:solidFill>
          <a:ln xmlns:a="http://schemas.openxmlformats.org/drawingml/2006/main" w="7620">
            <a:solidFill>
              <a:srgbClr val="C9D9CF"/>
            </a:solidFill>
            <a:prstDash val="solid"/>
          </a:ln>
        </p:spPr>
      </p:sp>
      <p:sp>
        <p:nvSpPr>
          <p:cNvPr id="6" name="Number 1">
            <a:extLst xmlns:a="http://schemas.openxmlformats.org/drawingml/2006/main">
              <a:ext uri="{FF2B5EF4-FFF2-40B4-BE49-F238E27FC236}">
                <a16:creationId xmlns:a16="http://schemas.microsoft.com/office/drawing/2014/main" id="{1DC699E7-15E1-400F-8CC9-0744C2C59103}"/>
              </a:ext>
            </a:extLst>
          </p:cNvPr>
          <p:cNvSpPr>
            <a:spLocks xmlns:a="http://schemas.openxmlformats.org/drawingml/2006/main" noGrp="1"/>
          </p:cNvSpPr>
          <p:nvPr/>
        </p:nvSpPr>
        <p:spPr>
          <a:xfrm xmlns:a="http://schemas.openxmlformats.org/drawingml/2006/main">
            <a:off x="361950" y="200977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a:t>
            </a:r>
          </a:p>
        </p:txBody>
      </p:sp>
      <p:sp>
        <p:nvSpPr>
          <p:cNvPr id="7" name="Callout 1 title">
            <a:extLst xmlns:a="http://schemas.openxmlformats.org/drawingml/2006/main">
              <a:ext uri="{FF2B5EF4-FFF2-40B4-BE49-F238E27FC236}">
                <a16:creationId xmlns:a16="http://schemas.microsoft.com/office/drawing/2014/main" id="{FCC3A25D-0A40-492A-9092-725277E8F39D}"/>
              </a:ext>
            </a:extLst>
          </p:cNvPr>
          <p:cNvSpPr>
            <a:spLocks xmlns:a="http://schemas.openxmlformats.org/drawingml/2006/main" noGrp="1"/>
          </p:cNvSpPr>
          <p:nvPr/>
        </p:nvSpPr>
        <p:spPr>
          <a:xfrm xmlns:a="http://schemas.openxmlformats.org/drawingml/2006/main">
            <a:off x="666750" y="200977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Load strategy</a:t>
            </a:r>
          </a:p>
        </p:txBody>
      </p:sp>
      <p:sp>
        <p:nvSpPr>
          <p:cNvPr id="8" name="Callout 1 explanation">
            <a:extLst xmlns:a="http://schemas.openxmlformats.org/drawingml/2006/main">
              <a:ext uri="{FF2B5EF4-FFF2-40B4-BE49-F238E27FC236}">
                <a16:creationId xmlns:a16="http://schemas.microsoft.com/office/drawing/2014/main" id="{86590CC2-C616-4B43-8572-48094AE5E5C8}"/>
              </a:ext>
            </a:extLst>
          </p:cNvPr>
          <p:cNvSpPr>
            <a:spLocks xmlns:a="http://schemas.openxmlformats.org/drawingml/2006/main" noGrp="1"/>
          </p:cNvSpPr>
          <p:nvPr/>
        </p:nvSpPr>
        <p:spPr>
          <a:xfrm xmlns:a="http://schemas.openxmlformats.org/drawingml/2006/main">
            <a:off x="381000" y="2266950"/>
            <a:ext cx="1733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Import JSON or CSV</a:t>
            </a:r>
          </a:p>
        </p:txBody>
      </p:sp>
      <p:sp>
        <p:nvSpPr>
          <p:cNvPr id="9" name="Interface target 1">
            <a:extLst xmlns:a="http://schemas.openxmlformats.org/drawingml/2006/main">
              <a:ext uri="{FF2B5EF4-FFF2-40B4-BE49-F238E27FC236}">
                <a16:creationId xmlns:a16="http://schemas.microsoft.com/office/drawing/2014/main" id="{5AFEF2A7-D1D1-43AB-AE3A-DE583D846450}"/>
              </a:ext>
            </a:extLst>
          </p:cNvPr>
          <p:cNvSpPr>
            <a:spLocks xmlns:a="http://schemas.openxmlformats.org/drawingml/2006/main" noGrp="1"/>
          </p:cNvSpPr>
          <p:nvPr/>
        </p:nvSpPr>
        <p:spPr>
          <a:xfrm xmlns:a="http://schemas.openxmlformats.org/drawingml/2006/main">
            <a:off x="2464832" y="2449116"/>
            <a:ext cx="1179433" cy="185738"/>
          </a:xfrm>
          <a:prstGeom xmlns:a="http://schemas.openxmlformats.org/drawingml/2006/main" prst="roundRect">
            <a:avLst>
              <a:gd name="adj" fmla="val 41026"/>
            </a:avLst>
          </a:prstGeom>
          <a:noFill xmlns:a="http://schemas.openxmlformats.org/drawingml/2006/main"/>
          <a:ln xmlns:a="http://schemas.openxmlformats.org/drawingml/2006/main" w="15240">
            <a:solidFill>
              <a:srgbClr val="167A55"/>
            </a:solidFill>
            <a:prstDash val="solid"/>
          </a:ln>
        </p:spPr>
      </p:sp>
      <p:cxnSp>
        <p:nvCxnSpPr>
          <p:cNvPr id="105" name=""/>
          <p:cNvCxnSpPr>
            <a:stCxn xmlns:a="http://schemas.openxmlformats.org/drawingml/2006/main" id="5" idx="3"/>
            <a:endCxn xmlns:a="http://schemas.openxmlformats.org/drawingml/2006/main" id="9" idx="1"/>
          </p:cNvCxnSpPr>
          <p:nvPr/>
        </p:nvCxnSpPr>
        <p:spPr>
          <a:xfrm xmlns:a="http://schemas.openxmlformats.org/drawingml/2006/main">
            <a:off x="2209800" y="2233613"/>
            <a:ext cx="255032" cy="308373"/>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11" name="Callout 2">
            <a:extLst xmlns:a="http://schemas.openxmlformats.org/drawingml/2006/main">
              <a:ext uri="{FF2B5EF4-FFF2-40B4-BE49-F238E27FC236}">
                <a16:creationId xmlns:a16="http://schemas.microsoft.com/office/drawing/2014/main" id="{CCFCD010-7D06-4D5A-B447-6E9FB6BC4279}"/>
              </a:ext>
            </a:extLst>
          </p:cNvPr>
          <p:cNvSpPr>
            <a:spLocks xmlns:a="http://schemas.openxmlformats.org/drawingml/2006/main" noGrp="1"/>
          </p:cNvSpPr>
          <p:nvPr/>
        </p:nvSpPr>
        <p:spPr>
          <a:xfrm xmlns:a="http://schemas.openxmlformats.org/drawingml/2006/main">
            <a:off x="285750" y="2667000"/>
            <a:ext cx="1924050" cy="781050"/>
          </a:xfrm>
          <a:prstGeom xmlns:a="http://schemas.openxmlformats.org/drawingml/2006/main" prst="roundRect">
            <a:avLst>
              <a:gd name="adj" fmla="val 9756"/>
            </a:avLst>
          </a:prstGeom>
          <a:solidFill xmlns:a="http://schemas.openxmlformats.org/drawingml/2006/main">
            <a:srgbClr val="F0F5EE"/>
          </a:solidFill>
          <a:ln xmlns:a="http://schemas.openxmlformats.org/drawingml/2006/main" w="7620">
            <a:solidFill>
              <a:srgbClr val="C9D9CF"/>
            </a:solidFill>
            <a:prstDash val="solid"/>
          </a:ln>
        </p:spPr>
      </p:sp>
      <p:sp>
        <p:nvSpPr>
          <p:cNvPr id="12" name="Number 2">
            <a:extLst xmlns:a="http://schemas.openxmlformats.org/drawingml/2006/main">
              <a:ext uri="{FF2B5EF4-FFF2-40B4-BE49-F238E27FC236}">
                <a16:creationId xmlns:a16="http://schemas.microsoft.com/office/drawing/2014/main" id="{ABC12D70-0C6B-4956-B473-ACF7C0298D15}"/>
              </a:ext>
            </a:extLst>
          </p:cNvPr>
          <p:cNvSpPr>
            <a:spLocks xmlns:a="http://schemas.openxmlformats.org/drawingml/2006/main" noGrp="1"/>
          </p:cNvSpPr>
          <p:nvPr/>
        </p:nvSpPr>
        <p:spPr>
          <a:xfrm xmlns:a="http://schemas.openxmlformats.org/drawingml/2006/main">
            <a:off x="361950" y="2743200"/>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2</a:t>
            </a:r>
          </a:p>
        </p:txBody>
      </p:sp>
      <p:sp>
        <p:nvSpPr>
          <p:cNvPr id="13" name="Callout 2 title">
            <a:extLst xmlns:a="http://schemas.openxmlformats.org/drawingml/2006/main">
              <a:ext uri="{FF2B5EF4-FFF2-40B4-BE49-F238E27FC236}">
                <a16:creationId xmlns:a16="http://schemas.microsoft.com/office/drawing/2014/main" id="{45A0E637-51F0-4999-8962-162B1C2E656B}"/>
              </a:ext>
            </a:extLst>
          </p:cNvPr>
          <p:cNvSpPr>
            <a:spLocks xmlns:a="http://schemas.openxmlformats.org/drawingml/2006/main" noGrp="1"/>
          </p:cNvSpPr>
          <p:nvPr/>
        </p:nvSpPr>
        <p:spPr>
          <a:xfrm xmlns:a="http://schemas.openxmlformats.org/drawingml/2006/main">
            <a:off x="666750" y="2743200"/>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Example tools</a:t>
            </a:r>
          </a:p>
        </p:txBody>
      </p:sp>
      <p:sp>
        <p:nvSpPr>
          <p:cNvPr id="14" name="Callout 2 explanation">
            <a:extLst xmlns:a="http://schemas.openxmlformats.org/drawingml/2006/main">
              <a:ext uri="{FF2B5EF4-FFF2-40B4-BE49-F238E27FC236}">
                <a16:creationId xmlns:a16="http://schemas.microsoft.com/office/drawing/2014/main" id="{A86A846F-45C2-458B-9F62-D2FF9EA3D98E}"/>
              </a:ext>
            </a:extLst>
          </p:cNvPr>
          <p:cNvSpPr>
            <a:spLocks xmlns:a="http://schemas.openxmlformats.org/drawingml/2006/main" noGrp="1"/>
          </p:cNvSpPr>
          <p:nvPr/>
        </p:nvSpPr>
        <p:spPr>
          <a:xfrm xmlns:a="http://schemas.openxmlformats.org/drawingml/2006/main">
            <a:off x="381000" y="3000375"/>
            <a:ext cx="1733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Download template;</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restore example</a:t>
            </a:r>
          </a:p>
        </p:txBody>
      </p:sp>
      <p:sp>
        <p:nvSpPr>
          <p:cNvPr id="15" name="Interface target 2">
            <a:extLst xmlns:a="http://schemas.openxmlformats.org/drawingml/2006/main">
              <a:ext uri="{FF2B5EF4-FFF2-40B4-BE49-F238E27FC236}">
                <a16:creationId xmlns:a16="http://schemas.microsoft.com/office/drawing/2014/main" id="{D2D9BD29-5F1C-439E-9EDF-036CC44BC565}"/>
              </a:ext>
            </a:extLst>
          </p:cNvPr>
          <p:cNvSpPr>
            <a:spLocks xmlns:a="http://schemas.openxmlformats.org/drawingml/2006/main" noGrp="1"/>
          </p:cNvSpPr>
          <p:nvPr/>
        </p:nvSpPr>
        <p:spPr>
          <a:xfrm xmlns:a="http://schemas.openxmlformats.org/drawingml/2006/main">
            <a:off x="2464832" y="2676644"/>
            <a:ext cx="1179433" cy="125373"/>
          </a:xfrm>
          <a:prstGeom xmlns:a="http://schemas.openxmlformats.org/drawingml/2006/main" prst="roundRect">
            <a:avLst>
              <a:gd name="adj" fmla="val 50000"/>
            </a:avLst>
          </a:prstGeom>
          <a:noFill xmlns:a="http://schemas.openxmlformats.org/drawingml/2006/main"/>
          <a:ln xmlns:a="http://schemas.openxmlformats.org/drawingml/2006/main" w="15240">
            <a:solidFill>
              <a:srgbClr val="167A55"/>
            </a:solidFill>
            <a:prstDash val="solid"/>
          </a:ln>
        </p:spPr>
      </p:sp>
      <p:cxnSp>
        <p:nvCxnSpPr>
          <p:cNvPr id="111" name=""/>
          <p:cNvCxnSpPr>
            <a:stCxn xmlns:a="http://schemas.openxmlformats.org/drawingml/2006/main" id="11" idx="3"/>
            <a:endCxn xmlns:a="http://schemas.openxmlformats.org/drawingml/2006/main" id="15" idx="1"/>
          </p:cNvCxnSpPr>
          <p:nvPr/>
        </p:nvCxnSpPr>
        <p:spPr>
          <a:xfrm xmlns:a="http://schemas.openxmlformats.org/drawingml/2006/main" flipV="1">
            <a:off x="2209800" y="2739331"/>
            <a:ext cx="255032" cy="318194"/>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17" name="Callout 3">
            <a:extLst xmlns:a="http://schemas.openxmlformats.org/drawingml/2006/main">
              <a:ext uri="{FF2B5EF4-FFF2-40B4-BE49-F238E27FC236}">
                <a16:creationId xmlns:a16="http://schemas.microsoft.com/office/drawing/2014/main" id="{4413B32D-1E08-4DD2-B55B-DFA4A03DD935}"/>
              </a:ext>
            </a:extLst>
          </p:cNvPr>
          <p:cNvSpPr>
            <a:spLocks xmlns:a="http://schemas.openxmlformats.org/drawingml/2006/main" noGrp="1"/>
          </p:cNvSpPr>
          <p:nvPr/>
        </p:nvSpPr>
        <p:spPr>
          <a:xfrm xmlns:a="http://schemas.openxmlformats.org/drawingml/2006/main">
            <a:off x="285750" y="3581400"/>
            <a:ext cx="1924050" cy="781050"/>
          </a:xfrm>
          <a:prstGeom xmlns:a="http://schemas.openxmlformats.org/drawingml/2006/main" prst="roundRect">
            <a:avLst>
              <a:gd name="adj" fmla="val 9756"/>
            </a:avLst>
          </a:prstGeom>
          <a:solidFill xmlns:a="http://schemas.openxmlformats.org/drawingml/2006/main">
            <a:srgbClr val="F0F5EE"/>
          </a:solidFill>
          <a:ln xmlns:a="http://schemas.openxmlformats.org/drawingml/2006/main" w="7620">
            <a:solidFill>
              <a:srgbClr val="C9D9CF"/>
            </a:solidFill>
            <a:prstDash val="solid"/>
          </a:ln>
        </p:spPr>
      </p:sp>
      <p:sp>
        <p:nvSpPr>
          <p:cNvPr id="18" name="Number 3">
            <a:extLst xmlns:a="http://schemas.openxmlformats.org/drawingml/2006/main">
              <a:ext uri="{FF2B5EF4-FFF2-40B4-BE49-F238E27FC236}">
                <a16:creationId xmlns:a16="http://schemas.microsoft.com/office/drawing/2014/main" id="{202F4C38-CDCC-4689-BB78-5C101A62549B}"/>
              </a:ext>
            </a:extLst>
          </p:cNvPr>
          <p:cNvSpPr>
            <a:spLocks xmlns:a="http://schemas.openxmlformats.org/drawingml/2006/main" noGrp="1"/>
          </p:cNvSpPr>
          <p:nvPr/>
        </p:nvSpPr>
        <p:spPr>
          <a:xfrm xmlns:a="http://schemas.openxmlformats.org/drawingml/2006/main">
            <a:off x="361950" y="3657600"/>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3</a:t>
            </a:r>
          </a:p>
        </p:txBody>
      </p:sp>
      <p:sp>
        <p:nvSpPr>
          <p:cNvPr id="19" name="Callout 3 title">
            <a:extLst xmlns:a="http://schemas.openxmlformats.org/drawingml/2006/main">
              <a:ext uri="{FF2B5EF4-FFF2-40B4-BE49-F238E27FC236}">
                <a16:creationId xmlns:a16="http://schemas.microsoft.com/office/drawing/2014/main" id="{C035D8C9-617B-4C1C-A1E1-FDB7E2FAB178}"/>
              </a:ext>
            </a:extLst>
          </p:cNvPr>
          <p:cNvSpPr>
            <a:spLocks xmlns:a="http://schemas.openxmlformats.org/drawingml/2006/main" noGrp="1"/>
          </p:cNvSpPr>
          <p:nvPr/>
        </p:nvSpPr>
        <p:spPr>
          <a:xfrm xmlns:a="http://schemas.openxmlformats.org/drawingml/2006/main">
            <a:off x="666750" y="3657600"/>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Loaded strategy</a:t>
            </a:r>
          </a:p>
        </p:txBody>
      </p:sp>
      <p:sp>
        <p:nvSpPr>
          <p:cNvPr id="20" name="Callout 3 explanation">
            <a:extLst xmlns:a="http://schemas.openxmlformats.org/drawingml/2006/main">
              <a:ext uri="{FF2B5EF4-FFF2-40B4-BE49-F238E27FC236}">
                <a16:creationId xmlns:a16="http://schemas.microsoft.com/office/drawing/2014/main" id="{443B64EE-8476-42C4-BF4A-909BFD5332D6}"/>
              </a:ext>
            </a:extLst>
          </p:cNvPr>
          <p:cNvSpPr>
            <a:spLocks xmlns:a="http://schemas.openxmlformats.org/drawingml/2006/main" noGrp="1"/>
          </p:cNvSpPr>
          <p:nvPr/>
        </p:nvSpPr>
        <p:spPr>
          <a:xfrm xmlns:a="http://schemas.openxmlformats.org/drawingml/2006/main">
            <a:off x="381000" y="3914775"/>
            <a:ext cx="1733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File / snapshot count</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Green = loaded</a:t>
            </a:r>
          </a:p>
        </p:txBody>
      </p:sp>
      <p:sp>
        <p:nvSpPr>
          <p:cNvPr id="21" name="Interface target 3">
            <a:extLst xmlns:a="http://schemas.openxmlformats.org/drawingml/2006/main">
              <a:ext uri="{FF2B5EF4-FFF2-40B4-BE49-F238E27FC236}">
                <a16:creationId xmlns:a16="http://schemas.microsoft.com/office/drawing/2014/main" id="{176F5B96-6CA0-45E3-8387-C72531C9B64E}"/>
              </a:ext>
            </a:extLst>
          </p:cNvPr>
          <p:cNvSpPr>
            <a:spLocks xmlns:a="http://schemas.openxmlformats.org/drawingml/2006/main" noGrp="1"/>
          </p:cNvSpPr>
          <p:nvPr/>
        </p:nvSpPr>
        <p:spPr>
          <a:xfrm xmlns:a="http://schemas.openxmlformats.org/drawingml/2006/main">
            <a:off x="2464832" y="2862382"/>
            <a:ext cx="1179433" cy="394692"/>
          </a:xfrm>
          <a:prstGeom xmlns:a="http://schemas.openxmlformats.org/drawingml/2006/main" prst="roundRect">
            <a:avLst>
              <a:gd name="adj" fmla="val 19306"/>
            </a:avLst>
          </a:prstGeom>
          <a:noFill xmlns:a="http://schemas.openxmlformats.org/drawingml/2006/main"/>
          <a:ln xmlns:a="http://schemas.openxmlformats.org/drawingml/2006/main" w="15240">
            <a:solidFill>
              <a:srgbClr val="167A55"/>
            </a:solidFill>
            <a:prstDash val="solid"/>
          </a:ln>
        </p:spPr>
      </p:sp>
      <p:cxnSp>
        <p:nvCxnSpPr>
          <p:cNvPr id="117" name=""/>
          <p:cNvCxnSpPr>
            <a:stCxn xmlns:a="http://schemas.openxmlformats.org/drawingml/2006/main" id="17" idx="3"/>
            <a:endCxn xmlns:a="http://schemas.openxmlformats.org/drawingml/2006/main" id="21" idx="1"/>
          </p:cNvCxnSpPr>
          <p:nvPr/>
        </p:nvCxnSpPr>
        <p:spPr>
          <a:xfrm xmlns:a="http://schemas.openxmlformats.org/drawingml/2006/main" flipV="1">
            <a:off x="2209800" y="3059728"/>
            <a:ext cx="255032" cy="912197"/>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23" name="Callout 4">
            <a:extLst xmlns:a="http://schemas.openxmlformats.org/drawingml/2006/main">
              <a:ext uri="{FF2B5EF4-FFF2-40B4-BE49-F238E27FC236}">
                <a16:creationId xmlns:a16="http://schemas.microsoft.com/office/drawing/2014/main" id="{1A62FFAE-7FE9-4FA2-8C5A-72299E49CF87}"/>
              </a:ext>
            </a:extLst>
          </p:cNvPr>
          <p:cNvSpPr>
            <a:spLocks xmlns:a="http://schemas.openxmlformats.org/drawingml/2006/main" noGrp="1"/>
          </p:cNvSpPr>
          <p:nvPr/>
        </p:nvSpPr>
        <p:spPr>
          <a:xfrm xmlns:a="http://schemas.openxmlformats.org/drawingml/2006/main">
            <a:off x="285750" y="4486275"/>
            <a:ext cx="1924050" cy="971550"/>
          </a:xfrm>
          <a:prstGeom xmlns:a="http://schemas.openxmlformats.org/drawingml/2006/main" prst="roundRect">
            <a:avLst>
              <a:gd name="adj" fmla="val 7843"/>
            </a:avLst>
          </a:prstGeom>
          <a:solidFill xmlns:a="http://schemas.openxmlformats.org/drawingml/2006/main">
            <a:srgbClr val="F0F5EE"/>
          </a:solidFill>
          <a:ln xmlns:a="http://schemas.openxmlformats.org/drawingml/2006/main" w="7620">
            <a:solidFill>
              <a:srgbClr val="C9D9CF"/>
            </a:solidFill>
            <a:prstDash val="solid"/>
          </a:ln>
        </p:spPr>
      </p:sp>
      <p:sp>
        <p:nvSpPr>
          <p:cNvPr id="24" name="Number 4">
            <a:extLst xmlns:a="http://schemas.openxmlformats.org/drawingml/2006/main">
              <a:ext uri="{FF2B5EF4-FFF2-40B4-BE49-F238E27FC236}">
                <a16:creationId xmlns:a16="http://schemas.microsoft.com/office/drawing/2014/main" id="{E6D8FB3A-053D-4045-9019-C56E7F6C0A2B}"/>
              </a:ext>
            </a:extLst>
          </p:cNvPr>
          <p:cNvSpPr>
            <a:spLocks xmlns:a="http://schemas.openxmlformats.org/drawingml/2006/main" noGrp="1"/>
          </p:cNvSpPr>
          <p:nvPr/>
        </p:nvSpPr>
        <p:spPr>
          <a:xfrm xmlns:a="http://schemas.openxmlformats.org/drawingml/2006/main">
            <a:off x="361950" y="456247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4</a:t>
            </a:r>
          </a:p>
        </p:txBody>
      </p:sp>
      <p:sp>
        <p:nvSpPr>
          <p:cNvPr id="25" name="Callout 4 title">
            <a:extLst xmlns:a="http://schemas.openxmlformats.org/drawingml/2006/main">
              <a:ext uri="{FF2B5EF4-FFF2-40B4-BE49-F238E27FC236}">
                <a16:creationId xmlns:a16="http://schemas.microsoft.com/office/drawing/2014/main" id="{12EF554A-2718-4BD1-A943-ECF812E5EE19}"/>
              </a:ext>
            </a:extLst>
          </p:cNvPr>
          <p:cNvSpPr>
            <a:spLocks xmlns:a="http://schemas.openxmlformats.org/drawingml/2006/main" noGrp="1"/>
          </p:cNvSpPr>
          <p:nvPr/>
        </p:nvSpPr>
        <p:spPr>
          <a:xfrm xmlns:a="http://schemas.openxmlformats.org/drawingml/2006/main">
            <a:off x="666750" y="456247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Active controls</a:t>
            </a:r>
          </a:p>
        </p:txBody>
      </p:sp>
      <p:sp>
        <p:nvSpPr>
          <p:cNvPr id="26" name="Callout 4 explanation">
            <a:extLst xmlns:a="http://schemas.openxmlformats.org/drawingml/2006/main">
              <a:ext uri="{FF2B5EF4-FFF2-40B4-BE49-F238E27FC236}">
                <a16:creationId xmlns:a16="http://schemas.microsoft.com/office/drawing/2014/main" id="{19809281-74D3-4A13-BCC2-1EDF48823755}"/>
              </a:ext>
            </a:extLst>
          </p:cNvPr>
          <p:cNvSpPr>
            <a:spLocks xmlns:a="http://schemas.openxmlformats.org/drawingml/2006/main" noGrp="1"/>
          </p:cNvSpPr>
          <p:nvPr/>
        </p:nvSpPr>
        <p:spPr>
          <a:xfrm xmlns:a="http://schemas.openxmlformats.org/drawingml/2006/main">
            <a:off x="381000" y="4819650"/>
            <a:ext cx="17335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Time and averages</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15 setpoints, 7 fans</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42 valves / dampers</a:t>
            </a:r>
          </a:p>
        </p:txBody>
      </p:sp>
      <p:sp>
        <p:nvSpPr>
          <p:cNvPr id="27" name="Interface target 4">
            <a:extLst xmlns:a="http://schemas.openxmlformats.org/drawingml/2006/main">
              <a:ext uri="{FF2B5EF4-FFF2-40B4-BE49-F238E27FC236}">
                <a16:creationId xmlns:a16="http://schemas.microsoft.com/office/drawing/2014/main" id="{DA71D3EF-748F-46C5-BFE6-F3CBB3676BCA}"/>
              </a:ext>
            </a:extLst>
          </p:cNvPr>
          <p:cNvSpPr>
            <a:spLocks xmlns:a="http://schemas.openxmlformats.org/drawingml/2006/main" noGrp="1"/>
          </p:cNvSpPr>
          <p:nvPr/>
        </p:nvSpPr>
        <p:spPr>
          <a:xfrm xmlns:a="http://schemas.openxmlformats.org/drawingml/2006/main">
            <a:off x="2464832" y="3368516"/>
            <a:ext cx="1179433" cy="1109782"/>
          </a:xfrm>
          <a:prstGeom xmlns:a="http://schemas.openxmlformats.org/drawingml/2006/main" prst="roundRect">
            <a:avLst>
              <a:gd name="adj" fmla="val 6866"/>
            </a:avLst>
          </a:prstGeom>
          <a:noFill xmlns:a="http://schemas.openxmlformats.org/drawingml/2006/main"/>
          <a:ln xmlns:a="http://schemas.openxmlformats.org/drawingml/2006/main" w="15240">
            <a:solidFill>
              <a:srgbClr val="167A55"/>
            </a:solidFill>
            <a:prstDash val="solid"/>
          </a:ln>
        </p:spPr>
      </p:sp>
      <p:cxnSp>
        <p:nvCxnSpPr>
          <p:cNvPr id="123" name=""/>
          <p:cNvCxnSpPr>
            <a:stCxn xmlns:a="http://schemas.openxmlformats.org/drawingml/2006/main" id="23" idx="3"/>
            <a:endCxn xmlns:a="http://schemas.openxmlformats.org/drawingml/2006/main" id="27" idx="1"/>
          </p:cNvCxnSpPr>
          <p:nvPr/>
        </p:nvCxnSpPr>
        <p:spPr>
          <a:xfrm xmlns:a="http://schemas.openxmlformats.org/drawingml/2006/main" flipV="1">
            <a:off x="2209800" y="3923407"/>
            <a:ext cx="255032" cy="1048643"/>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29" name="Callout 5">
            <a:extLst xmlns:a="http://schemas.openxmlformats.org/drawingml/2006/main">
              <a:ext uri="{FF2B5EF4-FFF2-40B4-BE49-F238E27FC236}">
                <a16:creationId xmlns:a16="http://schemas.microsoft.com/office/drawing/2014/main" id="{F77EAA16-892B-496F-B33A-A0FDB8D32D6D}"/>
              </a:ext>
            </a:extLst>
          </p:cNvPr>
          <p:cNvSpPr>
            <a:spLocks xmlns:a="http://schemas.openxmlformats.org/drawingml/2006/main" noGrp="1"/>
          </p:cNvSpPr>
          <p:nvPr/>
        </p:nvSpPr>
        <p:spPr>
          <a:xfrm xmlns:a="http://schemas.openxmlformats.org/drawingml/2006/main">
            <a:off x="2381250" y="1152525"/>
            <a:ext cx="2600325" cy="571500"/>
          </a:xfrm>
          <a:prstGeom xmlns:a="http://schemas.openxmlformats.org/drawingml/2006/main" prst="roundRect">
            <a:avLst>
              <a:gd name="adj" fmla="val 13333"/>
            </a:avLst>
          </a:prstGeom>
          <a:solidFill xmlns:a="http://schemas.openxmlformats.org/drawingml/2006/main">
            <a:srgbClr val="F0F5EE"/>
          </a:solidFill>
          <a:ln xmlns:a="http://schemas.openxmlformats.org/drawingml/2006/main" w="7620">
            <a:solidFill>
              <a:srgbClr val="C9D9CF"/>
            </a:solidFill>
            <a:prstDash val="solid"/>
          </a:ln>
        </p:spPr>
      </p:sp>
      <p:sp>
        <p:nvSpPr>
          <p:cNvPr id="30" name="Number 5">
            <a:extLst xmlns:a="http://schemas.openxmlformats.org/drawingml/2006/main">
              <a:ext uri="{FF2B5EF4-FFF2-40B4-BE49-F238E27FC236}">
                <a16:creationId xmlns:a16="http://schemas.microsoft.com/office/drawing/2014/main" id="{7B23CDCA-6A05-4625-93BE-369DA3724C34}"/>
              </a:ext>
            </a:extLst>
          </p:cNvPr>
          <p:cNvSpPr>
            <a:spLocks xmlns:a="http://schemas.openxmlformats.org/drawingml/2006/main" noGrp="1"/>
          </p:cNvSpPr>
          <p:nvPr/>
        </p:nvSpPr>
        <p:spPr>
          <a:xfrm xmlns:a="http://schemas.openxmlformats.org/drawingml/2006/main">
            <a:off x="2457450" y="12287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5</a:t>
            </a:r>
          </a:p>
        </p:txBody>
      </p:sp>
      <p:sp>
        <p:nvSpPr>
          <p:cNvPr id="31" name="Callout 5 title">
            <a:extLst xmlns:a="http://schemas.openxmlformats.org/drawingml/2006/main">
              <a:ext uri="{FF2B5EF4-FFF2-40B4-BE49-F238E27FC236}">
                <a16:creationId xmlns:a16="http://schemas.microsoft.com/office/drawing/2014/main" id="{AFAA6D1A-16F5-4363-AB64-6962D182E9A9}"/>
              </a:ext>
            </a:extLst>
          </p:cNvPr>
          <p:cNvSpPr>
            <a:spLocks xmlns:a="http://schemas.openxmlformats.org/drawingml/2006/main" noGrp="1"/>
          </p:cNvSpPr>
          <p:nvPr/>
        </p:nvSpPr>
        <p:spPr>
          <a:xfrm xmlns:a="http://schemas.openxmlformats.org/drawingml/2006/main">
            <a:off x="2762250" y="1228725"/>
            <a:ext cx="2143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Temperature / Humidity</a:t>
            </a:r>
          </a:p>
        </p:txBody>
      </p:sp>
      <p:sp>
        <p:nvSpPr>
          <p:cNvPr id="32" name="Callout 5 explanation">
            <a:extLst xmlns:a="http://schemas.openxmlformats.org/drawingml/2006/main">
              <a:ext uri="{FF2B5EF4-FFF2-40B4-BE49-F238E27FC236}">
                <a16:creationId xmlns:a16="http://schemas.microsoft.com/office/drawing/2014/main" id="{B17D8624-FF4C-403B-AF32-BB10976B0A95}"/>
              </a:ext>
            </a:extLst>
          </p:cNvPr>
          <p:cNvSpPr>
            <a:spLocks xmlns:a="http://schemas.openxmlformats.org/drawingml/2006/main" noGrp="1"/>
          </p:cNvSpPr>
          <p:nvPr/>
        </p:nvSpPr>
        <p:spPr>
          <a:xfrm xmlns:a="http://schemas.openxmlformats.org/drawingml/2006/main">
            <a:off x="2476500" y="1485900"/>
            <a:ext cx="2409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Switch scene colors and chart</a:t>
            </a:r>
          </a:p>
        </p:txBody>
      </p:sp>
      <p:sp>
        <p:nvSpPr>
          <p:cNvPr id="33" name="Interface target 5">
            <a:extLst xmlns:a="http://schemas.openxmlformats.org/drawingml/2006/main">
              <a:ext uri="{FF2B5EF4-FFF2-40B4-BE49-F238E27FC236}">
                <a16:creationId xmlns:a16="http://schemas.microsoft.com/office/drawing/2014/main" id="{1088902E-2ECA-48FB-A3A6-DA3A2281E2E4}"/>
              </a:ext>
            </a:extLst>
          </p:cNvPr>
          <p:cNvSpPr>
            <a:spLocks xmlns:a="http://schemas.openxmlformats.org/drawingml/2006/main" noGrp="1"/>
          </p:cNvSpPr>
          <p:nvPr/>
        </p:nvSpPr>
        <p:spPr>
          <a:xfrm xmlns:a="http://schemas.openxmlformats.org/drawingml/2006/main">
            <a:off x="3816072" y="2156579"/>
            <a:ext cx="1040130" cy="176451"/>
          </a:xfrm>
          <a:prstGeom xmlns:a="http://schemas.openxmlformats.org/drawingml/2006/main" prst="roundRect">
            <a:avLst>
              <a:gd name="adj" fmla="val 43185"/>
            </a:avLst>
          </a:prstGeom>
          <a:noFill xmlns:a="http://schemas.openxmlformats.org/drawingml/2006/main"/>
          <a:ln xmlns:a="http://schemas.openxmlformats.org/drawingml/2006/main" w="15240">
            <a:solidFill>
              <a:srgbClr val="167A55"/>
            </a:solidFill>
            <a:prstDash val="solid"/>
          </a:ln>
        </p:spPr>
      </p:sp>
      <p:cxnSp>
        <p:nvCxnSpPr>
          <p:cNvPr id="129" name=""/>
          <p:cNvCxnSpPr>
            <a:stCxn xmlns:a="http://schemas.openxmlformats.org/drawingml/2006/main" id="29" idx="2"/>
            <a:endCxn xmlns:a="http://schemas.openxmlformats.org/drawingml/2006/main" id="33" idx="0"/>
          </p:cNvCxnSpPr>
          <p:nvPr/>
        </p:nvCxnSpPr>
        <p:spPr>
          <a:xfrm xmlns:a="http://schemas.openxmlformats.org/drawingml/2006/main">
            <a:off x="3681413" y="1724025"/>
            <a:ext cx="654725" cy="432554"/>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35" name="Callout 6">
            <a:extLst xmlns:a="http://schemas.openxmlformats.org/drawingml/2006/main">
              <a:ext uri="{FF2B5EF4-FFF2-40B4-BE49-F238E27FC236}">
                <a16:creationId xmlns:a16="http://schemas.microsoft.com/office/drawing/2014/main" id="{725A7A0C-41E4-4FDA-9295-6331BBE19A57}"/>
              </a:ext>
            </a:extLst>
          </p:cNvPr>
          <p:cNvSpPr>
            <a:spLocks xmlns:a="http://schemas.openxmlformats.org/drawingml/2006/main" noGrp="1"/>
          </p:cNvSpPr>
          <p:nvPr/>
        </p:nvSpPr>
        <p:spPr>
          <a:xfrm xmlns:a="http://schemas.openxmlformats.org/drawingml/2006/main">
            <a:off x="5095875" y="1152525"/>
            <a:ext cx="2447925" cy="533400"/>
          </a:xfrm>
          <a:prstGeom xmlns:a="http://schemas.openxmlformats.org/drawingml/2006/main" prst="roundRect">
            <a:avLst>
              <a:gd name="adj" fmla="val 14286"/>
            </a:avLst>
          </a:prstGeom>
          <a:solidFill xmlns:a="http://schemas.openxmlformats.org/drawingml/2006/main">
            <a:srgbClr val="F0F5EE"/>
          </a:solidFill>
          <a:ln xmlns:a="http://schemas.openxmlformats.org/drawingml/2006/main" w="7620">
            <a:solidFill>
              <a:srgbClr val="C9D9CF"/>
            </a:solidFill>
            <a:prstDash val="solid"/>
          </a:ln>
        </p:spPr>
      </p:sp>
      <p:sp>
        <p:nvSpPr>
          <p:cNvPr id="36" name="Number 6">
            <a:extLst xmlns:a="http://schemas.openxmlformats.org/drawingml/2006/main">
              <a:ext uri="{FF2B5EF4-FFF2-40B4-BE49-F238E27FC236}">
                <a16:creationId xmlns:a16="http://schemas.microsoft.com/office/drawing/2014/main" id="{46274B49-D243-418E-B511-0FB9742E097E}"/>
              </a:ext>
            </a:extLst>
          </p:cNvPr>
          <p:cNvSpPr>
            <a:spLocks xmlns:a="http://schemas.openxmlformats.org/drawingml/2006/main" noGrp="1"/>
          </p:cNvSpPr>
          <p:nvPr/>
        </p:nvSpPr>
        <p:spPr>
          <a:xfrm xmlns:a="http://schemas.openxmlformats.org/drawingml/2006/main">
            <a:off x="5172075" y="12287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6</a:t>
            </a:r>
          </a:p>
        </p:txBody>
      </p:sp>
      <p:sp>
        <p:nvSpPr>
          <p:cNvPr id="37" name="Callout 6 title">
            <a:extLst xmlns:a="http://schemas.openxmlformats.org/drawingml/2006/main">
              <a:ext uri="{FF2B5EF4-FFF2-40B4-BE49-F238E27FC236}">
                <a16:creationId xmlns:a16="http://schemas.microsoft.com/office/drawing/2014/main" id="{86E4BF33-6C33-4516-94D8-8E04B98173AB}"/>
              </a:ext>
            </a:extLst>
          </p:cNvPr>
          <p:cNvSpPr>
            <a:spLocks xmlns:a="http://schemas.openxmlformats.org/drawingml/2006/main" noGrp="1"/>
          </p:cNvSpPr>
          <p:nvPr/>
        </p:nvSpPr>
        <p:spPr>
          <a:xfrm xmlns:a="http://schemas.openxmlformats.org/drawingml/2006/main">
            <a:off x="5476875" y="1228725"/>
            <a:ext cx="19907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3D view and sensors</a:t>
            </a:r>
          </a:p>
        </p:txBody>
      </p:sp>
      <p:sp>
        <p:nvSpPr>
          <p:cNvPr id="38" name="Callout 6 explanation">
            <a:extLst xmlns:a="http://schemas.openxmlformats.org/drawingml/2006/main">
              <a:ext uri="{FF2B5EF4-FFF2-40B4-BE49-F238E27FC236}">
                <a16:creationId xmlns:a16="http://schemas.microsoft.com/office/drawing/2014/main" id="{5CAB35C5-A020-406A-82F0-01AC8D42CD03}"/>
              </a:ext>
            </a:extLst>
          </p:cNvPr>
          <p:cNvSpPr>
            <a:spLocks xmlns:a="http://schemas.openxmlformats.org/drawingml/2006/main" noGrp="1"/>
          </p:cNvSpPr>
          <p:nvPr/>
        </p:nvSpPr>
        <p:spPr>
          <a:xfrm xmlns:a="http://schemas.openxmlformats.org/drawingml/2006/main">
            <a:off x="5191125" y="1485900"/>
            <a:ext cx="22574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Rotate, zoom; click a point</a:t>
            </a:r>
          </a:p>
        </p:txBody>
      </p:sp>
      <p:sp>
        <p:nvSpPr>
          <p:cNvPr id="39" name="Interface target 6">
            <a:extLst xmlns:a="http://schemas.openxmlformats.org/drawingml/2006/main">
              <a:ext uri="{FF2B5EF4-FFF2-40B4-BE49-F238E27FC236}">
                <a16:creationId xmlns:a16="http://schemas.microsoft.com/office/drawing/2014/main" id="{B8F5ABDA-1CC4-446F-8254-8FC98D50CAE9}"/>
              </a:ext>
            </a:extLst>
          </p:cNvPr>
          <p:cNvSpPr>
            <a:spLocks xmlns:a="http://schemas.openxmlformats.org/drawingml/2006/main" noGrp="1"/>
          </p:cNvSpPr>
          <p:nvPr/>
        </p:nvSpPr>
        <p:spPr>
          <a:xfrm xmlns:a="http://schemas.openxmlformats.org/drawingml/2006/main">
            <a:off x="6699647" y="2806660"/>
            <a:ext cx="232172" cy="241459"/>
          </a:xfrm>
          <a:prstGeom xmlns:a="http://schemas.openxmlformats.org/drawingml/2006/main" prst="roundRect">
            <a:avLst>
              <a:gd name="adj" fmla="val 32821"/>
            </a:avLst>
          </a:prstGeom>
          <a:noFill xmlns:a="http://schemas.openxmlformats.org/drawingml/2006/main"/>
          <a:ln xmlns:a="http://schemas.openxmlformats.org/drawingml/2006/main" w="15240">
            <a:solidFill>
              <a:srgbClr val="167A55"/>
            </a:solidFill>
            <a:prstDash val="solid"/>
          </a:ln>
        </p:spPr>
      </p:sp>
      <p:cxnSp>
        <p:nvCxnSpPr>
          <p:cNvPr id="135" name=""/>
          <p:cNvCxnSpPr>
            <a:stCxn xmlns:a="http://schemas.openxmlformats.org/drawingml/2006/main" id="35" idx="2"/>
            <a:endCxn xmlns:a="http://schemas.openxmlformats.org/drawingml/2006/main" id="39" idx="0"/>
          </p:cNvCxnSpPr>
          <p:nvPr/>
        </p:nvCxnSpPr>
        <p:spPr>
          <a:xfrm xmlns:a="http://schemas.openxmlformats.org/drawingml/2006/main">
            <a:off x="6319838" y="1685925"/>
            <a:ext cx="495896" cy="1120735"/>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41" name="Callout 7">
            <a:extLst xmlns:a="http://schemas.openxmlformats.org/drawingml/2006/main">
              <a:ext uri="{FF2B5EF4-FFF2-40B4-BE49-F238E27FC236}">
                <a16:creationId xmlns:a16="http://schemas.microsoft.com/office/drawing/2014/main" id="{0F86FE22-E287-4C63-BF33-90D9445102D1}"/>
              </a:ext>
            </a:extLst>
          </p:cNvPr>
          <p:cNvSpPr>
            <a:spLocks xmlns:a="http://schemas.openxmlformats.org/drawingml/2006/main" noGrp="1"/>
          </p:cNvSpPr>
          <p:nvPr/>
        </p:nvSpPr>
        <p:spPr>
          <a:xfrm xmlns:a="http://schemas.openxmlformats.org/drawingml/2006/main">
            <a:off x="7658100" y="1152525"/>
            <a:ext cx="2152650" cy="533400"/>
          </a:xfrm>
          <a:prstGeom xmlns:a="http://schemas.openxmlformats.org/drawingml/2006/main" prst="roundRect">
            <a:avLst>
              <a:gd name="adj" fmla="val 14286"/>
            </a:avLst>
          </a:prstGeom>
          <a:solidFill xmlns:a="http://schemas.openxmlformats.org/drawingml/2006/main">
            <a:srgbClr val="F0F5EE"/>
          </a:solidFill>
          <a:ln xmlns:a="http://schemas.openxmlformats.org/drawingml/2006/main" w="7620">
            <a:solidFill>
              <a:srgbClr val="C9D9CF"/>
            </a:solidFill>
            <a:prstDash val="solid"/>
          </a:ln>
        </p:spPr>
      </p:sp>
      <p:sp>
        <p:nvSpPr>
          <p:cNvPr id="42" name="Number 7">
            <a:extLst xmlns:a="http://schemas.openxmlformats.org/drawingml/2006/main">
              <a:ext uri="{FF2B5EF4-FFF2-40B4-BE49-F238E27FC236}">
                <a16:creationId xmlns:a16="http://schemas.microsoft.com/office/drawing/2014/main" id="{34A80C5F-752F-406B-9025-70942AA5838E}"/>
              </a:ext>
            </a:extLst>
          </p:cNvPr>
          <p:cNvSpPr>
            <a:spLocks xmlns:a="http://schemas.openxmlformats.org/drawingml/2006/main" noGrp="1"/>
          </p:cNvSpPr>
          <p:nvPr/>
        </p:nvSpPr>
        <p:spPr>
          <a:xfrm xmlns:a="http://schemas.openxmlformats.org/drawingml/2006/main">
            <a:off x="7734300" y="12287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7</a:t>
            </a:r>
          </a:p>
        </p:txBody>
      </p:sp>
      <p:sp>
        <p:nvSpPr>
          <p:cNvPr id="43" name="Callout 7 title">
            <a:extLst xmlns:a="http://schemas.openxmlformats.org/drawingml/2006/main">
              <a:ext uri="{FF2B5EF4-FFF2-40B4-BE49-F238E27FC236}">
                <a16:creationId xmlns:a16="http://schemas.microsoft.com/office/drawing/2014/main" id="{3E5966C4-8605-4AE5-8479-BAF3093D8EF2}"/>
              </a:ext>
            </a:extLst>
          </p:cNvPr>
          <p:cNvSpPr>
            <a:spLocks xmlns:a="http://schemas.openxmlformats.org/drawingml/2006/main" noGrp="1"/>
          </p:cNvSpPr>
          <p:nvPr/>
        </p:nvSpPr>
        <p:spPr>
          <a:xfrm xmlns:a="http://schemas.openxmlformats.org/drawingml/2006/main">
            <a:off x="8039100" y="1228725"/>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Reset view</a:t>
            </a:r>
          </a:p>
        </p:txBody>
      </p:sp>
      <p:sp>
        <p:nvSpPr>
          <p:cNvPr id="44" name="Callout 7 explanation">
            <a:extLst xmlns:a="http://schemas.openxmlformats.org/drawingml/2006/main">
              <a:ext uri="{FF2B5EF4-FFF2-40B4-BE49-F238E27FC236}">
                <a16:creationId xmlns:a16="http://schemas.microsoft.com/office/drawing/2014/main" id="{D5BC1D52-A66A-46CB-A428-AA103306837E}"/>
              </a:ext>
            </a:extLst>
          </p:cNvPr>
          <p:cNvSpPr>
            <a:spLocks xmlns:a="http://schemas.openxmlformats.org/drawingml/2006/main" noGrp="1"/>
          </p:cNvSpPr>
          <p:nvPr/>
        </p:nvSpPr>
        <p:spPr>
          <a:xfrm xmlns:a="http://schemas.openxmlformats.org/drawingml/2006/main">
            <a:off x="7753350" y="1485900"/>
            <a:ext cx="1962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Restore the camera angle</a:t>
            </a:r>
          </a:p>
        </p:txBody>
      </p:sp>
      <p:sp>
        <p:nvSpPr>
          <p:cNvPr id="45" name="Interface target 7">
            <a:extLst xmlns:a="http://schemas.openxmlformats.org/drawingml/2006/main">
              <a:ext uri="{FF2B5EF4-FFF2-40B4-BE49-F238E27FC236}">
                <a16:creationId xmlns:a16="http://schemas.microsoft.com/office/drawing/2014/main" id="{422FB057-7EFB-4615-BB31-C227122AC66E}"/>
              </a:ext>
            </a:extLst>
          </p:cNvPr>
          <p:cNvSpPr>
            <a:spLocks xmlns:a="http://schemas.openxmlformats.org/drawingml/2006/main" noGrp="1"/>
          </p:cNvSpPr>
          <p:nvPr/>
        </p:nvSpPr>
        <p:spPr>
          <a:xfrm xmlns:a="http://schemas.openxmlformats.org/drawingml/2006/main">
            <a:off x="7656195" y="2156579"/>
            <a:ext cx="496848" cy="139303"/>
          </a:xfrm>
          <a:prstGeom xmlns:a="http://schemas.openxmlformats.org/drawingml/2006/main" prst="roundRect">
            <a:avLst>
              <a:gd name="adj" fmla="val 50000"/>
            </a:avLst>
          </a:prstGeom>
          <a:noFill xmlns:a="http://schemas.openxmlformats.org/drawingml/2006/main"/>
          <a:ln xmlns:a="http://schemas.openxmlformats.org/drawingml/2006/main" w="15240">
            <a:solidFill>
              <a:srgbClr val="167A55"/>
            </a:solidFill>
            <a:prstDash val="solid"/>
          </a:ln>
        </p:spPr>
      </p:sp>
      <p:cxnSp>
        <p:nvCxnSpPr>
          <p:cNvPr id="141" name=""/>
          <p:cNvCxnSpPr>
            <a:stCxn xmlns:a="http://schemas.openxmlformats.org/drawingml/2006/main" id="41" idx="2"/>
            <a:endCxn xmlns:a="http://schemas.openxmlformats.org/drawingml/2006/main" id="45" idx="0"/>
          </p:cNvCxnSpPr>
          <p:nvPr/>
        </p:nvCxnSpPr>
        <p:spPr>
          <a:xfrm xmlns:a="http://schemas.openxmlformats.org/drawingml/2006/main" flipH="1">
            <a:off x="7904619" y="1685925"/>
            <a:ext cx="829806" cy="470654"/>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47" name="Callout 8">
            <a:extLst xmlns:a="http://schemas.openxmlformats.org/drawingml/2006/main">
              <a:ext uri="{FF2B5EF4-FFF2-40B4-BE49-F238E27FC236}">
                <a16:creationId xmlns:a16="http://schemas.microsoft.com/office/drawing/2014/main" id="{7B436B07-30EE-47F8-BFDF-92609CE5856E}"/>
              </a:ext>
            </a:extLst>
          </p:cNvPr>
          <p:cNvSpPr>
            <a:spLocks xmlns:a="http://schemas.openxmlformats.org/drawingml/2006/main" noGrp="1"/>
          </p:cNvSpPr>
          <p:nvPr/>
        </p:nvSpPr>
        <p:spPr>
          <a:xfrm xmlns:a="http://schemas.openxmlformats.org/drawingml/2006/main">
            <a:off x="9982200" y="1838325"/>
            <a:ext cx="1924050" cy="628650"/>
          </a:xfrm>
          <a:prstGeom xmlns:a="http://schemas.openxmlformats.org/drawingml/2006/main" prst="roundRect">
            <a:avLst>
              <a:gd name="adj" fmla="val 12121"/>
            </a:avLst>
          </a:prstGeom>
          <a:solidFill xmlns:a="http://schemas.openxmlformats.org/drawingml/2006/main">
            <a:srgbClr val="F0F5EE"/>
          </a:solidFill>
          <a:ln xmlns:a="http://schemas.openxmlformats.org/drawingml/2006/main" w="7620">
            <a:solidFill>
              <a:srgbClr val="C9D9CF"/>
            </a:solidFill>
            <a:prstDash val="solid"/>
          </a:ln>
        </p:spPr>
      </p:sp>
      <p:sp>
        <p:nvSpPr>
          <p:cNvPr id="48" name="Number 8">
            <a:extLst xmlns:a="http://schemas.openxmlformats.org/drawingml/2006/main">
              <a:ext uri="{FF2B5EF4-FFF2-40B4-BE49-F238E27FC236}">
                <a16:creationId xmlns:a16="http://schemas.microsoft.com/office/drawing/2014/main" id="{E2DC8A5B-DE64-4C15-B4C7-D8ED41C6AA2A}"/>
              </a:ext>
            </a:extLst>
          </p:cNvPr>
          <p:cNvSpPr>
            <a:spLocks xmlns:a="http://schemas.openxmlformats.org/drawingml/2006/main" noGrp="1"/>
          </p:cNvSpPr>
          <p:nvPr/>
        </p:nvSpPr>
        <p:spPr>
          <a:xfrm xmlns:a="http://schemas.openxmlformats.org/drawingml/2006/main">
            <a:off x="10058400" y="19145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8</a:t>
            </a:r>
          </a:p>
        </p:txBody>
      </p:sp>
      <p:sp>
        <p:nvSpPr>
          <p:cNvPr id="49" name="Callout 8 title">
            <a:extLst xmlns:a="http://schemas.openxmlformats.org/drawingml/2006/main">
              <a:ext uri="{FF2B5EF4-FFF2-40B4-BE49-F238E27FC236}">
                <a16:creationId xmlns:a16="http://schemas.microsoft.com/office/drawing/2014/main" id="{4393607B-ABBC-4F28-BBB9-CD98C45F23F1}"/>
              </a:ext>
            </a:extLst>
          </p:cNvPr>
          <p:cNvSpPr>
            <a:spLocks xmlns:a="http://schemas.openxmlformats.org/drawingml/2006/main" noGrp="1"/>
          </p:cNvSpPr>
          <p:nvPr/>
        </p:nvSpPr>
        <p:spPr>
          <a:xfrm xmlns:a="http://schemas.openxmlformats.org/drawingml/2006/main">
            <a:off x="10363200" y="191452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Sensor selector</a:t>
            </a:r>
          </a:p>
        </p:txBody>
      </p:sp>
      <p:sp>
        <p:nvSpPr>
          <p:cNvPr id="50" name="Callout 8 explanation">
            <a:extLst xmlns:a="http://schemas.openxmlformats.org/drawingml/2006/main">
              <a:ext uri="{FF2B5EF4-FFF2-40B4-BE49-F238E27FC236}">
                <a16:creationId xmlns:a16="http://schemas.microsoft.com/office/drawing/2014/main" id="{C76B17D2-600D-42D9-9C3A-81382CF2DCCC}"/>
              </a:ext>
            </a:extLst>
          </p:cNvPr>
          <p:cNvSpPr>
            <a:spLocks xmlns:a="http://schemas.openxmlformats.org/drawingml/2006/main" noGrp="1"/>
          </p:cNvSpPr>
          <p:nvPr/>
        </p:nvSpPr>
        <p:spPr>
          <a:xfrm xmlns:a="http://schemas.openxmlformats.org/drawingml/2006/main">
            <a:off x="10077450" y="2171700"/>
            <a:ext cx="1733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Select tower + height</a:t>
            </a:r>
          </a:p>
        </p:txBody>
      </p:sp>
      <p:sp>
        <p:nvSpPr>
          <p:cNvPr id="51" name="Interface target 8">
            <a:extLst xmlns:a="http://schemas.openxmlformats.org/drawingml/2006/main">
              <a:ext uri="{FF2B5EF4-FFF2-40B4-BE49-F238E27FC236}">
                <a16:creationId xmlns:a16="http://schemas.microsoft.com/office/drawing/2014/main" id="{E3D4C889-641D-4105-AF8B-591E95623158}"/>
              </a:ext>
            </a:extLst>
          </p:cNvPr>
          <p:cNvSpPr>
            <a:spLocks xmlns:a="http://schemas.openxmlformats.org/drawingml/2006/main" noGrp="1"/>
          </p:cNvSpPr>
          <p:nvPr/>
        </p:nvSpPr>
        <p:spPr>
          <a:xfrm xmlns:a="http://schemas.openxmlformats.org/drawingml/2006/main">
            <a:off x="8324850" y="2565202"/>
            <a:ext cx="1393031" cy="190381"/>
          </a:xfrm>
          <a:prstGeom xmlns:a="http://schemas.openxmlformats.org/drawingml/2006/main" prst="roundRect">
            <a:avLst>
              <a:gd name="adj" fmla="val 40025"/>
            </a:avLst>
          </a:prstGeom>
          <a:noFill xmlns:a="http://schemas.openxmlformats.org/drawingml/2006/main"/>
          <a:ln xmlns:a="http://schemas.openxmlformats.org/drawingml/2006/main" w="15240">
            <a:solidFill>
              <a:srgbClr val="167A55"/>
            </a:solidFill>
            <a:prstDash val="solid"/>
          </a:ln>
        </p:spPr>
      </p:sp>
      <p:cxnSp>
        <p:nvCxnSpPr>
          <p:cNvPr id="147" name=""/>
          <p:cNvCxnSpPr>
            <a:stCxn xmlns:a="http://schemas.openxmlformats.org/drawingml/2006/main" id="47" idx="1"/>
            <a:endCxn xmlns:a="http://schemas.openxmlformats.org/drawingml/2006/main" id="51" idx="3"/>
          </p:cNvCxnSpPr>
          <p:nvPr/>
        </p:nvCxnSpPr>
        <p:spPr>
          <a:xfrm xmlns:a="http://schemas.openxmlformats.org/drawingml/2006/main" flipH="1">
            <a:off x="9717881" y="2152650"/>
            <a:ext cx="264319" cy="507743"/>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53" name="Callout 9">
            <a:extLst xmlns:a="http://schemas.openxmlformats.org/drawingml/2006/main">
              <a:ext uri="{FF2B5EF4-FFF2-40B4-BE49-F238E27FC236}">
                <a16:creationId xmlns:a16="http://schemas.microsoft.com/office/drawing/2014/main" id="{4F963DA7-6E4D-4904-80BB-10E95434B20C}"/>
              </a:ext>
            </a:extLst>
          </p:cNvPr>
          <p:cNvSpPr>
            <a:spLocks xmlns:a="http://schemas.openxmlformats.org/drawingml/2006/main" noGrp="1"/>
          </p:cNvSpPr>
          <p:nvPr/>
        </p:nvSpPr>
        <p:spPr>
          <a:xfrm xmlns:a="http://schemas.openxmlformats.org/drawingml/2006/main">
            <a:off x="9982200" y="2581275"/>
            <a:ext cx="1924050" cy="781050"/>
          </a:xfrm>
          <a:prstGeom xmlns:a="http://schemas.openxmlformats.org/drawingml/2006/main" prst="roundRect">
            <a:avLst>
              <a:gd name="adj" fmla="val 9756"/>
            </a:avLst>
          </a:prstGeom>
          <a:solidFill xmlns:a="http://schemas.openxmlformats.org/drawingml/2006/main">
            <a:srgbClr val="F0F5EE"/>
          </a:solidFill>
          <a:ln xmlns:a="http://schemas.openxmlformats.org/drawingml/2006/main" w="7620">
            <a:solidFill>
              <a:srgbClr val="C9D9CF"/>
            </a:solidFill>
            <a:prstDash val="solid"/>
          </a:ln>
        </p:spPr>
      </p:sp>
      <p:sp>
        <p:nvSpPr>
          <p:cNvPr id="54" name="Number 9">
            <a:extLst xmlns:a="http://schemas.openxmlformats.org/drawingml/2006/main">
              <a:ext uri="{FF2B5EF4-FFF2-40B4-BE49-F238E27FC236}">
                <a16:creationId xmlns:a16="http://schemas.microsoft.com/office/drawing/2014/main" id="{A0EAF864-2B94-4674-83BE-62A3344CDBA0}"/>
              </a:ext>
            </a:extLst>
          </p:cNvPr>
          <p:cNvSpPr>
            <a:spLocks xmlns:a="http://schemas.openxmlformats.org/drawingml/2006/main" noGrp="1"/>
          </p:cNvSpPr>
          <p:nvPr/>
        </p:nvSpPr>
        <p:spPr>
          <a:xfrm xmlns:a="http://schemas.openxmlformats.org/drawingml/2006/main">
            <a:off x="10058400" y="265747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9</a:t>
            </a:r>
          </a:p>
        </p:txBody>
      </p:sp>
      <p:sp>
        <p:nvSpPr>
          <p:cNvPr id="55" name="Callout 9 title">
            <a:extLst xmlns:a="http://schemas.openxmlformats.org/drawingml/2006/main">
              <a:ext uri="{FF2B5EF4-FFF2-40B4-BE49-F238E27FC236}">
                <a16:creationId xmlns:a16="http://schemas.microsoft.com/office/drawing/2014/main" id="{085328A9-16CF-464D-83B7-F17BFD8D3843}"/>
              </a:ext>
            </a:extLst>
          </p:cNvPr>
          <p:cNvSpPr>
            <a:spLocks xmlns:a="http://schemas.openxmlformats.org/drawingml/2006/main" noGrp="1"/>
          </p:cNvSpPr>
          <p:nvPr/>
        </p:nvSpPr>
        <p:spPr>
          <a:xfrm xmlns:a="http://schemas.openxmlformats.org/drawingml/2006/main">
            <a:off x="10363200" y="265747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Current T and RH</a:t>
            </a:r>
          </a:p>
        </p:txBody>
      </p:sp>
      <p:sp>
        <p:nvSpPr>
          <p:cNvPr id="56" name="Callout 9 explanation">
            <a:extLst xmlns:a="http://schemas.openxmlformats.org/drawingml/2006/main">
              <a:ext uri="{FF2B5EF4-FFF2-40B4-BE49-F238E27FC236}">
                <a16:creationId xmlns:a16="http://schemas.microsoft.com/office/drawing/2014/main" id="{B2D0AE30-B6BA-49CB-AAAA-005E7F587695}"/>
              </a:ext>
            </a:extLst>
          </p:cNvPr>
          <p:cNvSpPr>
            <a:spLocks xmlns:a="http://schemas.openxmlformats.org/drawingml/2006/main" noGrp="1"/>
          </p:cNvSpPr>
          <p:nvPr/>
        </p:nvSpPr>
        <p:spPr>
          <a:xfrm xmlns:a="http://schemas.openxmlformats.org/drawingml/2006/main">
            <a:off x="10077450" y="2914650"/>
            <a:ext cx="1733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Read T / RH values</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Click to change metric</a:t>
            </a:r>
          </a:p>
        </p:txBody>
      </p:sp>
      <p:sp>
        <p:nvSpPr>
          <p:cNvPr id="57" name="Interface target 9">
            <a:extLst xmlns:a="http://schemas.openxmlformats.org/drawingml/2006/main">
              <a:ext uri="{FF2B5EF4-FFF2-40B4-BE49-F238E27FC236}">
                <a16:creationId xmlns:a16="http://schemas.microsoft.com/office/drawing/2014/main" id="{A4FA5E36-EA98-41C9-8511-61BF5F6E8C75}"/>
              </a:ext>
            </a:extLst>
          </p:cNvPr>
          <p:cNvSpPr>
            <a:spLocks xmlns:a="http://schemas.openxmlformats.org/drawingml/2006/main" noGrp="1"/>
          </p:cNvSpPr>
          <p:nvPr/>
        </p:nvSpPr>
        <p:spPr>
          <a:xfrm xmlns:a="http://schemas.openxmlformats.org/drawingml/2006/main">
            <a:off x="8324850" y="2825234"/>
            <a:ext cx="1393031" cy="362188"/>
          </a:xfrm>
          <a:prstGeom xmlns:a="http://schemas.openxmlformats.org/drawingml/2006/main" prst="roundRect">
            <a:avLst>
              <a:gd name="adj" fmla="val 21039"/>
            </a:avLst>
          </a:prstGeom>
          <a:noFill xmlns:a="http://schemas.openxmlformats.org/drawingml/2006/main"/>
          <a:ln xmlns:a="http://schemas.openxmlformats.org/drawingml/2006/main" w="15240">
            <a:solidFill>
              <a:srgbClr val="167A55"/>
            </a:solidFill>
            <a:prstDash val="solid"/>
          </a:ln>
        </p:spPr>
      </p:sp>
      <p:cxnSp>
        <p:nvCxnSpPr>
          <p:cNvPr id="153" name=""/>
          <p:cNvCxnSpPr>
            <a:stCxn xmlns:a="http://schemas.openxmlformats.org/drawingml/2006/main" id="53" idx="1"/>
            <a:endCxn xmlns:a="http://schemas.openxmlformats.org/drawingml/2006/main" id="57" idx="3"/>
          </p:cNvCxnSpPr>
          <p:nvPr/>
        </p:nvCxnSpPr>
        <p:spPr>
          <a:xfrm xmlns:a="http://schemas.openxmlformats.org/drawingml/2006/main" flipH="1">
            <a:off x="9717881" y="2971800"/>
            <a:ext cx="264319" cy="34528"/>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59" name="Callout 10">
            <a:extLst xmlns:a="http://schemas.openxmlformats.org/drawingml/2006/main">
              <a:ext uri="{FF2B5EF4-FFF2-40B4-BE49-F238E27FC236}">
                <a16:creationId xmlns:a16="http://schemas.microsoft.com/office/drawing/2014/main" id="{9E01F720-38DA-4694-838C-5A9F3BCD1E13}"/>
              </a:ext>
            </a:extLst>
          </p:cNvPr>
          <p:cNvSpPr>
            <a:spLocks xmlns:a="http://schemas.openxmlformats.org/drawingml/2006/main" noGrp="1"/>
          </p:cNvSpPr>
          <p:nvPr/>
        </p:nvSpPr>
        <p:spPr>
          <a:xfrm xmlns:a="http://schemas.openxmlformats.org/drawingml/2006/main">
            <a:off x="9982200" y="3476625"/>
            <a:ext cx="1924050" cy="781050"/>
          </a:xfrm>
          <a:prstGeom xmlns:a="http://schemas.openxmlformats.org/drawingml/2006/main" prst="roundRect">
            <a:avLst>
              <a:gd name="adj" fmla="val 9756"/>
            </a:avLst>
          </a:prstGeom>
          <a:solidFill xmlns:a="http://schemas.openxmlformats.org/drawingml/2006/main">
            <a:srgbClr val="F0F5EE"/>
          </a:solidFill>
          <a:ln xmlns:a="http://schemas.openxmlformats.org/drawingml/2006/main" w="7620">
            <a:solidFill>
              <a:srgbClr val="C9D9CF"/>
            </a:solidFill>
            <a:prstDash val="solid"/>
          </a:ln>
        </p:spPr>
      </p:sp>
      <p:sp>
        <p:nvSpPr>
          <p:cNvPr id="60" name="Number 10">
            <a:extLst xmlns:a="http://schemas.openxmlformats.org/drawingml/2006/main">
              <a:ext uri="{FF2B5EF4-FFF2-40B4-BE49-F238E27FC236}">
                <a16:creationId xmlns:a16="http://schemas.microsoft.com/office/drawing/2014/main" id="{0E4EE24C-752B-4D66-B4BC-3B80384B97AB}"/>
              </a:ext>
            </a:extLst>
          </p:cNvPr>
          <p:cNvSpPr>
            <a:spLocks xmlns:a="http://schemas.openxmlformats.org/drawingml/2006/main" noGrp="1"/>
          </p:cNvSpPr>
          <p:nvPr/>
        </p:nvSpPr>
        <p:spPr>
          <a:xfrm xmlns:a="http://schemas.openxmlformats.org/drawingml/2006/main">
            <a:off x="10058400" y="35528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10</a:t>
            </a:r>
          </a:p>
        </p:txBody>
      </p:sp>
      <p:sp>
        <p:nvSpPr>
          <p:cNvPr id="61" name="Callout 10 title">
            <a:extLst xmlns:a="http://schemas.openxmlformats.org/drawingml/2006/main">
              <a:ext uri="{FF2B5EF4-FFF2-40B4-BE49-F238E27FC236}">
                <a16:creationId xmlns:a16="http://schemas.microsoft.com/office/drawing/2014/main" id="{586844EF-2FDB-4FC2-99CA-131AE3ED7730}"/>
              </a:ext>
            </a:extLst>
          </p:cNvPr>
          <p:cNvSpPr>
            <a:spLocks xmlns:a="http://schemas.openxmlformats.org/drawingml/2006/main" noGrp="1"/>
          </p:cNvSpPr>
          <p:nvPr/>
        </p:nvSpPr>
        <p:spPr>
          <a:xfrm xmlns:a="http://schemas.openxmlformats.org/drawingml/2006/main">
            <a:off x="10363200" y="355282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Sensor history</a:t>
            </a:r>
          </a:p>
        </p:txBody>
      </p:sp>
      <p:sp>
        <p:nvSpPr>
          <p:cNvPr id="62" name="Callout 10 explanation">
            <a:extLst xmlns:a="http://schemas.openxmlformats.org/drawingml/2006/main">
              <a:ext uri="{FF2B5EF4-FFF2-40B4-BE49-F238E27FC236}">
                <a16:creationId xmlns:a16="http://schemas.microsoft.com/office/drawing/2014/main" id="{CBDA9B36-0C07-4CDA-8306-B27F39D46ABF}"/>
              </a:ext>
            </a:extLst>
          </p:cNvPr>
          <p:cNvSpPr>
            <a:spLocks xmlns:a="http://schemas.openxmlformats.org/drawingml/2006/main" noGrp="1"/>
          </p:cNvSpPr>
          <p:nvPr/>
        </p:nvSpPr>
        <p:spPr>
          <a:xfrm xmlns:a="http://schemas.openxmlformats.org/drawingml/2006/main">
            <a:off x="10077450" y="3810000"/>
            <a:ext cx="1733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Point history + cursor</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Hover for values</a:t>
            </a:r>
          </a:p>
        </p:txBody>
      </p:sp>
      <p:sp>
        <p:nvSpPr>
          <p:cNvPr id="63" name="Interface target 10">
            <a:extLst xmlns:a="http://schemas.openxmlformats.org/drawingml/2006/main">
              <a:ext uri="{FF2B5EF4-FFF2-40B4-BE49-F238E27FC236}">
                <a16:creationId xmlns:a16="http://schemas.microsoft.com/office/drawing/2014/main" id="{2B097EF5-097C-44DC-BF42-F3078C8211E1}"/>
              </a:ext>
            </a:extLst>
          </p:cNvPr>
          <p:cNvSpPr>
            <a:spLocks xmlns:a="http://schemas.openxmlformats.org/drawingml/2006/main" noGrp="1"/>
          </p:cNvSpPr>
          <p:nvPr/>
        </p:nvSpPr>
        <p:spPr>
          <a:xfrm xmlns:a="http://schemas.openxmlformats.org/drawingml/2006/main">
            <a:off x="8324850" y="3284934"/>
            <a:ext cx="1393031" cy="1318736"/>
          </a:xfrm>
          <a:prstGeom xmlns:a="http://schemas.openxmlformats.org/drawingml/2006/main" prst="roundRect">
            <a:avLst>
              <a:gd name="adj" fmla="val 5778"/>
            </a:avLst>
          </a:prstGeom>
          <a:noFill xmlns:a="http://schemas.openxmlformats.org/drawingml/2006/main"/>
          <a:ln xmlns:a="http://schemas.openxmlformats.org/drawingml/2006/main" w="15240">
            <a:solidFill>
              <a:srgbClr val="167A55"/>
            </a:solidFill>
            <a:prstDash val="solid"/>
          </a:ln>
        </p:spPr>
      </p:sp>
      <p:cxnSp>
        <p:nvCxnSpPr>
          <p:cNvPr id="159" name=""/>
          <p:cNvCxnSpPr>
            <a:stCxn xmlns:a="http://schemas.openxmlformats.org/drawingml/2006/main" id="59" idx="1"/>
            <a:endCxn xmlns:a="http://schemas.openxmlformats.org/drawingml/2006/main" id="63" idx="3"/>
          </p:cNvCxnSpPr>
          <p:nvPr/>
        </p:nvCxnSpPr>
        <p:spPr>
          <a:xfrm xmlns:a="http://schemas.openxmlformats.org/drawingml/2006/main" flipH="1">
            <a:off x="9717881" y="3867150"/>
            <a:ext cx="264319" cy="77152"/>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65" name="Callout 11">
            <a:extLst xmlns:a="http://schemas.openxmlformats.org/drawingml/2006/main">
              <a:ext uri="{FF2B5EF4-FFF2-40B4-BE49-F238E27FC236}">
                <a16:creationId xmlns:a16="http://schemas.microsoft.com/office/drawing/2014/main" id="{D8DC3CB4-34A1-4B04-90C9-B20485A76D99}"/>
              </a:ext>
            </a:extLst>
          </p:cNvPr>
          <p:cNvSpPr>
            <a:spLocks xmlns:a="http://schemas.openxmlformats.org/drawingml/2006/main" noGrp="1"/>
          </p:cNvSpPr>
          <p:nvPr/>
        </p:nvSpPr>
        <p:spPr>
          <a:xfrm xmlns:a="http://schemas.openxmlformats.org/drawingml/2006/main">
            <a:off x="9982200" y="4371975"/>
            <a:ext cx="1924050" cy="781050"/>
          </a:xfrm>
          <a:prstGeom xmlns:a="http://schemas.openxmlformats.org/drawingml/2006/main" prst="roundRect">
            <a:avLst>
              <a:gd name="adj" fmla="val 9756"/>
            </a:avLst>
          </a:prstGeom>
          <a:solidFill xmlns:a="http://schemas.openxmlformats.org/drawingml/2006/main">
            <a:srgbClr val="F0F5EE"/>
          </a:solidFill>
          <a:ln xmlns:a="http://schemas.openxmlformats.org/drawingml/2006/main" w="7620">
            <a:solidFill>
              <a:srgbClr val="C9D9CF"/>
            </a:solidFill>
            <a:prstDash val="solid"/>
          </a:ln>
        </p:spPr>
      </p:sp>
      <p:sp>
        <p:nvSpPr>
          <p:cNvPr id="66" name="Number 11">
            <a:extLst xmlns:a="http://schemas.openxmlformats.org/drawingml/2006/main">
              <a:ext uri="{FF2B5EF4-FFF2-40B4-BE49-F238E27FC236}">
                <a16:creationId xmlns:a16="http://schemas.microsoft.com/office/drawing/2014/main" id="{8CD9EA24-CBC4-4092-9094-010E65AC2E35}"/>
              </a:ext>
            </a:extLst>
          </p:cNvPr>
          <p:cNvSpPr>
            <a:spLocks xmlns:a="http://schemas.openxmlformats.org/drawingml/2006/main" noGrp="1"/>
          </p:cNvSpPr>
          <p:nvPr/>
        </p:nvSpPr>
        <p:spPr>
          <a:xfrm xmlns:a="http://schemas.openxmlformats.org/drawingml/2006/main">
            <a:off x="10058400" y="4448175"/>
            <a:ext cx="238125" cy="238125"/>
          </a:xfrm>
          <a:prstGeom xmlns:a="http://schemas.openxmlformats.org/drawingml/2006/main" prst="ellipse">
            <a:avLst/>
          </a:prstGeom>
          <a:solidFill xmlns:a="http://schemas.openxmlformats.org/drawingml/2006/main">
            <a:srgbClr val="A86B13"/>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11</a:t>
            </a:r>
          </a:p>
        </p:txBody>
      </p:sp>
      <p:sp>
        <p:nvSpPr>
          <p:cNvPr id="67" name="Callout 11 title">
            <a:extLst xmlns:a="http://schemas.openxmlformats.org/drawingml/2006/main">
              <a:ext uri="{FF2B5EF4-FFF2-40B4-BE49-F238E27FC236}">
                <a16:creationId xmlns:a16="http://schemas.microsoft.com/office/drawing/2014/main" id="{6C76B2A1-3DA5-4038-B223-E7AB6396C68E}"/>
              </a:ext>
            </a:extLst>
          </p:cNvPr>
          <p:cNvSpPr>
            <a:spLocks xmlns:a="http://schemas.openxmlformats.org/drawingml/2006/main" noGrp="1"/>
          </p:cNvSpPr>
          <p:nvPr/>
        </p:nvSpPr>
        <p:spPr>
          <a:xfrm xmlns:a="http://schemas.openxmlformats.org/drawingml/2006/main">
            <a:off x="10363200" y="444817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Scenario flag</a:t>
            </a:r>
          </a:p>
        </p:txBody>
      </p:sp>
      <p:sp>
        <p:nvSpPr>
          <p:cNvPr id="68" name="Callout 11 explanation">
            <a:extLst xmlns:a="http://schemas.openxmlformats.org/drawingml/2006/main">
              <a:ext uri="{FF2B5EF4-FFF2-40B4-BE49-F238E27FC236}">
                <a16:creationId xmlns:a16="http://schemas.microsoft.com/office/drawing/2014/main" id="{3DAB06DF-1C8F-444D-81A7-28604B8BFA20}"/>
              </a:ext>
            </a:extLst>
          </p:cNvPr>
          <p:cNvSpPr>
            <a:spLocks xmlns:a="http://schemas.openxmlformats.org/drawingml/2006/main" noGrp="1"/>
          </p:cNvSpPr>
          <p:nvPr/>
        </p:nvSpPr>
        <p:spPr>
          <a:xfrm xmlns:a="http://schemas.openxmlformats.org/drawingml/2006/main">
            <a:off x="10077450" y="4705350"/>
            <a:ext cx="1733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Example warning</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at the middle step</a:t>
            </a:r>
          </a:p>
        </p:txBody>
      </p:sp>
      <p:sp>
        <p:nvSpPr>
          <p:cNvPr id="69" name="Interface target 11">
            <a:extLst xmlns:a="http://schemas.openxmlformats.org/drawingml/2006/main">
              <a:ext uri="{FF2B5EF4-FFF2-40B4-BE49-F238E27FC236}">
                <a16:creationId xmlns:a16="http://schemas.microsoft.com/office/drawing/2014/main" id="{AD6DE6D0-2825-49C0-9944-C052071C40A8}"/>
              </a:ext>
            </a:extLst>
          </p:cNvPr>
          <p:cNvSpPr>
            <a:spLocks xmlns:a="http://schemas.openxmlformats.org/drawingml/2006/main" noGrp="1"/>
          </p:cNvSpPr>
          <p:nvPr/>
        </p:nvSpPr>
        <p:spPr>
          <a:xfrm xmlns:a="http://schemas.openxmlformats.org/drawingml/2006/main">
            <a:off x="8324850" y="4682609"/>
            <a:ext cx="1393031" cy="520065"/>
          </a:xfrm>
          <a:prstGeom xmlns:a="http://schemas.openxmlformats.org/drawingml/2006/main" prst="roundRect">
            <a:avLst>
              <a:gd name="adj" fmla="val 14652"/>
            </a:avLst>
          </a:prstGeom>
          <a:noFill xmlns:a="http://schemas.openxmlformats.org/drawingml/2006/main"/>
          <a:ln xmlns:a="http://schemas.openxmlformats.org/drawingml/2006/main" w="15240">
            <a:solidFill>
              <a:srgbClr val="A86B13"/>
            </a:solidFill>
            <a:prstDash val="solid"/>
          </a:ln>
        </p:spPr>
      </p:sp>
      <p:cxnSp>
        <p:nvCxnSpPr>
          <p:cNvPr id="165" name=""/>
          <p:cNvCxnSpPr>
            <a:stCxn xmlns:a="http://schemas.openxmlformats.org/drawingml/2006/main" id="65" idx="1"/>
            <a:endCxn xmlns:a="http://schemas.openxmlformats.org/drawingml/2006/main" id="69" idx="3"/>
          </p:cNvCxnSpPr>
          <p:nvPr/>
        </p:nvCxnSpPr>
        <p:spPr>
          <a:xfrm xmlns:a="http://schemas.openxmlformats.org/drawingml/2006/main" flipH="1">
            <a:off x="9717881" y="4762500"/>
            <a:ext cx="264319" cy="180142"/>
          </a:xfrm>
          <a:prstGeom xmlns:a="http://schemas.openxmlformats.org/drawingml/2006/main" prst="straightConnector1">
            <a:avLst/>
          </a:prstGeom>
          <a:ln xmlns:a="http://schemas.openxmlformats.org/drawingml/2006/main" w="16193">
            <a:solidFill>
              <a:srgbClr val="A86B13"/>
            </a:solidFill>
            <a:prstDash val="solid"/>
            <a:tailEnd type="triangle" w="sm" len="sm"/>
          </a:ln>
        </p:spPr>
      </p:cxnSp>
      <p:sp>
        <p:nvSpPr>
          <p:cNvPr id="71" name="Callout 12">
            <a:extLst xmlns:a="http://schemas.openxmlformats.org/drawingml/2006/main">
              <a:ext uri="{FF2B5EF4-FFF2-40B4-BE49-F238E27FC236}">
                <a16:creationId xmlns:a16="http://schemas.microsoft.com/office/drawing/2014/main" id="{D8A26491-017D-4058-A3F1-A968ED300BA9}"/>
              </a:ext>
            </a:extLst>
          </p:cNvPr>
          <p:cNvSpPr>
            <a:spLocks xmlns:a="http://schemas.openxmlformats.org/drawingml/2006/main" noGrp="1"/>
          </p:cNvSpPr>
          <p:nvPr/>
        </p:nvSpPr>
        <p:spPr>
          <a:xfrm xmlns:a="http://schemas.openxmlformats.org/drawingml/2006/main">
            <a:off x="9982200" y="5267325"/>
            <a:ext cx="1924050" cy="619125"/>
          </a:xfrm>
          <a:prstGeom xmlns:a="http://schemas.openxmlformats.org/drawingml/2006/main" prst="roundRect">
            <a:avLst>
              <a:gd name="adj" fmla="val 12308"/>
            </a:avLst>
          </a:prstGeom>
          <a:solidFill xmlns:a="http://schemas.openxmlformats.org/drawingml/2006/main">
            <a:srgbClr val="F0F5EE"/>
          </a:solidFill>
          <a:ln xmlns:a="http://schemas.openxmlformats.org/drawingml/2006/main" w="7620">
            <a:solidFill>
              <a:srgbClr val="C9D9CF"/>
            </a:solidFill>
            <a:prstDash val="solid"/>
          </a:ln>
        </p:spPr>
      </p:sp>
      <p:sp>
        <p:nvSpPr>
          <p:cNvPr id="72" name="Number 12">
            <a:extLst xmlns:a="http://schemas.openxmlformats.org/drawingml/2006/main">
              <a:ext uri="{FF2B5EF4-FFF2-40B4-BE49-F238E27FC236}">
                <a16:creationId xmlns:a16="http://schemas.microsoft.com/office/drawing/2014/main" id="{2533F7DB-CBB4-403D-8BC8-C7956B99DE03}"/>
              </a:ext>
            </a:extLst>
          </p:cNvPr>
          <p:cNvSpPr>
            <a:spLocks xmlns:a="http://schemas.openxmlformats.org/drawingml/2006/main" noGrp="1"/>
          </p:cNvSpPr>
          <p:nvPr/>
        </p:nvSpPr>
        <p:spPr>
          <a:xfrm xmlns:a="http://schemas.openxmlformats.org/drawingml/2006/main">
            <a:off x="10058400" y="5343525"/>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12</a:t>
            </a:r>
          </a:p>
        </p:txBody>
      </p:sp>
      <p:sp>
        <p:nvSpPr>
          <p:cNvPr id="73" name="Callout 12 title">
            <a:extLst xmlns:a="http://schemas.openxmlformats.org/drawingml/2006/main">
              <a:ext uri="{FF2B5EF4-FFF2-40B4-BE49-F238E27FC236}">
                <a16:creationId xmlns:a16="http://schemas.microsoft.com/office/drawing/2014/main" id="{705173E1-C4F8-4046-96ED-0D1BAA1A91A4}"/>
              </a:ext>
            </a:extLst>
          </p:cNvPr>
          <p:cNvSpPr>
            <a:spLocks xmlns:a="http://schemas.openxmlformats.org/drawingml/2006/main" noGrp="1"/>
          </p:cNvSpPr>
          <p:nvPr/>
        </p:nvSpPr>
        <p:spPr>
          <a:xfrm xmlns:a="http://schemas.openxmlformats.org/drawingml/2006/main">
            <a:off x="10363200" y="5343525"/>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Mean T and RH</a:t>
            </a:r>
          </a:p>
        </p:txBody>
      </p:sp>
      <p:sp>
        <p:nvSpPr>
          <p:cNvPr id="74" name="Callout 12 explanation">
            <a:extLst xmlns:a="http://schemas.openxmlformats.org/drawingml/2006/main">
              <a:ext uri="{FF2B5EF4-FFF2-40B4-BE49-F238E27FC236}">
                <a16:creationId xmlns:a16="http://schemas.microsoft.com/office/drawing/2014/main" id="{B1BAEBE6-6D11-4EE3-905B-1EB6145AE9EB}"/>
              </a:ext>
            </a:extLst>
          </p:cNvPr>
          <p:cNvSpPr>
            <a:spLocks xmlns:a="http://schemas.openxmlformats.org/drawingml/2006/main" noGrp="1"/>
          </p:cNvSpPr>
          <p:nvPr/>
        </p:nvSpPr>
        <p:spPr>
          <a:xfrm xmlns:a="http://schemas.openxmlformats.org/drawingml/2006/main">
            <a:off x="10077450" y="5600700"/>
            <a:ext cx="1733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Average of 18 points</a:t>
            </a:r>
          </a:p>
        </p:txBody>
      </p:sp>
      <p:sp>
        <p:nvSpPr>
          <p:cNvPr id="75" name="Interface target 12">
            <a:extLst xmlns:a="http://schemas.openxmlformats.org/drawingml/2006/main">
              <a:ext uri="{FF2B5EF4-FFF2-40B4-BE49-F238E27FC236}">
                <a16:creationId xmlns:a16="http://schemas.microsoft.com/office/drawing/2014/main" id="{BA5B4C18-3FE6-48F4-A9E9-5B7CA26A291F}"/>
              </a:ext>
            </a:extLst>
          </p:cNvPr>
          <p:cNvSpPr>
            <a:spLocks xmlns:a="http://schemas.openxmlformats.org/drawingml/2006/main" noGrp="1"/>
          </p:cNvSpPr>
          <p:nvPr/>
        </p:nvSpPr>
        <p:spPr>
          <a:xfrm xmlns:a="http://schemas.openxmlformats.org/drawingml/2006/main">
            <a:off x="8324850" y="5360551"/>
            <a:ext cx="1393031" cy="213598"/>
          </a:xfrm>
          <a:prstGeom xmlns:a="http://schemas.openxmlformats.org/drawingml/2006/main" prst="roundRect">
            <a:avLst>
              <a:gd name="adj" fmla="val 35674"/>
            </a:avLst>
          </a:prstGeom>
          <a:noFill xmlns:a="http://schemas.openxmlformats.org/drawingml/2006/main"/>
          <a:ln xmlns:a="http://schemas.openxmlformats.org/drawingml/2006/main" w="15240">
            <a:solidFill>
              <a:srgbClr val="167A55"/>
            </a:solidFill>
            <a:prstDash val="solid"/>
          </a:ln>
        </p:spPr>
      </p:sp>
      <p:cxnSp>
        <p:nvCxnSpPr>
          <p:cNvPr id="171" name=""/>
          <p:cNvCxnSpPr>
            <a:stCxn xmlns:a="http://schemas.openxmlformats.org/drawingml/2006/main" id="71" idx="1"/>
            <a:endCxn xmlns:a="http://schemas.openxmlformats.org/drawingml/2006/main" id="75" idx="3"/>
          </p:cNvCxnSpPr>
          <p:nvPr/>
        </p:nvCxnSpPr>
        <p:spPr>
          <a:xfrm xmlns:a="http://schemas.openxmlformats.org/drawingml/2006/main" flipH="1" flipV="1">
            <a:off x="9717881" y="5467350"/>
            <a:ext cx="264319" cy="109538"/>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77" name="Callout 13">
            <a:extLst xmlns:a="http://schemas.openxmlformats.org/drawingml/2006/main">
              <a:ext uri="{FF2B5EF4-FFF2-40B4-BE49-F238E27FC236}">
                <a16:creationId xmlns:a16="http://schemas.microsoft.com/office/drawing/2014/main" id="{032721C3-034C-41D7-A627-73F5CA7E3B74}"/>
              </a:ext>
            </a:extLst>
          </p:cNvPr>
          <p:cNvSpPr>
            <a:spLocks xmlns:a="http://schemas.openxmlformats.org/drawingml/2006/main" noGrp="1"/>
          </p:cNvSpPr>
          <p:nvPr/>
        </p:nvSpPr>
        <p:spPr>
          <a:xfrm xmlns:a="http://schemas.openxmlformats.org/drawingml/2006/main">
            <a:off x="9982200" y="6019800"/>
            <a:ext cx="1924050" cy="619125"/>
          </a:xfrm>
          <a:prstGeom xmlns:a="http://schemas.openxmlformats.org/drawingml/2006/main" prst="roundRect">
            <a:avLst>
              <a:gd name="adj" fmla="val 12308"/>
            </a:avLst>
          </a:prstGeom>
          <a:solidFill xmlns:a="http://schemas.openxmlformats.org/drawingml/2006/main">
            <a:srgbClr val="F0F5EE"/>
          </a:solidFill>
          <a:ln xmlns:a="http://schemas.openxmlformats.org/drawingml/2006/main" w="7620">
            <a:solidFill>
              <a:srgbClr val="C9D9CF"/>
            </a:solidFill>
            <a:prstDash val="solid"/>
          </a:ln>
        </p:spPr>
      </p:sp>
      <p:sp>
        <p:nvSpPr>
          <p:cNvPr id="78" name="Number 13">
            <a:extLst xmlns:a="http://schemas.openxmlformats.org/drawingml/2006/main">
              <a:ext uri="{FF2B5EF4-FFF2-40B4-BE49-F238E27FC236}">
                <a16:creationId xmlns:a16="http://schemas.microsoft.com/office/drawing/2014/main" id="{CB619B9E-F5EF-4166-AD22-CCBF90D96E0F}"/>
              </a:ext>
            </a:extLst>
          </p:cNvPr>
          <p:cNvSpPr>
            <a:spLocks xmlns:a="http://schemas.openxmlformats.org/drawingml/2006/main" noGrp="1"/>
          </p:cNvSpPr>
          <p:nvPr/>
        </p:nvSpPr>
        <p:spPr>
          <a:xfrm xmlns:a="http://schemas.openxmlformats.org/drawingml/2006/main">
            <a:off x="10058400" y="6096000"/>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13</a:t>
            </a:r>
          </a:p>
        </p:txBody>
      </p:sp>
      <p:sp>
        <p:nvSpPr>
          <p:cNvPr id="79" name="Callout 13 title">
            <a:extLst xmlns:a="http://schemas.openxmlformats.org/drawingml/2006/main">
              <a:ext uri="{FF2B5EF4-FFF2-40B4-BE49-F238E27FC236}">
                <a16:creationId xmlns:a16="http://schemas.microsoft.com/office/drawing/2014/main" id="{7759FDF4-CEB1-4B82-8490-0AB3452F8AE2}"/>
              </a:ext>
            </a:extLst>
          </p:cNvPr>
          <p:cNvSpPr>
            <a:spLocks xmlns:a="http://schemas.openxmlformats.org/drawingml/2006/main" noGrp="1"/>
          </p:cNvSpPr>
          <p:nvPr/>
        </p:nvSpPr>
        <p:spPr>
          <a:xfrm xmlns:a="http://schemas.openxmlformats.org/drawingml/2006/main">
            <a:off x="10363200" y="6096000"/>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Review notice</a:t>
            </a:r>
          </a:p>
        </p:txBody>
      </p:sp>
      <p:sp>
        <p:nvSpPr>
          <p:cNvPr id="80" name="Callout 13 explanation">
            <a:extLst xmlns:a="http://schemas.openxmlformats.org/drawingml/2006/main">
              <a:ext uri="{FF2B5EF4-FFF2-40B4-BE49-F238E27FC236}">
                <a16:creationId xmlns:a16="http://schemas.microsoft.com/office/drawing/2014/main" id="{479A5094-4351-43A8-A485-5458748C50E9}"/>
              </a:ext>
            </a:extLst>
          </p:cNvPr>
          <p:cNvSpPr>
            <a:spLocks xmlns:a="http://schemas.openxmlformats.org/drawingml/2006/main" noGrp="1"/>
          </p:cNvSpPr>
          <p:nvPr/>
        </p:nvSpPr>
        <p:spPr>
          <a:xfrm xmlns:a="http://schemas.openxmlformats.org/drawingml/2006/main">
            <a:off x="10077450" y="6353175"/>
            <a:ext cx="1733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Review before use</a:t>
            </a:r>
          </a:p>
        </p:txBody>
      </p:sp>
      <p:sp>
        <p:nvSpPr>
          <p:cNvPr id="81" name="Interface target 13">
            <a:extLst xmlns:a="http://schemas.openxmlformats.org/drawingml/2006/main">
              <a:ext uri="{FF2B5EF4-FFF2-40B4-BE49-F238E27FC236}">
                <a16:creationId xmlns:a16="http://schemas.microsoft.com/office/drawing/2014/main" id="{9E141C86-2754-4A5B-B0A6-6F79CFE368CC}"/>
              </a:ext>
            </a:extLst>
          </p:cNvPr>
          <p:cNvSpPr>
            <a:spLocks xmlns:a="http://schemas.openxmlformats.org/drawingml/2006/main" noGrp="1"/>
          </p:cNvSpPr>
          <p:nvPr/>
        </p:nvSpPr>
        <p:spPr>
          <a:xfrm xmlns:a="http://schemas.openxmlformats.org/drawingml/2006/main">
            <a:off x="8324850" y="5657731"/>
            <a:ext cx="1393031" cy="250746"/>
          </a:xfrm>
          <a:prstGeom xmlns:a="http://schemas.openxmlformats.org/drawingml/2006/main" prst="roundRect">
            <a:avLst>
              <a:gd name="adj" fmla="val 30389"/>
            </a:avLst>
          </a:prstGeom>
          <a:noFill xmlns:a="http://schemas.openxmlformats.org/drawingml/2006/main"/>
          <a:ln xmlns:a="http://schemas.openxmlformats.org/drawingml/2006/main" w="15240">
            <a:solidFill>
              <a:srgbClr val="167A55"/>
            </a:solidFill>
            <a:prstDash val="solid"/>
          </a:ln>
        </p:spPr>
      </p:sp>
      <p:cxnSp>
        <p:nvCxnSpPr>
          <p:cNvPr id="177" name=""/>
          <p:cNvCxnSpPr>
            <a:stCxn xmlns:a="http://schemas.openxmlformats.org/drawingml/2006/main" id="77" idx="1"/>
            <a:endCxn xmlns:a="http://schemas.openxmlformats.org/drawingml/2006/main" id="81" idx="3"/>
          </p:cNvCxnSpPr>
          <p:nvPr/>
        </p:nvCxnSpPr>
        <p:spPr>
          <a:xfrm xmlns:a="http://schemas.openxmlformats.org/drawingml/2006/main" flipH="1" flipV="1">
            <a:off x="9717881" y="5783104"/>
            <a:ext cx="264319" cy="546259"/>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83" name="Callout 14">
            <a:extLst xmlns:a="http://schemas.openxmlformats.org/drawingml/2006/main">
              <a:ext uri="{FF2B5EF4-FFF2-40B4-BE49-F238E27FC236}">
                <a16:creationId xmlns:a16="http://schemas.microsoft.com/office/drawing/2014/main" id="{FBF639B5-F1DB-4A76-A650-727BF03A7E89}"/>
              </a:ext>
            </a:extLst>
          </p:cNvPr>
          <p:cNvSpPr>
            <a:spLocks xmlns:a="http://schemas.openxmlformats.org/drawingml/2006/main" noGrp="1"/>
          </p:cNvSpPr>
          <p:nvPr/>
        </p:nvSpPr>
        <p:spPr>
          <a:xfrm xmlns:a="http://schemas.openxmlformats.org/drawingml/2006/main">
            <a:off x="2381250" y="6096000"/>
            <a:ext cx="7429500" cy="542925"/>
          </a:xfrm>
          <a:prstGeom xmlns:a="http://schemas.openxmlformats.org/drawingml/2006/main" prst="roundRect">
            <a:avLst>
              <a:gd name="adj" fmla="val 14035"/>
            </a:avLst>
          </a:prstGeom>
          <a:solidFill xmlns:a="http://schemas.openxmlformats.org/drawingml/2006/main">
            <a:srgbClr val="F0F5EE"/>
          </a:solidFill>
          <a:ln xmlns:a="http://schemas.openxmlformats.org/drawingml/2006/main" w="7620">
            <a:solidFill>
              <a:srgbClr val="C9D9CF"/>
            </a:solidFill>
            <a:prstDash val="solid"/>
          </a:ln>
        </p:spPr>
      </p:sp>
      <p:sp>
        <p:nvSpPr>
          <p:cNvPr id="84" name="Number 14">
            <a:extLst xmlns:a="http://schemas.openxmlformats.org/drawingml/2006/main">
              <a:ext uri="{FF2B5EF4-FFF2-40B4-BE49-F238E27FC236}">
                <a16:creationId xmlns:a16="http://schemas.microsoft.com/office/drawing/2014/main" id="{D1FA0C06-79D4-4899-B41C-88DC6FCC46EE}"/>
              </a:ext>
            </a:extLst>
          </p:cNvPr>
          <p:cNvSpPr>
            <a:spLocks xmlns:a="http://schemas.openxmlformats.org/drawingml/2006/main" noGrp="1"/>
          </p:cNvSpPr>
          <p:nvPr/>
        </p:nvSpPr>
        <p:spPr>
          <a:xfrm xmlns:a="http://schemas.openxmlformats.org/drawingml/2006/main">
            <a:off x="2457450" y="6172200"/>
            <a:ext cx="238125" cy="238125"/>
          </a:xfrm>
          <a:prstGeom xmlns:a="http://schemas.openxmlformats.org/drawingml/2006/main" prst="ellipse">
            <a:avLst/>
          </a:prstGeom>
          <a:solidFill xmlns:a="http://schemas.openxmlformats.org/drawingml/2006/main">
            <a:srgbClr val="167A55"/>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14</a:t>
            </a:r>
          </a:p>
        </p:txBody>
      </p:sp>
      <p:sp>
        <p:nvSpPr>
          <p:cNvPr id="85" name="Callout 14 title">
            <a:extLst xmlns:a="http://schemas.openxmlformats.org/drawingml/2006/main">
              <a:ext uri="{FF2B5EF4-FFF2-40B4-BE49-F238E27FC236}">
                <a16:creationId xmlns:a16="http://schemas.microsoft.com/office/drawing/2014/main" id="{C577B0A0-3628-4BC1-B841-CDCB55625EE3}"/>
              </a:ext>
            </a:extLst>
          </p:cNvPr>
          <p:cNvSpPr>
            <a:spLocks xmlns:a="http://schemas.openxmlformats.org/drawingml/2006/main" noGrp="1"/>
          </p:cNvSpPr>
          <p:nvPr/>
        </p:nvSpPr>
        <p:spPr>
          <a:xfrm xmlns:a="http://schemas.openxmlformats.org/drawingml/2006/main">
            <a:off x="2762250" y="6172200"/>
            <a:ext cx="697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Simulation timeline</a:t>
            </a:r>
          </a:p>
        </p:txBody>
      </p:sp>
      <p:sp>
        <p:nvSpPr>
          <p:cNvPr id="86" name="Callout 14 explanation">
            <a:extLst xmlns:a="http://schemas.openxmlformats.org/drawingml/2006/main">
              <a:ext uri="{FF2B5EF4-FFF2-40B4-BE49-F238E27FC236}">
                <a16:creationId xmlns:a16="http://schemas.microsoft.com/office/drawing/2014/main" id="{8131E928-D43C-424A-B8F9-8CB12BAC190C}"/>
              </a:ext>
            </a:extLst>
          </p:cNvPr>
          <p:cNvSpPr>
            <a:spLocks xmlns:a="http://schemas.openxmlformats.org/drawingml/2006/main" noGrp="1"/>
          </p:cNvSpPr>
          <p:nvPr/>
        </p:nvSpPr>
        <p:spPr>
          <a:xfrm xmlns:a="http://schemas.openxmlformats.org/drawingml/2006/main">
            <a:off x="2476500" y="64293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Play / pause; move the slider or click a timestamp card to select a snapshot</a:t>
            </a:r>
          </a:p>
        </p:txBody>
      </p:sp>
      <p:sp>
        <p:nvSpPr>
          <p:cNvPr id="87" name="Interface target 14">
            <a:extLst xmlns:a="http://schemas.openxmlformats.org/drawingml/2006/main">
              <a:ext uri="{FF2B5EF4-FFF2-40B4-BE49-F238E27FC236}">
                <a16:creationId xmlns:a16="http://schemas.microsoft.com/office/drawing/2014/main" id="{6CDD38B3-5832-474B-B883-689039934AF6}"/>
              </a:ext>
            </a:extLst>
          </p:cNvPr>
          <p:cNvSpPr>
            <a:spLocks xmlns:a="http://schemas.openxmlformats.org/drawingml/2006/main" noGrp="1"/>
          </p:cNvSpPr>
          <p:nvPr/>
        </p:nvSpPr>
        <p:spPr>
          <a:xfrm xmlns:a="http://schemas.openxmlformats.org/drawingml/2006/main">
            <a:off x="3820716" y="5360551"/>
            <a:ext cx="4318397" cy="538639"/>
          </a:xfrm>
          <a:prstGeom xmlns:a="http://schemas.openxmlformats.org/drawingml/2006/main" prst="roundRect">
            <a:avLst>
              <a:gd name="adj" fmla="val 14147"/>
            </a:avLst>
          </a:prstGeom>
          <a:noFill xmlns:a="http://schemas.openxmlformats.org/drawingml/2006/main"/>
          <a:ln xmlns:a="http://schemas.openxmlformats.org/drawingml/2006/main" w="15240">
            <a:solidFill>
              <a:srgbClr val="167A55"/>
            </a:solidFill>
            <a:prstDash val="solid"/>
          </a:ln>
        </p:spPr>
      </p:sp>
      <p:cxnSp>
        <p:nvCxnSpPr>
          <p:cNvPr id="183" name=""/>
          <p:cNvCxnSpPr>
            <a:stCxn xmlns:a="http://schemas.openxmlformats.org/drawingml/2006/main" id="83" idx="0"/>
            <a:endCxn xmlns:a="http://schemas.openxmlformats.org/drawingml/2006/main" id="87" idx="2"/>
          </p:cNvCxnSpPr>
          <p:nvPr/>
        </p:nvCxnSpPr>
        <p:spPr>
          <a:xfrm xmlns:a="http://schemas.openxmlformats.org/drawingml/2006/main" flipH="1" flipV="1">
            <a:off x="5979915" y="5899190"/>
            <a:ext cx="116085" cy="196810"/>
          </a:xfrm>
          <a:prstGeom xmlns:a="http://schemas.openxmlformats.org/drawingml/2006/main" prst="straightConnector1">
            <a:avLst/>
          </a:prstGeom>
          <a:ln xmlns:a="http://schemas.openxmlformats.org/drawingml/2006/main" w="16193">
            <a:solidFill>
              <a:srgbClr val="167A55"/>
            </a:solidFill>
            <a:prstDash val="solid"/>
            <a:tailEnd type="triangle" w="sm" len="sm"/>
          </a:ln>
        </p:spPr>
      </p:cxnSp>
      <p:sp>
        <p:nvSpPr>
          <p:cNvPr id="89" name="Callout 15">
            <a:extLst xmlns:a="http://schemas.openxmlformats.org/drawingml/2006/main">
              <a:ext uri="{FF2B5EF4-FFF2-40B4-BE49-F238E27FC236}">
                <a16:creationId xmlns:a16="http://schemas.microsoft.com/office/drawing/2014/main" id="{7A3C8001-C5E0-4B57-85AC-80136EDC1CB7}"/>
              </a:ext>
            </a:extLst>
          </p:cNvPr>
          <p:cNvSpPr>
            <a:spLocks xmlns:a="http://schemas.openxmlformats.org/drawingml/2006/main" noGrp="1"/>
          </p:cNvSpPr>
          <p:nvPr/>
        </p:nvSpPr>
        <p:spPr>
          <a:xfrm xmlns:a="http://schemas.openxmlformats.org/drawingml/2006/main">
            <a:off x="285750" y="5581650"/>
            <a:ext cx="1924050" cy="933450"/>
          </a:xfrm>
          <a:prstGeom xmlns:a="http://schemas.openxmlformats.org/drawingml/2006/main" prst="roundRect">
            <a:avLst>
              <a:gd name="adj" fmla="val 8163"/>
            </a:avLst>
          </a:prstGeom>
          <a:solidFill xmlns:a="http://schemas.openxmlformats.org/drawingml/2006/main">
            <a:srgbClr val="F0F5EE"/>
          </a:solidFill>
          <a:ln xmlns:a="http://schemas.openxmlformats.org/drawingml/2006/main" w="7620">
            <a:solidFill>
              <a:srgbClr val="C9D9CF"/>
            </a:solidFill>
            <a:prstDash val="solid"/>
          </a:ln>
        </p:spPr>
      </p:sp>
      <p:sp>
        <p:nvSpPr>
          <p:cNvPr id="90" name="Number 15">
            <a:extLst xmlns:a="http://schemas.openxmlformats.org/drawingml/2006/main">
              <a:ext uri="{FF2B5EF4-FFF2-40B4-BE49-F238E27FC236}">
                <a16:creationId xmlns:a16="http://schemas.microsoft.com/office/drawing/2014/main" id="{F3A7EA5C-535F-45DA-8D77-7EA8805554EF}"/>
              </a:ext>
            </a:extLst>
          </p:cNvPr>
          <p:cNvSpPr>
            <a:spLocks xmlns:a="http://schemas.openxmlformats.org/drawingml/2006/main" noGrp="1"/>
          </p:cNvSpPr>
          <p:nvPr/>
        </p:nvSpPr>
        <p:spPr>
          <a:xfrm xmlns:a="http://schemas.openxmlformats.org/drawingml/2006/main">
            <a:off x="361950" y="5657850"/>
            <a:ext cx="238125" cy="238125"/>
          </a:xfrm>
          <a:prstGeom xmlns:a="http://schemas.openxmlformats.org/drawingml/2006/main" prst="ellipse">
            <a:avLst/>
          </a:prstGeom>
          <a:solidFill xmlns:a="http://schemas.openxmlformats.org/drawingml/2006/main">
            <a:srgbClr val="A86B13"/>
          </a:solidFill>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200" b="1">
                <a:solidFill>
                  <a:srgbClr val="FFFFFF"/>
                </a:solidFill>
                <a:latin typeface="Arimo"/>
                <a:ea typeface="Arimo"/>
                <a:cs typeface="Arimo"/>
              </a:defRPr>
            </a:pPr>
            <a:r>
              <a:rPr sz="1200" b="1">
                <a:solidFill>
                  <a:srgbClr val="FFFFFF"/>
                </a:solidFill>
                <a:latin typeface="Arimo"/>
                <a:ea typeface="Arimo"/>
                <a:cs typeface="Arimo"/>
              </a:rPr>
              <a:t>15</a:t>
            </a:r>
          </a:p>
        </p:txBody>
      </p:sp>
      <p:sp>
        <p:nvSpPr>
          <p:cNvPr id="91" name="Callout 15 title">
            <a:extLst xmlns:a="http://schemas.openxmlformats.org/drawingml/2006/main">
              <a:ext uri="{FF2B5EF4-FFF2-40B4-BE49-F238E27FC236}">
                <a16:creationId xmlns:a16="http://schemas.microsoft.com/office/drawing/2014/main" id="{C2F365CC-3D13-4790-AFEF-16ABDD3C49B9}"/>
              </a:ext>
            </a:extLst>
          </p:cNvPr>
          <p:cNvSpPr>
            <a:spLocks xmlns:a="http://schemas.openxmlformats.org/drawingml/2006/main" noGrp="1"/>
          </p:cNvSpPr>
          <p:nvPr/>
        </p:nvSpPr>
        <p:spPr>
          <a:xfrm xmlns:a="http://schemas.openxmlformats.org/drawingml/2006/main">
            <a:off x="666750" y="5657850"/>
            <a:ext cx="1466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388" b="1">
                <a:solidFill>
                  <a:srgbClr val="10251D"/>
                </a:solidFill>
                <a:latin typeface="Arimo"/>
                <a:ea typeface="Arimo"/>
                <a:cs typeface="Arimo"/>
              </a:defRPr>
            </a:pPr>
            <a:r>
              <a:rPr sz="1388" b="1">
                <a:solidFill>
                  <a:srgbClr val="10251D"/>
                </a:solidFill>
                <a:latin typeface="Arimo"/>
                <a:ea typeface="Arimo"/>
                <a:cs typeface="Arimo"/>
              </a:rPr>
              <a:t>Prototype status</a:t>
            </a:r>
          </a:p>
        </p:txBody>
      </p:sp>
      <p:sp>
        <p:nvSpPr>
          <p:cNvPr id="92" name="Callout 15 explanation">
            <a:extLst xmlns:a="http://schemas.openxmlformats.org/drawingml/2006/main">
              <a:ext uri="{FF2B5EF4-FFF2-40B4-BE49-F238E27FC236}">
                <a16:creationId xmlns:a16="http://schemas.microsoft.com/office/drawing/2014/main" id="{0FA19E45-AD0F-4229-9E46-16D724CC28D6}"/>
              </a:ext>
            </a:extLst>
          </p:cNvPr>
          <p:cNvSpPr>
            <a:spLocks xmlns:a="http://schemas.openxmlformats.org/drawingml/2006/main" noGrp="1"/>
          </p:cNvSpPr>
          <p:nvPr/>
        </p:nvSpPr>
        <p:spPr>
          <a:xfrm xmlns:a="http://schemas.openxmlformats.org/drawingml/2006/main">
            <a:off x="381000" y="5915025"/>
            <a:ext cx="1733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Illustrative values;</a:t>
            </a:r>
          </a:p>
          <a:p xmlns:a="http://schemas.openxmlformats.org/drawingml/2006/main">
            <a:pPr algn="l">
              <a:lnSpc>
                <a:spcPct val="103000"/>
              </a:lnSpc>
              <a:buNone/>
              <a:defRPr sz="1275" b="0">
                <a:solidFill>
                  <a:srgbClr val="4E655A"/>
                </a:solidFill>
                <a:latin typeface="Arimo"/>
                <a:ea typeface="Arimo"/>
                <a:cs typeface="Arimo"/>
              </a:defRPr>
            </a:pPr>
            <a:r>
              <a:rPr sz="1275" b="0">
                <a:solidFill>
                  <a:srgbClr val="4E655A"/>
                </a:solidFill>
                <a:latin typeface="Arimo"/>
                <a:ea typeface="Arimo"/>
                <a:cs typeface="Arimo"/>
              </a:rPr>
              <a:t>64 inputs, 36 channels</a:t>
            </a:r>
          </a:p>
        </p:txBody>
      </p:sp>
      <p:sp>
        <p:nvSpPr>
          <p:cNvPr id="93" name="Interface target 15">
            <a:extLst xmlns:a="http://schemas.openxmlformats.org/drawingml/2006/main">
              <a:ext uri="{FF2B5EF4-FFF2-40B4-BE49-F238E27FC236}">
                <a16:creationId xmlns:a16="http://schemas.microsoft.com/office/drawing/2014/main" id="{7CA8ADBA-ECC5-4584-88A5-38D7F3C54556}"/>
              </a:ext>
            </a:extLst>
          </p:cNvPr>
          <p:cNvSpPr>
            <a:spLocks xmlns:a="http://schemas.openxmlformats.org/drawingml/2006/main" noGrp="1"/>
          </p:cNvSpPr>
          <p:nvPr/>
        </p:nvSpPr>
        <p:spPr>
          <a:xfrm xmlns:a="http://schemas.openxmlformats.org/drawingml/2006/main">
            <a:off x="5144095" y="5745956"/>
            <a:ext cx="1908453" cy="167164"/>
          </a:xfrm>
          <a:prstGeom xmlns:a="http://schemas.openxmlformats.org/drawingml/2006/main" prst="roundRect">
            <a:avLst>
              <a:gd name="adj" fmla="val 45584"/>
            </a:avLst>
          </a:prstGeom>
          <a:noFill xmlns:a="http://schemas.openxmlformats.org/drawingml/2006/main"/>
          <a:ln xmlns:a="http://schemas.openxmlformats.org/drawingml/2006/main" w="15240">
            <a:solidFill>
              <a:srgbClr val="A86B13"/>
            </a:solidFill>
            <a:prstDash val="solid"/>
          </a:ln>
        </p:spPr>
      </p:sp>
      <p:cxnSp>
        <p:nvCxnSpPr>
          <p:cNvPr id="189" name=""/>
          <p:cNvCxnSpPr>
            <a:stCxn xmlns:a="http://schemas.openxmlformats.org/drawingml/2006/main" id="89" idx="3"/>
            <a:endCxn xmlns:a="http://schemas.openxmlformats.org/drawingml/2006/main" id="93" idx="1"/>
          </p:cNvCxnSpPr>
          <p:nvPr/>
        </p:nvCxnSpPr>
        <p:spPr>
          <a:xfrm xmlns:a="http://schemas.openxmlformats.org/drawingml/2006/main" flipV="1">
            <a:off x="2209800" y="5829538"/>
            <a:ext cx="2934295" cy="218837"/>
          </a:xfrm>
          <a:prstGeom xmlns:a="http://schemas.openxmlformats.org/drawingml/2006/main" prst="straightConnector1">
            <a:avLst/>
          </a:prstGeom>
          <a:ln xmlns:a="http://schemas.openxmlformats.org/drawingml/2006/main" w="16193">
            <a:solidFill>
              <a:srgbClr val="A86B13"/>
            </a:solidFill>
            <a:prstDash val="solid"/>
            <a:tailEnd type="triangle" w="sm" len="sm"/>
          </a:ln>
        </p:spPr>
      </p:cxnSp>
      <p:sp>
        <p:nvSpPr>
          <p:cNvPr id="95" name="Slide number">
            <a:extLst xmlns:a="http://schemas.openxmlformats.org/drawingml/2006/main">
              <a:ext uri="{FF2B5EF4-FFF2-40B4-BE49-F238E27FC236}">
                <a16:creationId xmlns:a16="http://schemas.microsoft.com/office/drawing/2014/main" id="{874BC7EB-1646-4A72-8E9E-63DCE4D40239}"/>
              </a:ext>
            </a:extLst>
          </p:cNvPr>
          <p:cNvSpPr>
            <a:spLocks xmlns:a="http://schemas.openxmlformats.org/drawingml/2006/main" noGrp="1"/>
          </p:cNvSpPr>
          <p:nvPr/>
        </p:nvSpPr>
        <p:spPr>
          <a:xfrm xmlns:a="http://schemas.openxmlformats.org/drawingml/2006/main">
            <a:off x="11620500" y="6686550"/>
            <a:ext cx="29527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3000"/>
              </a:lnSpc>
              <a:buNone/>
              <a:defRPr sz="900" b="1">
                <a:solidFill>
                  <a:srgbClr val="4E655A"/>
                </a:solidFill>
                <a:latin typeface="Arimo"/>
                <a:ea typeface="Arimo"/>
                <a:cs typeface="Arimo"/>
              </a:defRPr>
            </a:pPr>
            <a:r>
              <a:rPr sz="900" b="1">
                <a:solidFill>
                  <a:srgbClr val="4E655A"/>
                </a:solidFill>
                <a:latin typeface="Arimo"/>
                <a:ea typeface="Arimo"/>
                <a:cs typeface="Arimo"/>
              </a:rPr>
              <a:t>08</a:t>
            </a:r>
          </a:p>
        </p:txBody>
      </p:sp>
    </p:spTree>
    <p:extLst>
      <p:ext uri="{BB962C8B-B14F-4D97-AF65-F5344CB8AC3E}">
        <p14:creationId xmlns:p14="http://schemas.microsoft.com/office/powerpoint/2010/main" val="2032315257"/>
      </p:ext>
    </p:extLst>
  </p:cSld>
</p:sld>
</file>

<file path=ppt/slides/slide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BC40382-0ECF-47ED-A82C-C4CB60C36E6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5E4FBF3-A387-404F-B0F0-719715CD0D53}"/>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Human approval and operational boundaries</a:t>
            </a:r>
          </a:p>
        </p:txBody>
      </p:sp>
      <p:sp>
        <p:nvSpPr>
          <p:cNvPr id="3" name="">
            <a:extLst xmlns:a="http://schemas.openxmlformats.org/drawingml/2006/main">
              <a:ext uri="{FF2B5EF4-FFF2-40B4-BE49-F238E27FC236}">
                <a16:creationId xmlns:a16="http://schemas.microsoft.com/office/drawing/2014/main" id="{C13EAB57-28BD-4C9C-8A2D-85BB6A860D6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first phase remains offline and advisory</a:t>
            </a:r>
          </a:p>
        </p:txBody>
      </p:sp>
      <p:sp>
        <p:nvSpPr>
          <p:cNvPr id="4" name="">
            <a:extLst xmlns:a="http://schemas.openxmlformats.org/drawingml/2006/main">
              <a:ext uri="{FF2B5EF4-FFF2-40B4-BE49-F238E27FC236}">
                <a16:creationId xmlns:a16="http://schemas.microsoft.com/office/drawing/2014/main" id="{C0D7CE90-8FB9-4243-A9F8-F7875A97F951}"/>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0F6043EB-3644-4A81-A867-8DDD00A37B7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09</a:t>
            </a:r>
          </a:p>
        </p:txBody>
      </p:sp>
      <p:sp>
        <p:nvSpPr>
          <p:cNvPr id="6" name="">
            <a:extLst xmlns:a="http://schemas.openxmlformats.org/drawingml/2006/main">
              <a:ext uri="{FF2B5EF4-FFF2-40B4-BE49-F238E27FC236}">
                <a16:creationId xmlns:a16="http://schemas.microsoft.com/office/drawing/2014/main" id="{22A1BD30-4519-4E53-AEA3-BEBB42C5177C}"/>
              </a:ext>
            </a:extLst>
          </p:cNvPr>
          <p:cNvSpPr>
            <a:spLocks xmlns:a="http://schemas.openxmlformats.org/drawingml/2006/main" noGrp="1"/>
          </p:cNvSpPr>
          <p:nvPr/>
        </p:nvSpPr>
        <p:spPr>
          <a:xfrm xmlns:a="http://schemas.openxmlformats.org/drawingml/2006/main">
            <a:off x="704850" y="1924050"/>
            <a:ext cx="2952750" cy="647700"/>
          </a:xfrm>
          <a:prstGeom xmlns:a="http://schemas.openxmlformats.org/drawingml/2006/main" prst="roundRect">
            <a:avLst>
              <a:gd name="adj" fmla="val 2352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4906"/>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Research environment</a:t>
            </a:r>
          </a:p>
        </p:txBody>
      </p:sp>
      <p:sp>
        <p:nvSpPr>
          <p:cNvPr id="7" name="">
            <a:extLst xmlns:a="http://schemas.openxmlformats.org/drawingml/2006/main">
              <a:ext uri="{FF2B5EF4-FFF2-40B4-BE49-F238E27FC236}">
                <a16:creationId xmlns:a16="http://schemas.microsoft.com/office/drawing/2014/main" id="{29845777-F94B-4C25-A95F-D33C0B0CFA20}"/>
              </a:ext>
            </a:extLst>
          </p:cNvPr>
          <p:cNvSpPr>
            <a:spLocks xmlns:a="http://schemas.openxmlformats.org/drawingml/2006/main" noGrp="1"/>
          </p:cNvSpPr>
          <p:nvPr/>
        </p:nvSpPr>
        <p:spPr>
          <a:xfrm xmlns:a="http://schemas.openxmlformats.org/drawingml/2006/main">
            <a:off x="952500" y="2981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51B618-F15A-4BDA-B373-9E4F26B1162F}"/>
              </a:ext>
            </a:extLst>
          </p:cNvPr>
          <p:cNvSpPr>
            <a:spLocks xmlns:a="http://schemas.openxmlformats.org/drawingml/2006/main" noGrp="1"/>
          </p:cNvSpPr>
          <p:nvPr/>
        </p:nvSpPr>
        <p:spPr>
          <a:xfrm xmlns:a="http://schemas.openxmlformats.org/drawingml/2006/main">
            <a:off x="1200150" y="29051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Upload strategy</a:t>
            </a:r>
          </a:p>
        </p:txBody>
      </p:sp>
      <p:sp>
        <p:nvSpPr>
          <p:cNvPr id="9" name="">
            <a:extLst xmlns:a="http://schemas.openxmlformats.org/drawingml/2006/main">
              <a:ext uri="{FF2B5EF4-FFF2-40B4-BE49-F238E27FC236}">
                <a16:creationId xmlns:a16="http://schemas.microsoft.com/office/drawing/2014/main" id="{8CA825A4-D8BA-4923-8C0C-7403991FA3EB}"/>
              </a:ext>
            </a:extLst>
          </p:cNvPr>
          <p:cNvSpPr>
            <a:spLocks xmlns:a="http://schemas.openxmlformats.org/drawingml/2006/main" noGrp="1"/>
          </p:cNvSpPr>
          <p:nvPr/>
        </p:nvSpPr>
        <p:spPr>
          <a:xfrm xmlns:a="http://schemas.openxmlformats.org/drawingml/2006/main">
            <a:off x="952500" y="36099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16539A-79B9-4F00-B187-61E907D20615}"/>
              </a:ext>
            </a:extLst>
          </p:cNvPr>
          <p:cNvSpPr>
            <a:spLocks xmlns:a="http://schemas.openxmlformats.org/drawingml/2006/main" noGrp="1"/>
          </p:cNvSpPr>
          <p:nvPr/>
        </p:nvSpPr>
        <p:spPr>
          <a:xfrm xmlns:a="http://schemas.openxmlformats.org/drawingml/2006/main">
            <a:off x="1200150" y="353377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Simulate and score</a:t>
            </a:r>
          </a:p>
        </p:txBody>
      </p:sp>
      <p:sp>
        <p:nvSpPr>
          <p:cNvPr id="11" name="">
            <a:extLst xmlns:a="http://schemas.openxmlformats.org/drawingml/2006/main">
              <a:ext uri="{FF2B5EF4-FFF2-40B4-BE49-F238E27FC236}">
                <a16:creationId xmlns:a16="http://schemas.microsoft.com/office/drawing/2014/main" id="{1DEA7C9E-7FE6-4AB7-A599-19871E6747B6}"/>
              </a:ext>
            </a:extLst>
          </p:cNvPr>
          <p:cNvSpPr>
            <a:spLocks xmlns:a="http://schemas.openxmlformats.org/drawingml/2006/main" noGrp="1"/>
          </p:cNvSpPr>
          <p:nvPr/>
        </p:nvSpPr>
        <p:spPr>
          <a:xfrm xmlns:a="http://schemas.openxmlformats.org/drawingml/2006/main">
            <a:off x="952500" y="42386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C78EE4-B338-497B-869A-9F768445A1B7}"/>
              </a:ext>
            </a:extLst>
          </p:cNvPr>
          <p:cNvSpPr>
            <a:spLocks xmlns:a="http://schemas.openxmlformats.org/drawingml/2006/main" noGrp="1"/>
          </p:cNvSpPr>
          <p:nvPr/>
        </p:nvSpPr>
        <p:spPr>
          <a:xfrm xmlns:a="http://schemas.openxmlformats.org/drawingml/2006/main">
            <a:off x="1200150" y="41624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Preserve run record</a:t>
            </a:r>
          </a:p>
        </p:txBody>
      </p:sp>
      <p:sp>
        <p:nvSpPr>
          <p:cNvPr id="13" name="">
            <a:extLst xmlns:a="http://schemas.openxmlformats.org/drawingml/2006/main">
              <a:ext uri="{FF2B5EF4-FFF2-40B4-BE49-F238E27FC236}">
                <a16:creationId xmlns:a16="http://schemas.microsoft.com/office/drawing/2014/main" id="{64BAB105-432A-4DCE-9D56-A55041FCCACA}"/>
              </a:ext>
            </a:extLst>
          </p:cNvPr>
          <p:cNvSpPr>
            <a:spLocks xmlns:a="http://schemas.openxmlformats.org/drawingml/2006/main" noGrp="1"/>
          </p:cNvSpPr>
          <p:nvPr/>
        </p:nvSpPr>
        <p:spPr>
          <a:xfrm xmlns:a="http://schemas.openxmlformats.org/drawingml/2006/main">
            <a:off x="4953000" y="1619250"/>
            <a:ext cx="57150" cy="3905250"/>
          </a:xfrm>
          <a:prstGeom xmlns:a="http://schemas.openxmlformats.org/drawingml/2006/main" prst="rect">
            <a:avLst/>
          </a:prstGeom>
          <a:solidFill xmlns:a="http://schemas.openxmlformats.org/drawingml/2006/main">
            <a:srgbClr val="B8524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EEFB19-809C-4F58-AF2B-D4821791798F}"/>
              </a:ext>
            </a:extLst>
          </p:cNvPr>
          <p:cNvSpPr>
            <a:spLocks xmlns:a="http://schemas.openxmlformats.org/drawingml/2006/main" noGrp="1"/>
          </p:cNvSpPr>
          <p:nvPr/>
        </p:nvSpPr>
        <p:spPr>
          <a:xfrm xmlns:a="http://schemas.openxmlformats.org/drawingml/2006/main">
            <a:off x="4400550" y="2952750"/>
            <a:ext cx="1143000" cy="1143000"/>
          </a:xfrm>
          <a:prstGeom xmlns:a="http://schemas.openxmlformats.org/drawingml/2006/main" prst="ellipse">
            <a:avLst/>
          </a:prstGeom>
          <a:solidFill xmlns:a="http://schemas.openxmlformats.org/drawingml/2006/main">
            <a:srgbClr val="FBFCF8"/>
          </a:solidFill>
          <a:ln xmlns:a="http://schemas.openxmlformats.org/drawingml/2006/main" w="47625">
            <a:solidFill>
              <a:srgbClr val="B85246"/>
            </a:solidFill>
            <a:prstDash val="solid"/>
          </a:ln>
        </p:spPr>
      </p:sp>
      <p:sp>
        <p:nvSpPr>
          <p:cNvPr id="15" name="">
            <a:extLst xmlns:a="http://schemas.openxmlformats.org/drawingml/2006/main">
              <a:ext uri="{FF2B5EF4-FFF2-40B4-BE49-F238E27FC236}">
                <a16:creationId xmlns:a16="http://schemas.microsoft.com/office/drawing/2014/main" id="{A7D0AF18-25A9-4DC2-868B-15D9C42FCDAF}"/>
              </a:ext>
            </a:extLst>
          </p:cNvPr>
          <p:cNvSpPr>
            <a:spLocks xmlns:a="http://schemas.openxmlformats.org/drawingml/2006/main" noGrp="1"/>
          </p:cNvSpPr>
          <p:nvPr/>
        </p:nvSpPr>
        <p:spPr>
          <a:xfrm xmlns:a="http://schemas.openxmlformats.org/drawingml/2006/main">
            <a:off x="4619625" y="3171825"/>
            <a:ext cx="704850" cy="704850"/>
          </a:xfrm>
          <a:prstGeom xmlns:a="http://schemas.openxmlformats.org/drawingml/2006/main" prst="line">
            <a:avLst/>
          </a:prstGeom>
          <a:noFill xmlns:a="http://schemas.openxmlformats.org/drawingml/2006/main"/>
          <a:ln xmlns:a="http://schemas.openxmlformats.org/drawingml/2006/main" w="57150">
            <a:solidFill>
              <a:srgbClr val="B85246"/>
            </a:solidFill>
            <a:prstDash val="solid"/>
          </a:ln>
        </p:spPr>
      </p:sp>
      <p:sp>
        <p:nvSpPr>
          <p:cNvPr id="16" name="">
            <a:extLst xmlns:a="http://schemas.openxmlformats.org/drawingml/2006/main">
              <a:ext uri="{FF2B5EF4-FFF2-40B4-BE49-F238E27FC236}">
                <a16:creationId xmlns:a16="http://schemas.microsoft.com/office/drawing/2014/main" id="{E3F68DE9-8DE8-4364-9C62-B854A6AA3F88}"/>
              </a:ext>
            </a:extLst>
          </p:cNvPr>
          <p:cNvSpPr>
            <a:spLocks xmlns:a="http://schemas.openxmlformats.org/drawingml/2006/main" noGrp="1"/>
          </p:cNvSpPr>
          <p:nvPr/>
        </p:nvSpPr>
        <p:spPr>
          <a:xfrm xmlns:a="http://schemas.openxmlformats.org/drawingml/2006/main">
            <a:off x="4038600" y="429577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1" i="0">
                <a:solidFill>
                  <a:srgbClr val="B85246"/>
                </a:solidFill>
                <a:latin typeface="Arimo"/>
                <a:ea typeface="Arimo"/>
                <a:cs typeface="Arimo"/>
              </a:defRPr>
            </a:pPr>
            <a:r>
              <a:rPr sz="1425" b="1" i="0">
                <a:solidFill>
                  <a:srgbClr val="B85246"/>
                </a:solidFill>
                <a:latin typeface="Arimo"/>
                <a:ea typeface="Arimo"/>
                <a:cs typeface="Arimo"/>
              </a:rPr>
              <a:t>NO WRITE PATH</a:t>
            </a:r>
          </a:p>
        </p:txBody>
      </p:sp>
      <p:sp>
        <p:nvSpPr>
          <p:cNvPr id="17" name="">
            <a:extLst xmlns:a="http://schemas.openxmlformats.org/drawingml/2006/main">
              <a:ext uri="{FF2B5EF4-FFF2-40B4-BE49-F238E27FC236}">
                <a16:creationId xmlns:a16="http://schemas.microsoft.com/office/drawing/2014/main" id="{61EB92D6-D5CB-4DB3-A901-FF3A19A1A15B}"/>
              </a:ext>
            </a:extLst>
          </p:cNvPr>
          <p:cNvSpPr>
            <a:spLocks xmlns:a="http://schemas.openxmlformats.org/drawingml/2006/main" noGrp="1"/>
          </p:cNvSpPr>
          <p:nvPr/>
        </p:nvSpPr>
        <p:spPr>
          <a:xfrm xmlns:a="http://schemas.openxmlformats.org/drawingml/2006/main">
            <a:off x="6715125" y="1924050"/>
            <a:ext cx="3714750" cy="647700"/>
          </a:xfrm>
          <a:prstGeom xmlns:a="http://schemas.openxmlformats.org/drawingml/2006/main" prst="roundRect">
            <a:avLst>
              <a:gd name="adj" fmla="val 2352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Biosphere 2 operations</a:t>
            </a:r>
          </a:p>
        </p:txBody>
      </p:sp>
      <p:sp>
        <p:nvSpPr>
          <p:cNvPr id="18" name="">
            <a:extLst xmlns:a="http://schemas.openxmlformats.org/drawingml/2006/main">
              <a:ext uri="{FF2B5EF4-FFF2-40B4-BE49-F238E27FC236}">
                <a16:creationId xmlns:a16="http://schemas.microsoft.com/office/drawing/2014/main" id="{EA1AD56E-2832-4E8A-BA22-4E6ACA4ADCB8}"/>
              </a:ext>
            </a:extLst>
          </p:cNvPr>
          <p:cNvSpPr>
            <a:spLocks xmlns:a="http://schemas.openxmlformats.org/drawingml/2006/main" noGrp="1"/>
          </p:cNvSpPr>
          <p:nvPr/>
        </p:nvSpPr>
        <p:spPr>
          <a:xfrm xmlns:a="http://schemas.openxmlformats.org/drawingml/2006/main">
            <a:off x="6953250" y="29813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C2B318E-C1CD-4D6F-88AF-99A561844EA9}"/>
              </a:ext>
            </a:extLst>
          </p:cNvPr>
          <p:cNvSpPr>
            <a:spLocks xmlns:a="http://schemas.openxmlformats.org/drawingml/2006/main" noGrp="1"/>
          </p:cNvSpPr>
          <p:nvPr/>
        </p:nvSpPr>
        <p:spPr>
          <a:xfrm xmlns:a="http://schemas.openxmlformats.org/drawingml/2006/main">
            <a:off x="7200900" y="29051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Review evidence</a:t>
            </a:r>
          </a:p>
        </p:txBody>
      </p:sp>
      <p:sp>
        <p:nvSpPr>
          <p:cNvPr id="20" name="">
            <a:extLst xmlns:a="http://schemas.openxmlformats.org/drawingml/2006/main">
              <a:ext uri="{FF2B5EF4-FFF2-40B4-BE49-F238E27FC236}">
                <a16:creationId xmlns:a16="http://schemas.microsoft.com/office/drawing/2014/main" id="{2D68CBE6-DD4A-487F-A85C-D664205D214A}"/>
              </a:ext>
            </a:extLst>
          </p:cNvPr>
          <p:cNvSpPr>
            <a:spLocks xmlns:a="http://schemas.openxmlformats.org/drawingml/2006/main" noGrp="1"/>
          </p:cNvSpPr>
          <p:nvPr/>
        </p:nvSpPr>
        <p:spPr>
          <a:xfrm xmlns:a="http://schemas.openxmlformats.org/drawingml/2006/main">
            <a:off x="6953250" y="360997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B5C52B0-F2A3-406C-8350-527DCC1C6D2F}"/>
              </a:ext>
            </a:extLst>
          </p:cNvPr>
          <p:cNvSpPr>
            <a:spLocks xmlns:a="http://schemas.openxmlformats.org/drawingml/2006/main" noGrp="1"/>
          </p:cNvSpPr>
          <p:nvPr/>
        </p:nvSpPr>
        <p:spPr>
          <a:xfrm xmlns:a="http://schemas.openxmlformats.org/drawingml/2006/main">
            <a:off x="7200900" y="353377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Approve any future protocol</a:t>
            </a:r>
          </a:p>
        </p:txBody>
      </p:sp>
      <p:sp>
        <p:nvSpPr>
          <p:cNvPr id="22" name="">
            <a:extLst xmlns:a="http://schemas.openxmlformats.org/drawingml/2006/main">
              <a:ext uri="{FF2B5EF4-FFF2-40B4-BE49-F238E27FC236}">
                <a16:creationId xmlns:a16="http://schemas.microsoft.com/office/drawing/2014/main" id="{F222EC1B-D1DE-4EF1-BD1E-4AAAF0DDE1BB}"/>
              </a:ext>
            </a:extLst>
          </p:cNvPr>
          <p:cNvSpPr>
            <a:spLocks xmlns:a="http://schemas.openxmlformats.org/drawingml/2006/main" noGrp="1"/>
          </p:cNvSpPr>
          <p:nvPr/>
        </p:nvSpPr>
        <p:spPr>
          <a:xfrm xmlns:a="http://schemas.openxmlformats.org/drawingml/2006/main">
            <a:off x="6953250" y="42386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7EE26FF-BCFD-4EFE-963B-A0031FF42928}"/>
              </a:ext>
            </a:extLst>
          </p:cNvPr>
          <p:cNvSpPr>
            <a:spLocks xmlns:a="http://schemas.openxmlformats.org/drawingml/2006/main" noGrp="1"/>
          </p:cNvSpPr>
          <p:nvPr/>
        </p:nvSpPr>
        <p:spPr>
          <a:xfrm xmlns:a="http://schemas.openxmlformats.org/drawingml/2006/main">
            <a:off x="7200900" y="41624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Retain stop authority</a:t>
            </a:r>
          </a:p>
        </p:txBody>
      </p:sp>
      <p:sp>
        <p:nvSpPr>
          <p:cNvPr id="24" name="">
            <a:extLst xmlns:a="http://schemas.openxmlformats.org/drawingml/2006/main">
              <a:ext uri="{FF2B5EF4-FFF2-40B4-BE49-F238E27FC236}">
                <a16:creationId xmlns:a16="http://schemas.microsoft.com/office/drawing/2014/main" id="{BAB5B7BD-4049-4A38-ACE5-508378D7AB88}"/>
              </a:ext>
            </a:extLst>
          </p:cNvPr>
          <p:cNvSpPr>
            <a:spLocks xmlns:a="http://schemas.openxmlformats.org/drawingml/2006/main" noGrp="1"/>
          </p:cNvSpPr>
          <p:nvPr/>
        </p:nvSpPr>
        <p:spPr>
          <a:xfrm xmlns:a="http://schemas.openxmlformats.org/drawingml/2006/main">
            <a:off x="1809750" y="57150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950" b="1" i="0">
                <a:solidFill>
                  <a:srgbClr val="10251D"/>
                </a:solidFill>
                <a:latin typeface="Arimo"/>
                <a:ea typeface="Arimo"/>
                <a:cs typeface="Arimo"/>
              </a:defRPr>
            </a:pPr>
            <a:r>
              <a:rPr sz="1950" b="1" i="0">
                <a:solidFill>
                  <a:srgbClr val="10251D"/>
                </a:solidFill>
                <a:latin typeface="Arimo"/>
                <a:ea typeface="Arimo"/>
                <a:cs typeface="Arimo"/>
              </a:rPr>
              <a:t>A prediction supports a decision. It does not grant operational authority.</a:t>
            </a:r>
          </a:p>
        </p:txBody>
      </p:sp>
    </p:spTree>
    <p:extLst>
      <p:ext uri="{BB962C8B-B14F-4D97-AF65-F5344CB8AC3E}">
        <p14:creationId xmlns:p14="http://schemas.microsoft.com/office/powerpoint/2010/main" val="721414474"/>
      </p:ext>
    </p:extLst>
  </p:cSld>
</p:sld>
</file>

<file path=ppt/slides/slide1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DEFB064-78AC-42DD-9EBF-C62B41974D6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27CFC0-7FAC-455B-839E-813C7F83182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Pluggable simulation engine</a:t>
            </a:r>
          </a:p>
        </p:txBody>
      </p:sp>
      <p:sp>
        <p:nvSpPr>
          <p:cNvPr id="3" name="">
            <a:extLst xmlns:a="http://schemas.openxmlformats.org/drawingml/2006/main">
              <a:ext uri="{FF2B5EF4-FFF2-40B4-BE49-F238E27FC236}">
                <a16:creationId xmlns:a16="http://schemas.microsoft.com/office/drawing/2014/main" id="{3B36FF15-F4F5-4F43-9D36-89A2D533D8C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stable contract allows models to improve without rebuilding the platform</a:t>
            </a:r>
          </a:p>
        </p:txBody>
      </p:sp>
      <p:sp>
        <p:nvSpPr>
          <p:cNvPr id="4" name="">
            <a:extLst xmlns:a="http://schemas.openxmlformats.org/drawingml/2006/main">
              <a:ext uri="{FF2B5EF4-FFF2-40B4-BE49-F238E27FC236}">
                <a16:creationId xmlns:a16="http://schemas.microsoft.com/office/drawing/2014/main" id="{1233D5E0-B650-4198-98C7-DCCEBCA0E3E1}"/>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D65E4B9E-BC19-4944-B731-4DF69A4F037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10</a:t>
            </a:r>
          </a:p>
        </p:txBody>
      </p:sp>
      <p:sp>
        <p:nvSpPr>
          <p:cNvPr id="6" name="">
            <a:extLst xmlns:a="http://schemas.openxmlformats.org/drawingml/2006/main">
              <a:ext uri="{FF2B5EF4-FFF2-40B4-BE49-F238E27FC236}">
                <a16:creationId xmlns:a16="http://schemas.microsoft.com/office/drawing/2014/main" id="{DDDAC235-DEE9-4341-B885-7356D7ADCB93}"/>
              </a:ext>
            </a:extLst>
          </p:cNvPr>
          <p:cNvSpPr>
            <a:spLocks xmlns:a="http://schemas.openxmlformats.org/drawingml/2006/main" noGrp="1"/>
          </p:cNvSpPr>
          <p:nvPr/>
        </p:nvSpPr>
        <p:spPr>
          <a:xfrm xmlns:a="http://schemas.openxmlformats.org/drawingml/2006/main">
            <a:off x="533400" y="2095500"/>
            <a:ext cx="2238375" cy="1952625"/>
          </a:xfrm>
          <a:prstGeom xmlns:a="http://schemas.openxmlformats.org/drawingml/2006/main" prst="roundRect">
            <a:avLst>
              <a:gd name="adj" fmla="val 7805"/>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8846"/>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INPUT CONTRACT</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initial state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64-control schedule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context and horizon</a:t>
            </a:r>
          </a:p>
        </p:txBody>
      </p:sp>
      <p:sp>
        <p:nvSpPr>
          <p:cNvPr id="7" name="">
            <a:extLst xmlns:a="http://schemas.openxmlformats.org/drawingml/2006/main">
              <a:ext uri="{FF2B5EF4-FFF2-40B4-BE49-F238E27FC236}">
                <a16:creationId xmlns:a16="http://schemas.microsoft.com/office/drawing/2014/main" id="{E75D26FC-F40B-489A-9123-E1FE295B71CD}"/>
              </a:ext>
            </a:extLst>
          </p:cNvPr>
          <p:cNvSpPr>
            <a:spLocks xmlns:a="http://schemas.openxmlformats.org/drawingml/2006/main" noGrp="1"/>
          </p:cNvSpPr>
          <p:nvPr/>
        </p:nvSpPr>
        <p:spPr>
          <a:xfrm xmlns:a="http://schemas.openxmlformats.org/drawingml/2006/main">
            <a:off x="4476750" y="2333625"/>
            <a:ext cx="2476500" cy="1428750"/>
          </a:xfrm>
          <a:prstGeom xmlns:a="http://schemas.openxmlformats.org/drawingml/2006/main" prst="roundRect">
            <a:avLst>
              <a:gd name="adj" fmla="val 1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SIMULATION</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ENGINE</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ADAPTER</a:t>
            </a:r>
          </a:p>
        </p:txBody>
      </p:sp>
      <p:sp>
        <p:nvSpPr>
          <p:cNvPr id="8" name="">
            <a:extLst xmlns:a="http://schemas.openxmlformats.org/drawingml/2006/main">
              <a:ext uri="{FF2B5EF4-FFF2-40B4-BE49-F238E27FC236}">
                <a16:creationId xmlns:a16="http://schemas.microsoft.com/office/drawing/2014/main" id="{0AA5C1B0-7A40-43F9-AE5E-01C0A47B042C}"/>
              </a:ext>
            </a:extLst>
          </p:cNvPr>
          <p:cNvSpPr>
            <a:spLocks xmlns:a="http://schemas.openxmlformats.org/drawingml/2006/main" noGrp="1"/>
          </p:cNvSpPr>
          <p:nvPr/>
        </p:nvSpPr>
        <p:spPr>
          <a:xfrm xmlns:a="http://schemas.openxmlformats.org/drawingml/2006/main">
            <a:off x="8953500" y="2095500"/>
            <a:ext cx="2476500" cy="1952625"/>
          </a:xfrm>
          <a:prstGeom xmlns:a="http://schemas.openxmlformats.org/drawingml/2006/main" prst="roundRect">
            <a:avLst>
              <a:gd name="adj" fmla="val 780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720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OUTPUT CONTRACT</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36-channel trajectories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uncertainty and constraints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energy and diagnostics</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flipV="1">
            <a:off x="2771775" y="3048000"/>
            <a:ext cx="1704975" cy="23813"/>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6953250" y="3048000"/>
            <a:ext cx="2000250" cy="23813"/>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F9554E7B-7FF8-40C9-93B4-DB861703C1E0}"/>
              </a:ext>
            </a:extLst>
          </p:cNvPr>
          <p:cNvSpPr>
            <a:spLocks xmlns:a="http://schemas.openxmlformats.org/drawingml/2006/main" noGrp="1"/>
          </p:cNvSpPr>
          <p:nvPr/>
        </p:nvSpPr>
        <p:spPr>
          <a:xfrm xmlns:a="http://schemas.openxmlformats.org/drawingml/2006/main">
            <a:off x="3314700" y="4533900"/>
            <a:ext cx="1428750" cy="495300"/>
          </a:xfrm>
          <a:prstGeom xmlns:a="http://schemas.openxmlformats.org/drawingml/2006/main" prst="roundRect">
            <a:avLst>
              <a:gd name="adj" fmla="val 30769"/>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Gray-box</a:t>
            </a:r>
          </a:p>
        </p:txBody>
      </p:sp>
      <p:sp>
        <p:nvSpPr>
          <p:cNvPr id="12" name="">
            <a:extLst xmlns:a="http://schemas.openxmlformats.org/drawingml/2006/main">
              <a:ext uri="{FF2B5EF4-FFF2-40B4-BE49-F238E27FC236}">
                <a16:creationId xmlns:a16="http://schemas.microsoft.com/office/drawing/2014/main" id="{436E7770-A4A4-4660-B40A-39E8BD770669}"/>
              </a:ext>
            </a:extLst>
          </p:cNvPr>
          <p:cNvSpPr>
            <a:spLocks xmlns:a="http://schemas.openxmlformats.org/drawingml/2006/main" noGrp="1"/>
          </p:cNvSpPr>
          <p:nvPr/>
        </p:nvSpPr>
        <p:spPr>
          <a:xfrm xmlns:a="http://schemas.openxmlformats.org/drawingml/2006/main">
            <a:off x="4953000" y="4533900"/>
            <a:ext cx="1619250" cy="495300"/>
          </a:xfrm>
          <a:prstGeom xmlns:a="http://schemas.openxmlformats.org/drawingml/2006/main" prst="roundRect">
            <a:avLst>
              <a:gd name="adj" fmla="val 3076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Temporal ML</a:t>
            </a:r>
          </a:p>
        </p:txBody>
      </p:sp>
      <p:sp>
        <p:nvSpPr>
          <p:cNvPr id="13" name="">
            <a:extLst xmlns:a="http://schemas.openxmlformats.org/drawingml/2006/main">
              <a:ext uri="{FF2B5EF4-FFF2-40B4-BE49-F238E27FC236}">
                <a16:creationId xmlns:a16="http://schemas.microsoft.com/office/drawing/2014/main" id="{9C545159-7F3F-4A6A-A36E-3A3AC57AD02B}"/>
              </a:ext>
            </a:extLst>
          </p:cNvPr>
          <p:cNvSpPr>
            <a:spLocks xmlns:a="http://schemas.openxmlformats.org/drawingml/2006/main" noGrp="1"/>
          </p:cNvSpPr>
          <p:nvPr/>
        </p:nvSpPr>
        <p:spPr>
          <a:xfrm xmlns:a="http://schemas.openxmlformats.org/drawingml/2006/main">
            <a:off x="6781800" y="4533900"/>
            <a:ext cx="1381125" cy="495300"/>
          </a:xfrm>
          <a:prstGeom xmlns:a="http://schemas.openxmlformats.org/drawingml/2006/main" prst="roundRect">
            <a:avLst>
              <a:gd name="adj" fmla="val 3076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Physics</a:t>
            </a:r>
          </a:p>
        </p:txBody>
      </p:sp>
      <p:sp>
        <p:nvSpPr>
          <p:cNvPr id="14" name="">
            <a:extLst xmlns:a="http://schemas.openxmlformats.org/drawingml/2006/main">
              <a:ext uri="{FF2B5EF4-FFF2-40B4-BE49-F238E27FC236}">
                <a16:creationId xmlns:a16="http://schemas.microsoft.com/office/drawing/2014/main" id="{3804BE6B-6980-4D81-AF2F-39C0BE57125F}"/>
              </a:ext>
            </a:extLst>
          </p:cNvPr>
          <p:cNvSpPr>
            <a:spLocks xmlns:a="http://schemas.openxmlformats.org/drawingml/2006/main" noGrp="1"/>
          </p:cNvSpPr>
          <p:nvPr/>
        </p:nvSpPr>
        <p:spPr>
          <a:xfrm xmlns:a="http://schemas.openxmlformats.org/drawingml/2006/main">
            <a:off x="8372475" y="4533900"/>
            <a:ext cx="1285875" cy="495300"/>
          </a:xfrm>
          <a:prstGeom xmlns:a="http://schemas.openxmlformats.org/drawingml/2006/main" prst="roundRect">
            <a:avLst>
              <a:gd name="adj" fmla="val 30769"/>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Hybrid</a:t>
            </a:r>
          </a:p>
        </p:txBody>
      </p:sp>
      <p:cxnSp>
        <p:nvCxnSpPr>
          <p:cNvPr id="34" name=""/>
          <p:cNvCxnSpPr>
            <a:stCxn xmlns:a="http://schemas.openxmlformats.org/drawingml/2006/main" id="11" idx="0"/>
            <a:endCxn xmlns:a="http://schemas.openxmlformats.org/drawingml/2006/main" id="7" idx="2"/>
          </p:cNvCxnSpPr>
          <p:nvPr/>
        </p:nvCxnSpPr>
        <p:spPr>
          <a:xfrm xmlns:a="http://schemas.openxmlformats.org/drawingml/2006/main" flipV="1">
            <a:off x="4029075" y="3762375"/>
            <a:ext cx="16859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5" name=""/>
          <p:cNvCxnSpPr>
            <a:stCxn xmlns:a="http://schemas.openxmlformats.org/drawingml/2006/main" id="12" idx="0"/>
            <a:endCxn xmlns:a="http://schemas.openxmlformats.org/drawingml/2006/main" id="7" idx="2"/>
          </p:cNvCxnSpPr>
          <p:nvPr/>
        </p:nvCxnSpPr>
        <p:spPr>
          <a:xfrm xmlns:a="http://schemas.openxmlformats.org/drawingml/2006/main" flipH="1" flipV="1">
            <a:off x="5715000" y="3762375"/>
            <a:ext cx="476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6" name=""/>
          <p:cNvCxnSpPr>
            <a:stCxn xmlns:a="http://schemas.openxmlformats.org/drawingml/2006/main" id="13" idx="0"/>
            <a:endCxn xmlns:a="http://schemas.openxmlformats.org/drawingml/2006/main" id="7" idx="2"/>
          </p:cNvCxnSpPr>
          <p:nvPr/>
        </p:nvCxnSpPr>
        <p:spPr>
          <a:xfrm xmlns:a="http://schemas.openxmlformats.org/drawingml/2006/main" flipH="1" flipV="1">
            <a:off x="5715000" y="3762375"/>
            <a:ext cx="1757363"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7" name=""/>
          <p:cNvCxnSpPr>
            <a:stCxn xmlns:a="http://schemas.openxmlformats.org/drawingml/2006/main" id="14" idx="0"/>
            <a:endCxn xmlns:a="http://schemas.openxmlformats.org/drawingml/2006/main" id="7" idx="2"/>
          </p:cNvCxnSpPr>
          <p:nvPr/>
        </p:nvCxnSpPr>
        <p:spPr>
          <a:xfrm xmlns:a="http://schemas.openxmlformats.org/drawingml/2006/main" flipH="1" flipV="1">
            <a:off x="5715000" y="3762375"/>
            <a:ext cx="3300413" cy="771525"/>
          </a:xfrm>
          <a:prstGeom xmlns:a="http://schemas.openxmlformats.org/drawingml/2006/main" prst="bentConnector4">
            <a:avLst>
              <a:gd name="adj1" fmla="val 0"/>
              <a:gd name="adj2" fmla="val 29630"/>
            </a:avLst>
          </a:prstGeom>
          <a:ln xmlns:a="http://schemas.openxmlformats.org/drawingml/2006/main" w="19050">
            <a:solidFill>
              <a:srgbClr val="C9D9CF"/>
            </a:solidFill>
            <a:prstDash val="solid"/>
            <a:tailEnd type="triangle" w="sm" len="sm"/>
          </a:ln>
        </p:spPr>
      </p:cxnSp>
      <p:sp>
        <p:nvSpPr>
          <p:cNvPr id="19" name="">
            <a:extLst xmlns:a="http://schemas.openxmlformats.org/drawingml/2006/main">
              <a:ext uri="{FF2B5EF4-FFF2-40B4-BE49-F238E27FC236}">
                <a16:creationId xmlns:a16="http://schemas.microsoft.com/office/drawing/2014/main" id="{E80DA98B-F19A-4920-A1F9-B1A497B53512}"/>
              </a:ext>
            </a:extLst>
          </p:cNvPr>
          <p:cNvSpPr>
            <a:spLocks xmlns:a="http://schemas.openxmlformats.org/drawingml/2006/main" noGrp="1"/>
          </p:cNvSpPr>
          <p:nvPr/>
        </p:nvSpPr>
        <p:spPr>
          <a:xfrm xmlns:a="http://schemas.openxmlformats.org/drawingml/2006/main">
            <a:off x="2952750" y="5543550"/>
            <a:ext cx="619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785"/>
          </a:bodyPr>
          <a:lstStyle xmlns:a="http://schemas.openxmlformats.org/drawingml/2006/main"/>
          <a:p xmlns:a="http://schemas.openxmlformats.org/drawingml/2006/main">
            <a:pPr algn="ctr">
              <a:lnSpc>
                <a:spcPct val="104000"/>
              </a:lnSpc>
              <a:buNone/>
              <a:defRPr sz="1800" b="1" i="0">
                <a:solidFill>
                  <a:srgbClr val="167A55"/>
                </a:solidFill>
                <a:latin typeface="Arimo"/>
                <a:ea typeface="Arimo"/>
                <a:cs typeface="Arimo"/>
              </a:defRPr>
            </a:pPr>
            <a:r>
              <a:rPr sz="1800" b="1" i="0">
                <a:solidFill>
                  <a:srgbClr val="167A55"/>
                </a:solidFill>
                <a:latin typeface="Arimo"/>
                <a:ea typeface="Arimo"/>
                <a:cs typeface="Arimo"/>
              </a:rPr>
              <a:t>The same strategy and scenario can be compared across engines</a:t>
            </a:r>
          </a:p>
        </p:txBody>
      </p:sp>
    </p:spTree>
    <p:extLst>
      <p:ext uri="{BB962C8B-B14F-4D97-AF65-F5344CB8AC3E}">
        <p14:creationId xmlns:p14="http://schemas.microsoft.com/office/powerpoint/2010/main" val="142124149"/>
      </p:ext>
    </p:extLst>
  </p:cSld>
</p:sld>
</file>

<file path=ppt/slides/slide1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65841D3-ABA0-4668-A73C-D71A90129D7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81ADE99-3268-4FD4-B01E-5DE0B7F5009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Candidate forward-model families</a:t>
            </a:r>
          </a:p>
        </p:txBody>
      </p:sp>
      <p:sp>
        <p:nvSpPr>
          <p:cNvPr id="3" name="">
            <a:extLst xmlns:a="http://schemas.openxmlformats.org/drawingml/2006/main">
              <a:ext uri="{FF2B5EF4-FFF2-40B4-BE49-F238E27FC236}">
                <a16:creationId xmlns:a16="http://schemas.microsoft.com/office/drawing/2014/main" id="{DE365236-7668-4CF5-9F64-2CD156C4E36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should benchmark complementary approaches</a:t>
            </a:r>
          </a:p>
        </p:txBody>
      </p:sp>
      <p:sp>
        <p:nvSpPr>
          <p:cNvPr id="4" name="">
            <a:extLst xmlns:a="http://schemas.openxmlformats.org/drawingml/2006/main">
              <a:ext uri="{FF2B5EF4-FFF2-40B4-BE49-F238E27FC236}">
                <a16:creationId xmlns:a16="http://schemas.microsoft.com/office/drawing/2014/main" id="{CBA8239A-F515-4022-831D-9D1478BC404D}"/>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AD80F9A8-8187-49B4-B847-4787742F645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11</a:t>
            </a:r>
          </a:p>
        </p:txBody>
      </p:sp>
      <p:sp>
        <p:nvSpPr>
          <p:cNvPr id="6" name="">
            <a:extLst xmlns:a="http://schemas.openxmlformats.org/drawingml/2006/main">
              <a:ext uri="{FF2B5EF4-FFF2-40B4-BE49-F238E27FC236}">
                <a16:creationId xmlns:a16="http://schemas.microsoft.com/office/drawing/2014/main" id="{FBE5F4A4-5C1C-46AB-971B-CCBA83DBC027}"/>
              </a:ext>
            </a:extLst>
          </p:cNvPr>
          <p:cNvSpPr>
            <a:spLocks xmlns:a="http://schemas.openxmlformats.org/drawingml/2006/main" noGrp="1"/>
          </p:cNvSpPr>
          <p:nvPr/>
        </p:nvSpPr>
        <p:spPr>
          <a:xfrm xmlns:a="http://schemas.openxmlformats.org/drawingml/2006/main">
            <a:off x="5143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GRAY-BOX</a:t>
            </a:r>
          </a:p>
        </p:txBody>
      </p:sp>
      <p:sp>
        <p:nvSpPr>
          <p:cNvPr id="7" name="">
            <a:extLst xmlns:a="http://schemas.openxmlformats.org/drawingml/2006/main">
              <a:ext uri="{FF2B5EF4-FFF2-40B4-BE49-F238E27FC236}">
                <a16:creationId xmlns:a16="http://schemas.microsoft.com/office/drawing/2014/main" id="{16410C28-3E71-45D2-8B1B-BE6626E4A95C}"/>
              </a:ext>
            </a:extLst>
          </p:cNvPr>
          <p:cNvSpPr>
            <a:spLocks xmlns:a="http://schemas.openxmlformats.org/drawingml/2006/main" noGrp="1"/>
          </p:cNvSpPr>
          <p:nvPr/>
        </p:nvSpPr>
        <p:spPr>
          <a:xfrm xmlns:a="http://schemas.openxmlformats.org/drawingml/2006/main">
            <a:off x="628650" y="2019300"/>
            <a:ext cx="2247900" cy="0"/>
          </a:xfrm>
          <a:prstGeom xmlns:a="http://schemas.openxmlformats.org/drawingml/2006/main" prst="line">
            <a:avLst/>
          </a:prstGeom>
          <a:noFill xmlns:a="http://schemas.openxmlformats.org/drawingml/2006/main"/>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5F9E29E9-53A9-4F3B-8C06-53FEBCF76372}"/>
              </a:ext>
            </a:extLst>
          </p:cNvPr>
          <p:cNvSpPr>
            <a:spLocks xmlns:a="http://schemas.openxmlformats.org/drawingml/2006/main" noGrp="1"/>
          </p:cNvSpPr>
          <p:nvPr/>
        </p:nvSpPr>
        <p:spPr>
          <a:xfrm xmlns:a="http://schemas.openxmlformats.org/drawingml/2006/main">
            <a:off x="6477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Interpretable dynamics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Modest data need</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May miss nonlinear coupling</a:t>
            </a:r>
          </a:p>
        </p:txBody>
      </p:sp>
      <p:sp>
        <p:nvSpPr>
          <p:cNvPr id="9" name="">
            <a:extLst xmlns:a="http://schemas.openxmlformats.org/drawingml/2006/main">
              <a:ext uri="{FF2B5EF4-FFF2-40B4-BE49-F238E27FC236}">
                <a16:creationId xmlns:a16="http://schemas.microsoft.com/office/drawing/2014/main" id="{33CEC355-343C-4F6C-9449-695D2E00207A}"/>
              </a:ext>
            </a:extLst>
          </p:cNvPr>
          <p:cNvSpPr>
            <a:spLocks xmlns:a="http://schemas.openxmlformats.org/drawingml/2006/main" noGrp="1"/>
          </p:cNvSpPr>
          <p:nvPr/>
        </p:nvSpPr>
        <p:spPr>
          <a:xfrm xmlns:a="http://schemas.openxmlformats.org/drawingml/2006/main">
            <a:off x="7810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simple and legible</a:t>
            </a:r>
          </a:p>
        </p:txBody>
      </p:sp>
      <p:sp>
        <p:nvSpPr>
          <p:cNvPr id="10" name="">
            <a:extLst xmlns:a="http://schemas.openxmlformats.org/drawingml/2006/main">
              <a:ext uri="{FF2B5EF4-FFF2-40B4-BE49-F238E27FC236}">
                <a16:creationId xmlns:a16="http://schemas.microsoft.com/office/drawing/2014/main" id="{4A94AD3B-A4F6-45EB-9E49-6E252DBC9279}"/>
              </a:ext>
            </a:extLst>
          </p:cNvPr>
          <p:cNvSpPr>
            <a:spLocks xmlns:a="http://schemas.openxmlformats.org/drawingml/2006/main" noGrp="1"/>
          </p:cNvSpPr>
          <p:nvPr/>
        </p:nvSpPr>
        <p:spPr>
          <a:xfrm xmlns:a="http://schemas.openxmlformats.org/drawingml/2006/main">
            <a:off x="33909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30AFC2"/>
                </a:solidFill>
                <a:latin typeface="Arimo"/>
                <a:ea typeface="Arimo"/>
                <a:cs typeface="Arimo"/>
              </a:defRPr>
            </a:pPr>
            <a:r>
              <a:rPr sz="1350" b="1" i="0">
                <a:solidFill>
                  <a:srgbClr val="30AFC2"/>
                </a:solidFill>
                <a:latin typeface="Arimo"/>
                <a:ea typeface="Arimo"/>
                <a:cs typeface="Arimo"/>
              </a:rPr>
              <a:t>TEMPORAL ML</a:t>
            </a:r>
          </a:p>
        </p:txBody>
      </p:sp>
      <p:sp>
        <p:nvSpPr>
          <p:cNvPr id="11" name="">
            <a:extLst xmlns:a="http://schemas.openxmlformats.org/drawingml/2006/main">
              <a:ext uri="{FF2B5EF4-FFF2-40B4-BE49-F238E27FC236}">
                <a16:creationId xmlns:a16="http://schemas.microsoft.com/office/drawing/2014/main" id="{C05F45EA-20FC-4FC4-B973-BFFC7A566E2A}"/>
              </a:ext>
            </a:extLst>
          </p:cNvPr>
          <p:cNvSpPr>
            <a:spLocks xmlns:a="http://schemas.openxmlformats.org/drawingml/2006/main" noGrp="1"/>
          </p:cNvSpPr>
          <p:nvPr/>
        </p:nvSpPr>
        <p:spPr>
          <a:xfrm xmlns:a="http://schemas.openxmlformats.org/drawingml/2006/main">
            <a:off x="3505200" y="2019300"/>
            <a:ext cx="2247900" cy="0"/>
          </a:xfrm>
          <a:prstGeom xmlns:a="http://schemas.openxmlformats.org/drawingml/2006/main" prst="line">
            <a:avLst/>
          </a:prstGeom>
          <a:noFill xmlns:a="http://schemas.openxmlformats.org/drawingml/2006/main"/>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2D52A4F9-0D12-47B7-A6BA-8473C5539F03}"/>
              </a:ext>
            </a:extLst>
          </p:cNvPr>
          <p:cNvSpPr>
            <a:spLocks xmlns:a="http://schemas.openxmlformats.org/drawingml/2006/main" noGrp="1"/>
          </p:cNvSpPr>
          <p:nvPr/>
        </p:nvSpPr>
        <p:spPr>
          <a:xfrm xmlns:a="http://schemas.openxmlformats.org/drawingml/2006/main">
            <a:off x="35242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Learns delays and nonlinear response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Fast repeated simulation</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Needs coverage and OOD checks</a:t>
            </a:r>
          </a:p>
        </p:txBody>
      </p:sp>
      <p:sp>
        <p:nvSpPr>
          <p:cNvPr id="13" name="">
            <a:extLst xmlns:a="http://schemas.openxmlformats.org/drawingml/2006/main">
              <a:ext uri="{FF2B5EF4-FFF2-40B4-BE49-F238E27FC236}">
                <a16:creationId xmlns:a16="http://schemas.microsoft.com/office/drawing/2014/main" id="{AB443296-1DF6-4D0A-965E-8B2193D83578}"/>
              </a:ext>
            </a:extLst>
          </p:cNvPr>
          <p:cNvSpPr>
            <a:spLocks xmlns:a="http://schemas.openxmlformats.org/drawingml/2006/main" noGrp="1"/>
          </p:cNvSpPr>
          <p:nvPr/>
        </p:nvSpPr>
        <p:spPr>
          <a:xfrm xmlns:a="http://schemas.openxmlformats.org/drawingml/2006/main">
            <a:off x="36576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flexible surrogate</a:t>
            </a:r>
          </a:p>
        </p:txBody>
      </p:sp>
      <p:sp>
        <p:nvSpPr>
          <p:cNvPr id="14" name="">
            <a:extLst xmlns:a="http://schemas.openxmlformats.org/drawingml/2006/main">
              <a:ext uri="{FF2B5EF4-FFF2-40B4-BE49-F238E27FC236}">
                <a16:creationId xmlns:a16="http://schemas.microsoft.com/office/drawing/2014/main" id="{9594CE60-606B-447C-AC8B-3C671DE20078}"/>
              </a:ext>
            </a:extLst>
          </p:cNvPr>
          <p:cNvSpPr>
            <a:spLocks xmlns:a="http://schemas.openxmlformats.org/drawingml/2006/main" noGrp="1"/>
          </p:cNvSpPr>
          <p:nvPr/>
        </p:nvSpPr>
        <p:spPr>
          <a:xfrm xmlns:a="http://schemas.openxmlformats.org/drawingml/2006/main">
            <a:off x="62674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E69B3A"/>
                </a:solidFill>
                <a:latin typeface="Arimo"/>
                <a:ea typeface="Arimo"/>
                <a:cs typeface="Arimo"/>
              </a:defRPr>
            </a:pPr>
            <a:r>
              <a:rPr sz="1350" b="1" i="0">
                <a:solidFill>
                  <a:srgbClr val="E69B3A"/>
                </a:solidFill>
                <a:latin typeface="Arimo"/>
                <a:ea typeface="Arimo"/>
                <a:cs typeface="Arimo"/>
              </a:rPr>
              <a:t>PHYSICS</a:t>
            </a:r>
          </a:p>
        </p:txBody>
      </p:sp>
      <p:sp>
        <p:nvSpPr>
          <p:cNvPr id="15" name="">
            <a:extLst xmlns:a="http://schemas.openxmlformats.org/drawingml/2006/main">
              <a:ext uri="{FF2B5EF4-FFF2-40B4-BE49-F238E27FC236}">
                <a16:creationId xmlns:a16="http://schemas.microsoft.com/office/drawing/2014/main" id="{184159F9-AEC5-4F65-871F-551E06C29A19}"/>
              </a:ext>
            </a:extLst>
          </p:cNvPr>
          <p:cNvSpPr>
            <a:spLocks xmlns:a="http://schemas.openxmlformats.org/drawingml/2006/main" noGrp="1"/>
          </p:cNvSpPr>
          <p:nvPr/>
        </p:nvSpPr>
        <p:spPr>
          <a:xfrm xmlns:a="http://schemas.openxmlformats.org/drawingml/2006/main">
            <a:off x="6381750" y="2019300"/>
            <a:ext cx="2247900" cy="0"/>
          </a:xfrm>
          <a:prstGeom xmlns:a="http://schemas.openxmlformats.org/drawingml/2006/main" prst="line">
            <a:avLst/>
          </a:prstGeom>
          <a:noFill xmlns:a="http://schemas.openxmlformats.org/drawingml/2006/main"/>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17FC5081-960D-49E4-8F6C-80588FB63F14}"/>
              </a:ext>
            </a:extLst>
          </p:cNvPr>
          <p:cNvSpPr>
            <a:spLocks xmlns:a="http://schemas.openxmlformats.org/drawingml/2006/main" noGrp="1"/>
          </p:cNvSpPr>
          <p:nvPr/>
        </p:nvSpPr>
        <p:spPr>
          <a:xfrm xmlns:a="http://schemas.openxmlformats.org/drawingml/2006/main">
            <a:off x="64008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Explicit HVAC and energy structure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Transparent assumptions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Calibration can be labor intensive</a:t>
            </a:r>
          </a:p>
        </p:txBody>
      </p:sp>
      <p:sp>
        <p:nvSpPr>
          <p:cNvPr id="17" name="">
            <a:extLst xmlns:a="http://schemas.openxmlformats.org/drawingml/2006/main">
              <a:ext uri="{FF2B5EF4-FFF2-40B4-BE49-F238E27FC236}">
                <a16:creationId xmlns:a16="http://schemas.microsoft.com/office/drawing/2014/main" id="{CEAED367-DA2C-4E07-99C9-49BF702B3198}"/>
              </a:ext>
            </a:extLst>
          </p:cNvPr>
          <p:cNvSpPr>
            <a:spLocks xmlns:a="http://schemas.openxmlformats.org/drawingml/2006/main" noGrp="1"/>
          </p:cNvSpPr>
          <p:nvPr/>
        </p:nvSpPr>
        <p:spPr>
          <a:xfrm xmlns:a="http://schemas.openxmlformats.org/drawingml/2006/main">
            <a:off x="65341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component fidelity</a:t>
            </a:r>
          </a:p>
        </p:txBody>
      </p:sp>
      <p:sp>
        <p:nvSpPr>
          <p:cNvPr id="18" name="">
            <a:extLst xmlns:a="http://schemas.openxmlformats.org/drawingml/2006/main">
              <a:ext uri="{FF2B5EF4-FFF2-40B4-BE49-F238E27FC236}">
                <a16:creationId xmlns:a16="http://schemas.microsoft.com/office/drawing/2014/main" id="{60EFDBB5-8573-41C4-AB35-F7291AF89ABE}"/>
              </a:ext>
            </a:extLst>
          </p:cNvPr>
          <p:cNvSpPr>
            <a:spLocks xmlns:a="http://schemas.openxmlformats.org/drawingml/2006/main" noGrp="1"/>
          </p:cNvSpPr>
          <p:nvPr/>
        </p:nvSpPr>
        <p:spPr>
          <a:xfrm xmlns:a="http://schemas.openxmlformats.org/drawingml/2006/main">
            <a:off x="91440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B85246"/>
                </a:solidFill>
                <a:latin typeface="Arimo"/>
                <a:ea typeface="Arimo"/>
                <a:cs typeface="Arimo"/>
              </a:defRPr>
            </a:pPr>
            <a:r>
              <a:rPr sz="1350" b="1" i="0">
                <a:solidFill>
                  <a:srgbClr val="B85246"/>
                </a:solidFill>
                <a:latin typeface="Arimo"/>
                <a:ea typeface="Arimo"/>
                <a:cs typeface="Arimo"/>
              </a:rPr>
              <a:t>HYBRID</a:t>
            </a:r>
          </a:p>
        </p:txBody>
      </p:sp>
      <p:sp>
        <p:nvSpPr>
          <p:cNvPr id="19" name="">
            <a:extLst xmlns:a="http://schemas.openxmlformats.org/drawingml/2006/main">
              <a:ext uri="{FF2B5EF4-FFF2-40B4-BE49-F238E27FC236}">
                <a16:creationId xmlns:a16="http://schemas.microsoft.com/office/drawing/2014/main" id="{4E157465-5D00-464B-9B6D-3767F7E741FA}"/>
              </a:ext>
            </a:extLst>
          </p:cNvPr>
          <p:cNvSpPr>
            <a:spLocks xmlns:a="http://schemas.openxmlformats.org/drawingml/2006/main" noGrp="1"/>
          </p:cNvSpPr>
          <p:nvPr/>
        </p:nvSpPr>
        <p:spPr>
          <a:xfrm xmlns:a="http://schemas.openxmlformats.org/drawingml/2006/main">
            <a:off x="9258300" y="2019300"/>
            <a:ext cx="2247900" cy="0"/>
          </a:xfrm>
          <a:prstGeom xmlns:a="http://schemas.openxmlformats.org/drawingml/2006/main" prst="line">
            <a:avLst/>
          </a:prstGeom>
          <a:noFill xmlns:a="http://schemas.openxmlformats.org/drawingml/2006/main"/>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EF4614E4-F248-4F23-AA2A-60F188437FD8}"/>
              </a:ext>
            </a:extLst>
          </p:cNvPr>
          <p:cNvSpPr>
            <a:spLocks xmlns:a="http://schemas.openxmlformats.org/drawingml/2006/main" noGrp="1"/>
          </p:cNvSpPr>
          <p:nvPr/>
        </p:nvSpPr>
        <p:spPr>
          <a:xfrm xmlns:a="http://schemas.openxmlformats.org/drawingml/2006/main">
            <a:off x="92773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Physical constraints plus learned residual</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Balances structure and fit</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More integration complexity</a:t>
            </a:r>
          </a:p>
        </p:txBody>
      </p:sp>
      <p:sp>
        <p:nvSpPr>
          <p:cNvPr id="21" name="">
            <a:extLst xmlns:a="http://schemas.openxmlformats.org/drawingml/2006/main">
              <a:ext uri="{FF2B5EF4-FFF2-40B4-BE49-F238E27FC236}">
                <a16:creationId xmlns:a16="http://schemas.microsoft.com/office/drawing/2014/main" id="{C6BAC0C1-9859-4A0B-872C-5C0C1C905AF5}"/>
              </a:ext>
            </a:extLst>
          </p:cNvPr>
          <p:cNvSpPr>
            <a:spLocks xmlns:a="http://schemas.openxmlformats.org/drawingml/2006/main" noGrp="1"/>
          </p:cNvSpPr>
          <p:nvPr/>
        </p:nvSpPr>
        <p:spPr>
          <a:xfrm xmlns:a="http://schemas.openxmlformats.org/drawingml/2006/main">
            <a:off x="94107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candidate end state</a:t>
            </a:r>
          </a:p>
        </p:txBody>
      </p:sp>
      <p:sp>
        <p:nvSpPr>
          <p:cNvPr id="22" name="">
            <a:extLst xmlns:a="http://schemas.openxmlformats.org/drawingml/2006/main">
              <a:ext uri="{FF2B5EF4-FFF2-40B4-BE49-F238E27FC236}">
                <a16:creationId xmlns:a16="http://schemas.microsoft.com/office/drawing/2014/main" id="{A3161084-4DA0-4C71-8534-A8CE0BE3FBBD}"/>
              </a:ext>
            </a:extLst>
          </p:cNvPr>
          <p:cNvSpPr>
            <a:spLocks xmlns:a="http://schemas.openxmlformats.org/drawingml/2006/main" noGrp="1"/>
          </p:cNvSpPr>
          <p:nvPr/>
        </p:nvSpPr>
        <p:spPr>
          <a:xfrm xmlns:a="http://schemas.openxmlformats.org/drawingml/2006/main">
            <a:off x="2286000" y="5715000"/>
            <a:ext cx="7620000" cy="457200"/>
          </a:xfrm>
          <a:prstGeom xmlns:a="http://schemas.openxmlformats.org/drawingml/2006/main" prst="roundRect">
            <a:avLst>
              <a:gd name="adj" fmla="val 3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1984"/>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Select the simplest engine that passes the agreed validation gates</a:t>
            </a:r>
          </a:p>
        </p:txBody>
      </p:sp>
    </p:spTree>
    <p:extLst>
      <p:ext uri="{BB962C8B-B14F-4D97-AF65-F5344CB8AC3E}">
        <p14:creationId xmlns:p14="http://schemas.microsoft.com/office/powerpoint/2010/main" val="1199636937"/>
      </p:ext>
    </p:extLst>
  </p:cSld>
</p:sld>
</file>

<file path=ppt/slides/slide1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02ADF76-8D9D-4B81-B7F1-55BC91BA253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669E851-E2D1-47FC-9134-F9340570C57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Established simulation foundations</a:t>
            </a:r>
          </a:p>
        </p:txBody>
      </p:sp>
      <p:sp>
        <p:nvSpPr>
          <p:cNvPr id="3" name="">
            <a:extLst xmlns:a="http://schemas.openxmlformats.org/drawingml/2006/main">
              <a:ext uri="{FF2B5EF4-FFF2-40B4-BE49-F238E27FC236}">
                <a16:creationId xmlns:a16="http://schemas.microsoft.com/office/drawing/2014/main" id="{99A3BEDB-7C4D-49D6-88DB-A7E309E694C4}"/>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proposal applies mature testing patterns to a unique biome</a:t>
            </a:r>
          </a:p>
        </p:txBody>
      </p:sp>
      <p:sp>
        <p:nvSpPr>
          <p:cNvPr id="4" name="">
            <a:extLst xmlns:a="http://schemas.openxmlformats.org/drawingml/2006/main">
              <a:ext uri="{FF2B5EF4-FFF2-40B4-BE49-F238E27FC236}">
                <a16:creationId xmlns:a16="http://schemas.microsoft.com/office/drawing/2014/main" id="{B71066DA-1C52-4287-8573-F0955F84392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E54BE37C-2547-4ECA-A46F-A0953881A571}"/>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12</a:t>
            </a:r>
          </a:p>
        </p:txBody>
      </p:sp>
      <p:sp>
        <p:nvSpPr>
          <p:cNvPr id="6" name="">
            <a:extLst xmlns:a="http://schemas.openxmlformats.org/drawingml/2006/main">
              <a:ext uri="{FF2B5EF4-FFF2-40B4-BE49-F238E27FC236}">
                <a16:creationId xmlns:a16="http://schemas.microsoft.com/office/drawing/2014/main" id="{2DF4AAD0-BBB2-4CB2-A981-F87CCD7393FE}"/>
              </a:ext>
            </a:extLst>
          </p:cNvPr>
          <p:cNvSpPr>
            <a:spLocks xmlns:a="http://schemas.openxmlformats.org/drawingml/2006/main" noGrp="1"/>
          </p:cNvSpPr>
          <p:nvPr/>
        </p:nvSpPr>
        <p:spPr>
          <a:xfrm xmlns:a="http://schemas.openxmlformats.org/drawingml/2006/main">
            <a:off x="1181100" y="3162300"/>
            <a:ext cx="98107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7B3CE5A9-E794-404C-B0E9-96DD6B096A2E}"/>
              </a:ext>
            </a:extLst>
          </p:cNvPr>
          <p:cNvSpPr>
            <a:spLocks xmlns:a="http://schemas.openxmlformats.org/drawingml/2006/main" noGrp="1"/>
          </p:cNvSpPr>
          <p:nvPr/>
        </p:nvSpPr>
        <p:spPr>
          <a:xfrm xmlns:a="http://schemas.openxmlformats.org/drawingml/2006/main">
            <a:off x="16192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BA1F2E3B-6633-4B86-B9B5-01E9BF947C25}"/>
              </a:ext>
            </a:extLst>
          </p:cNvPr>
          <p:cNvSpPr>
            <a:spLocks xmlns:a="http://schemas.openxmlformats.org/drawingml/2006/main" noGrp="1"/>
          </p:cNvSpPr>
          <p:nvPr/>
        </p:nvSpPr>
        <p:spPr>
          <a:xfrm xmlns:a="http://schemas.openxmlformats.org/drawingml/2006/main">
            <a:off x="16192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a:t>
            </a:r>
          </a:p>
        </p:txBody>
      </p:sp>
      <p:sp>
        <p:nvSpPr>
          <p:cNvPr id="9" name="">
            <a:extLst xmlns:a="http://schemas.openxmlformats.org/drawingml/2006/main">
              <a:ext uri="{FF2B5EF4-FFF2-40B4-BE49-F238E27FC236}">
                <a16:creationId xmlns:a16="http://schemas.microsoft.com/office/drawing/2014/main" id="{38AA3DCC-2DCB-4AC5-816E-142505CB6168}"/>
              </a:ext>
            </a:extLst>
          </p:cNvPr>
          <p:cNvSpPr>
            <a:spLocks xmlns:a="http://schemas.openxmlformats.org/drawingml/2006/main" noGrp="1"/>
          </p:cNvSpPr>
          <p:nvPr/>
        </p:nvSpPr>
        <p:spPr>
          <a:xfrm xmlns:a="http://schemas.openxmlformats.org/drawingml/2006/main">
            <a:off x="9144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BOPTEST</a:t>
            </a:r>
          </a:p>
        </p:txBody>
      </p:sp>
      <p:sp>
        <p:nvSpPr>
          <p:cNvPr id="10" name="">
            <a:extLst xmlns:a="http://schemas.openxmlformats.org/drawingml/2006/main">
              <a:ext uri="{FF2B5EF4-FFF2-40B4-BE49-F238E27FC236}">
                <a16:creationId xmlns:a16="http://schemas.microsoft.com/office/drawing/2014/main" id="{262E75D6-C438-4A45-B594-C20587DC98BB}"/>
              </a:ext>
            </a:extLst>
          </p:cNvPr>
          <p:cNvSpPr>
            <a:spLocks xmlns:a="http://schemas.openxmlformats.org/drawingml/2006/main" noGrp="1"/>
          </p:cNvSpPr>
          <p:nvPr/>
        </p:nvSpPr>
        <p:spPr>
          <a:xfrm xmlns:a="http://schemas.openxmlformats.org/drawingml/2006/main">
            <a:off x="9144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controller API</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KPIs</a:t>
            </a:r>
          </a:p>
        </p:txBody>
      </p:sp>
      <p:sp>
        <p:nvSpPr>
          <p:cNvPr id="11" name="">
            <a:extLst xmlns:a="http://schemas.openxmlformats.org/drawingml/2006/main">
              <a:ext uri="{FF2B5EF4-FFF2-40B4-BE49-F238E27FC236}">
                <a16:creationId xmlns:a16="http://schemas.microsoft.com/office/drawing/2014/main" id="{03AC2B78-24FF-4643-8270-5084124CAE13}"/>
              </a:ext>
            </a:extLst>
          </p:cNvPr>
          <p:cNvSpPr>
            <a:spLocks xmlns:a="http://schemas.openxmlformats.org/drawingml/2006/main" noGrp="1"/>
          </p:cNvSpPr>
          <p:nvPr/>
        </p:nvSpPr>
        <p:spPr>
          <a:xfrm xmlns:a="http://schemas.openxmlformats.org/drawingml/2006/main">
            <a:off x="44005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E051AB19-4F9A-459F-8A88-B0C29942F36B}"/>
              </a:ext>
            </a:extLst>
          </p:cNvPr>
          <p:cNvSpPr>
            <a:spLocks xmlns:a="http://schemas.openxmlformats.org/drawingml/2006/main" noGrp="1"/>
          </p:cNvSpPr>
          <p:nvPr/>
        </p:nvSpPr>
        <p:spPr>
          <a:xfrm xmlns:a="http://schemas.openxmlformats.org/drawingml/2006/main">
            <a:off x="44005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30AFC2"/>
                </a:solidFill>
                <a:latin typeface="Arimo"/>
                <a:ea typeface="Arimo"/>
                <a:cs typeface="Arimo"/>
              </a:defRPr>
            </a:pPr>
            <a:r>
              <a:rPr sz="2250" b="1" i="0">
                <a:solidFill>
                  <a:srgbClr val="30AFC2"/>
                </a:solidFill>
                <a:latin typeface="Arimo"/>
                <a:ea typeface="Arimo"/>
                <a:cs typeface="Arimo"/>
              </a:rPr>
              <a:t>2</a:t>
            </a:r>
          </a:p>
        </p:txBody>
      </p:sp>
      <p:sp>
        <p:nvSpPr>
          <p:cNvPr id="13" name="">
            <a:extLst xmlns:a="http://schemas.openxmlformats.org/drawingml/2006/main">
              <a:ext uri="{FF2B5EF4-FFF2-40B4-BE49-F238E27FC236}">
                <a16:creationId xmlns:a16="http://schemas.microsoft.com/office/drawing/2014/main" id="{8E133205-E76D-47F8-94FF-9B54BE3C65F6}"/>
              </a:ext>
            </a:extLst>
          </p:cNvPr>
          <p:cNvSpPr>
            <a:spLocks xmlns:a="http://schemas.openxmlformats.org/drawingml/2006/main" noGrp="1"/>
          </p:cNvSpPr>
          <p:nvPr/>
        </p:nvSpPr>
        <p:spPr>
          <a:xfrm xmlns:a="http://schemas.openxmlformats.org/drawingml/2006/main">
            <a:off x="36957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EnergyPlus +</a:t>
            </a:r>
          </a:p>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Modelica</a:t>
            </a:r>
          </a:p>
        </p:txBody>
      </p:sp>
      <p:sp>
        <p:nvSpPr>
          <p:cNvPr id="14" name="">
            <a:extLst xmlns:a="http://schemas.openxmlformats.org/drawingml/2006/main">
              <a:ext uri="{FF2B5EF4-FFF2-40B4-BE49-F238E27FC236}">
                <a16:creationId xmlns:a16="http://schemas.microsoft.com/office/drawing/2014/main" id="{E5C2EF58-5090-4A23-8165-7395DA65679B}"/>
              </a:ext>
            </a:extLst>
          </p:cNvPr>
          <p:cNvSpPr>
            <a:spLocks xmlns:a="http://schemas.openxmlformats.org/drawingml/2006/main" noGrp="1"/>
          </p:cNvSpPr>
          <p:nvPr/>
        </p:nvSpPr>
        <p:spPr>
          <a:xfrm xmlns:a="http://schemas.openxmlformats.org/drawingml/2006/main">
            <a:off x="36957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dynamic HVAC</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buildings</a:t>
            </a:r>
          </a:p>
        </p:txBody>
      </p:sp>
      <p:sp>
        <p:nvSpPr>
          <p:cNvPr id="15" name="">
            <a:extLst xmlns:a="http://schemas.openxmlformats.org/drawingml/2006/main">
              <a:ext uri="{FF2B5EF4-FFF2-40B4-BE49-F238E27FC236}">
                <a16:creationId xmlns:a16="http://schemas.microsoft.com/office/drawing/2014/main" id="{2DC566E6-4C85-4B1A-8B15-A7FEC9E02DF1}"/>
              </a:ext>
            </a:extLst>
          </p:cNvPr>
          <p:cNvSpPr>
            <a:spLocks xmlns:a="http://schemas.openxmlformats.org/drawingml/2006/main" noGrp="1"/>
          </p:cNvSpPr>
          <p:nvPr/>
        </p:nvSpPr>
        <p:spPr>
          <a:xfrm xmlns:a="http://schemas.openxmlformats.org/drawingml/2006/main">
            <a:off x="71818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7047BE91-F106-471E-B4E0-C0C54F0632F8}"/>
              </a:ext>
            </a:extLst>
          </p:cNvPr>
          <p:cNvSpPr>
            <a:spLocks xmlns:a="http://schemas.openxmlformats.org/drawingml/2006/main" noGrp="1"/>
          </p:cNvSpPr>
          <p:nvPr/>
        </p:nvSpPr>
        <p:spPr>
          <a:xfrm xmlns:a="http://schemas.openxmlformats.org/drawingml/2006/main">
            <a:off x="71818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3</a:t>
            </a:r>
          </a:p>
        </p:txBody>
      </p:sp>
      <p:sp>
        <p:nvSpPr>
          <p:cNvPr id="17" name="">
            <a:extLst xmlns:a="http://schemas.openxmlformats.org/drawingml/2006/main">
              <a:ext uri="{FF2B5EF4-FFF2-40B4-BE49-F238E27FC236}">
                <a16:creationId xmlns:a16="http://schemas.microsoft.com/office/drawing/2014/main" id="{2AAA7707-B448-4BDD-B5FA-0F550FC905C0}"/>
              </a:ext>
            </a:extLst>
          </p:cNvPr>
          <p:cNvSpPr>
            <a:spLocks xmlns:a="http://schemas.openxmlformats.org/drawingml/2006/main" noGrp="1"/>
          </p:cNvSpPr>
          <p:nvPr/>
        </p:nvSpPr>
        <p:spPr>
          <a:xfrm xmlns:a="http://schemas.openxmlformats.org/drawingml/2006/main">
            <a:off x="64770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FMI / FMU</a:t>
            </a:r>
          </a:p>
        </p:txBody>
      </p:sp>
      <p:sp>
        <p:nvSpPr>
          <p:cNvPr id="18" name="">
            <a:extLst xmlns:a="http://schemas.openxmlformats.org/drawingml/2006/main">
              <a:ext uri="{FF2B5EF4-FFF2-40B4-BE49-F238E27FC236}">
                <a16:creationId xmlns:a16="http://schemas.microsoft.com/office/drawing/2014/main" id="{0318BFA5-6338-4F5F-98E8-670D1A82DB31}"/>
              </a:ext>
            </a:extLst>
          </p:cNvPr>
          <p:cNvSpPr>
            <a:spLocks xmlns:a="http://schemas.openxmlformats.org/drawingml/2006/main" noGrp="1"/>
          </p:cNvSpPr>
          <p:nvPr/>
        </p:nvSpPr>
        <p:spPr>
          <a:xfrm xmlns:a="http://schemas.openxmlformats.org/drawingml/2006/main">
            <a:off x="64770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portable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interfaces</a:t>
            </a:r>
          </a:p>
        </p:txBody>
      </p:sp>
      <p:sp>
        <p:nvSpPr>
          <p:cNvPr id="19" name="">
            <a:extLst xmlns:a="http://schemas.openxmlformats.org/drawingml/2006/main">
              <a:ext uri="{FF2B5EF4-FFF2-40B4-BE49-F238E27FC236}">
                <a16:creationId xmlns:a16="http://schemas.microsoft.com/office/drawing/2014/main" id="{B5FAC001-48F7-4276-8603-9A5525220D38}"/>
              </a:ext>
            </a:extLst>
          </p:cNvPr>
          <p:cNvSpPr>
            <a:spLocks xmlns:a="http://schemas.openxmlformats.org/drawingml/2006/main" noGrp="1"/>
          </p:cNvSpPr>
          <p:nvPr/>
        </p:nvSpPr>
        <p:spPr>
          <a:xfrm xmlns:a="http://schemas.openxmlformats.org/drawingml/2006/main">
            <a:off x="99631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4A52573E-12CE-4E98-A553-44D9C455F2CA}"/>
              </a:ext>
            </a:extLst>
          </p:cNvPr>
          <p:cNvSpPr>
            <a:spLocks xmlns:a="http://schemas.openxmlformats.org/drawingml/2006/main" noGrp="1"/>
          </p:cNvSpPr>
          <p:nvPr/>
        </p:nvSpPr>
        <p:spPr>
          <a:xfrm xmlns:a="http://schemas.openxmlformats.org/drawingml/2006/main">
            <a:off x="99631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B85246"/>
                </a:solidFill>
                <a:latin typeface="Arimo"/>
                <a:ea typeface="Arimo"/>
                <a:cs typeface="Arimo"/>
              </a:defRPr>
            </a:pPr>
            <a:r>
              <a:rPr sz="2250" b="1" i="0">
                <a:solidFill>
                  <a:srgbClr val="B85246"/>
                </a:solidFill>
                <a:latin typeface="Arimo"/>
                <a:ea typeface="Arimo"/>
                <a:cs typeface="Arimo"/>
              </a:rPr>
              <a:t>4</a:t>
            </a:r>
          </a:p>
        </p:txBody>
      </p:sp>
      <p:sp>
        <p:nvSpPr>
          <p:cNvPr id="21" name="">
            <a:extLst xmlns:a="http://schemas.openxmlformats.org/drawingml/2006/main">
              <a:ext uri="{FF2B5EF4-FFF2-40B4-BE49-F238E27FC236}">
                <a16:creationId xmlns:a16="http://schemas.microsoft.com/office/drawing/2014/main" id="{116574F2-E14A-4593-8281-0FC223EE4068}"/>
              </a:ext>
            </a:extLst>
          </p:cNvPr>
          <p:cNvSpPr>
            <a:spLocks xmlns:a="http://schemas.openxmlformats.org/drawingml/2006/main" noGrp="1"/>
          </p:cNvSpPr>
          <p:nvPr/>
        </p:nvSpPr>
        <p:spPr>
          <a:xfrm xmlns:a="http://schemas.openxmlformats.org/drawingml/2006/main">
            <a:off x="92583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ASHRAE 140</a:t>
            </a:r>
          </a:p>
        </p:txBody>
      </p:sp>
      <p:sp>
        <p:nvSpPr>
          <p:cNvPr id="22" name="">
            <a:extLst xmlns:a="http://schemas.openxmlformats.org/drawingml/2006/main">
              <a:ext uri="{FF2B5EF4-FFF2-40B4-BE49-F238E27FC236}">
                <a16:creationId xmlns:a16="http://schemas.microsoft.com/office/drawing/2014/main" id="{9375228B-4D6F-4692-9C7E-1B4778FF71F3}"/>
              </a:ext>
            </a:extLst>
          </p:cNvPr>
          <p:cNvSpPr>
            <a:spLocks xmlns:a="http://schemas.openxmlformats.org/drawingml/2006/main" noGrp="1"/>
          </p:cNvSpPr>
          <p:nvPr/>
        </p:nvSpPr>
        <p:spPr>
          <a:xfrm xmlns:a="http://schemas.openxmlformats.org/drawingml/2006/main">
            <a:off x="92583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systematic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testing</a:t>
            </a:r>
          </a:p>
        </p:txBody>
      </p:sp>
      <p:sp>
        <p:nvSpPr>
          <p:cNvPr id="23" name="">
            <a:extLst xmlns:a="http://schemas.openxmlformats.org/drawingml/2006/main">
              <a:ext uri="{FF2B5EF4-FFF2-40B4-BE49-F238E27FC236}">
                <a16:creationId xmlns:a16="http://schemas.microsoft.com/office/drawing/2014/main" id="{DA5A223B-B892-4B59-BE40-6EA4D59491BC}"/>
              </a:ext>
            </a:extLst>
          </p:cNvPr>
          <p:cNvSpPr>
            <a:spLocks xmlns:a="http://schemas.openxmlformats.org/drawingml/2006/main" noGrp="1"/>
          </p:cNvSpPr>
          <p:nvPr/>
        </p:nvSpPr>
        <p:spPr>
          <a:xfrm xmlns:a="http://schemas.openxmlformats.org/drawingml/2006/main">
            <a:off x="1285875" y="5543550"/>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5E7068"/>
                </a:solidFill>
                <a:latin typeface="Arimo"/>
                <a:ea typeface="Arimo"/>
                <a:cs typeface="Arimo"/>
              </a:defRPr>
            </a:pPr>
            <a:r>
              <a:rPr sz="1650" b="1" i="0">
                <a:solidFill>
                  <a:srgbClr val="5E7068"/>
                </a:solidFill>
                <a:latin typeface="Arimo"/>
                <a:ea typeface="Arimo"/>
                <a:cs typeface="Arimo"/>
              </a:rPr>
              <a:t>These references support the engineering pattern. They do not certify the present app or remove RainForest-specific calibration.</a:t>
            </a:r>
          </a:p>
        </p:txBody>
      </p:sp>
    </p:spTree>
    <p:extLst>
      <p:ext uri="{BB962C8B-B14F-4D97-AF65-F5344CB8AC3E}">
        <p14:creationId xmlns:p14="http://schemas.microsoft.com/office/powerpoint/2010/main" val="1370347068"/>
      </p:ext>
    </p:extLst>
  </p:cSld>
</p:sld>
</file>

<file path=ppt/slides/slide1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774CA6E-904C-4304-80A6-24B94F31F00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5D42CB-B9B7-4911-9457-CC64884C1A4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Student learning through simulation</a:t>
            </a:r>
          </a:p>
        </p:txBody>
      </p:sp>
      <p:sp>
        <p:nvSpPr>
          <p:cNvPr id="3" name="">
            <a:extLst xmlns:a="http://schemas.openxmlformats.org/drawingml/2006/main">
              <a:ext uri="{FF2B5EF4-FFF2-40B4-BE49-F238E27FC236}">
                <a16:creationId xmlns:a16="http://schemas.microsoft.com/office/drawing/2014/main" id="{E2450D56-DE89-41DE-9D22-63A3B694983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Students test their projects and use the results to refine their designs</a:t>
            </a:r>
          </a:p>
        </p:txBody>
      </p:sp>
      <p:sp>
        <p:nvSpPr>
          <p:cNvPr id="4" name="">
            <a:extLst xmlns:a="http://schemas.openxmlformats.org/drawingml/2006/main">
              <a:ext uri="{FF2B5EF4-FFF2-40B4-BE49-F238E27FC236}">
                <a16:creationId xmlns:a16="http://schemas.microsoft.com/office/drawing/2014/main" id="{7DB7DD2C-3EE7-41FD-90A9-3FA2DB6CEAA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8F37E320-AF4E-4C32-BA91-F1E3695FBD7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13</a:t>
            </a:r>
          </a:p>
        </p:txBody>
      </p:sp>
      <p:sp>
        <p:nvSpPr>
          <p:cNvPr id="6" name="">
            <a:extLst xmlns:a="http://schemas.openxmlformats.org/drawingml/2006/main">
              <a:ext uri="{FF2B5EF4-FFF2-40B4-BE49-F238E27FC236}">
                <a16:creationId xmlns:a16="http://schemas.microsoft.com/office/drawing/2014/main" id="{5BF11154-DE4C-4D69-9F6C-A92402138BEE}"/>
              </a:ext>
            </a:extLst>
          </p:cNvPr>
          <p:cNvSpPr>
            <a:spLocks xmlns:a="http://schemas.openxmlformats.org/drawingml/2006/main" noGrp="1"/>
          </p:cNvSpPr>
          <p:nvPr/>
        </p:nvSpPr>
        <p:spPr>
          <a:xfrm xmlns:a="http://schemas.openxmlformats.org/drawingml/2006/main">
            <a:off x="666750" y="2047875"/>
            <a:ext cx="2095500" cy="952500"/>
          </a:xfrm>
          <a:prstGeom xmlns:a="http://schemas.openxmlformats.org/drawingml/2006/main" prst="roundRect">
            <a:avLst>
              <a:gd name="adj" fmla="val 16000"/>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Student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sp>
        <p:nvSpPr>
          <p:cNvPr id="7" name="">
            <a:extLst xmlns:a="http://schemas.openxmlformats.org/drawingml/2006/main">
              <a:ext uri="{FF2B5EF4-FFF2-40B4-BE49-F238E27FC236}">
                <a16:creationId xmlns:a16="http://schemas.microsoft.com/office/drawing/2014/main" id="{62BC3372-AD04-4F88-9D14-6DDE12D839FD}"/>
              </a:ext>
            </a:extLst>
          </p:cNvPr>
          <p:cNvSpPr>
            <a:spLocks xmlns:a="http://schemas.openxmlformats.org/drawingml/2006/main" noGrp="1"/>
          </p:cNvSpPr>
          <p:nvPr/>
        </p:nvSpPr>
        <p:spPr>
          <a:xfrm xmlns:a="http://schemas.openxmlformats.org/drawingml/2006/main">
            <a:off x="3381375" y="2047875"/>
            <a:ext cx="2286000" cy="952500"/>
          </a:xfrm>
          <a:prstGeom xmlns:a="http://schemas.openxmlformats.org/drawingml/2006/main" prst="roundRect">
            <a:avLst>
              <a:gd name="adj" fmla="val 16000"/>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Scenario</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testing</a:t>
            </a:r>
          </a:p>
        </p:txBody>
      </p:sp>
      <p:sp>
        <p:nvSpPr>
          <p:cNvPr id="8" name="">
            <a:extLst xmlns:a="http://schemas.openxmlformats.org/drawingml/2006/main">
              <a:ext uri="{FF2B5EF4-FFF2-40B4-BE49-F238E27FC236}">
                <a16:creationId xmlns:a16="http://schemas.microsoft.com/office/drawing/2014/main" id="{075D34D8-E922-4632-ACD4-D0BFAC540088}"/>
              </a:ext>
            </a:extLst>
          </p:cNvPr>
          <p:cNvSpPr>
            <a:spLocks xmlns:a="http://schemas.openxmlformats.org/drawingml/2006/main" noGrp="1"/>
          </p:cNvSpPr>
          <p:nvPr/>
        </p:nvSpPr>
        <p:spPr>
          <a:xfrm xmlns:a="http://schemas.openxmlformats.org/drawingml/2006/main">
            <a:off x="6334125" y="2047875"/>
            <a:ext cx="2095500" cy="952500"/>
          </a:xfrm>
          <a:prstGeom xmlns:a="http://schemas.openxmlformats.org/drawingml/2006/main" prst="roundRect">
            <a:avLst>
              <a:gd name="adj" fmla="val 16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Result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interpretation</a:t>
            </a:r>
          </a:p>
        </p:txBody>
      </p:sp>
      <p:sp>
        <p:nvSpPr>
          <p:cNvPr id="9" name="">
            <a:extLst xmlns:a="http://schemas.openxmlformats.org/drawingml/2006/main">
              <a:ext uri="{FF2B5EF4-FFF2-40B4-BE49-F238E27FC236}">
                <a16:creationId xmlns:a16="http://schemas.microsoft.com/office/drawing/2014/main" id="{40C560B0-A381-4F83-8A6D-8D5D512173E0}"/>
              </a:ext>
            </a:extLst>
          </p:cNvPr>
          <p:cNvSpPr>
            <a:spLocks xmlns:a="http://schemas.openxmlformats.org/drawingml/2006/main" noGrp="1"/>
          </p:cNvSpPr>
          <p:nvPr/>
        </p:nvSpPr>
        <p:spPr>
          <a:xfrm xmlns:a="http://schemas.openxmlformats.org/drawingml/2006/main">
            <a:off x="9096375" y="2047875"/>
            <a:ext cx="2095500" cy="952500"/>
          </a:xfrm>
          <a:prstGeom xmlns:a="http://schemas.openxmlformats.org/drawingml/2006/main" prst="roundRect">
            <a:avLst>
              <a:gd name="adj" fmla="val 16000"/>
            </a:avLst>
          </a:prstGeom>
          <a:solidFill xmlns:a="http://schemas.openxmlformats.org/drawingml/2006/main">
            <a:srgbClr val="EFE8F3"/>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Refined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762250" y="2524125"/>
            <a:ext cx="61912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566737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842962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3" name="">
            <a:extLst xmlns:a="http://schemas.openxmlformats.org/drawingml/2006/main">
              <a:ext uri="{FF2B5EF4-FFF2-40B4-BE49-F238E27FC236}">
                <a16:creationId xmlns:a16="http://schemas.microsoft.com/office/drawing/2014/main" id="{568D1CB8-C918-4A5E-AA53-F044C07D8D37}"/>
              </a:ext>
            </a:extLst>
          </p:cNvPr>
          <p:cNvSpPr>
            <a:spLocks xmlns:a="http://schemas.openxmlformats.org/drawingml/2006/main" noGrp="1"/>
          </p:cNvSpPr>
          <p:nvPr/>
        </p:nvSpPr>
        <p:spPr>
          <a:xfrm xmlns:a="http://schemas.openxmlformats.org/drawingml/2006/main">
            <a:off x="1238250" y="3933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86093B-3B58-4210-A83D-0338A615AC5F}"/>
              </a:ext>
            </a:extLst>
          </p:cNvPr>
          <p:cNvSpPr>
            <a:spLocks xmlns:a="http://schemas.openxmlformats.org/drawingml/2006/main" noGrp="1"/>
          </p:cNvSpPr>
          <p:nvPr/>
        </p:nvSpPr>
        <p:spPr>
          <a:xfrm xmlns:a="http://schemas.openxmlformats.org/drawingml/2006/main">
            <a:off x="1485900" y="38576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Practice experimental design and interpret model uncertainty</a:t>
            </a:r>
          </a:p>
        </p:txBody>
      </p:sp>
      <p:sp>
        <p:nvSpPr>
          <p:cNvPr id="15" name="">
            <a:extLst xmlns:a="http://schemas.openxmlformats.org/drawingml/2006/main">
              <a:ext uri="{FF2B5EF4-FFF2-40B4-BE49-F238E27FC236}">
                <a16:creationId xmlns:a16="http://schemas.microsoft.com/office/drawing/2014/main" id="{A4299A16-3EB9-4784-908D-AC52BF72248D}"/>
              </a:ext>
            </a:extLst>
          </p:cNvPr>
          <p:cNvSpPr>
            <a:spLocks xmlns:a="http://schemas.openxmlformats.org/drawingml/2006/main" noGrp="1"/>
          </p:cNvSpPr>
          <p:nvPr/>
        </p:nvSpPr>
        <p:spPr>
          <a:xfrm xmlns:a="http://schemas.openxmlformats.org/drawingml/2006/main">
            <a:off x="1238250" y="46005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10B05BC-DA22-4403-99EF-752F7921960C}"/>
              </a:ext>
            </a:extLst>
          </p:cNvPr>
          <p:cNvSpPr>
            <a:spLocks xmlns:a="http://schemas.openxmlformats.org/drawingml/2006/main" noGrp="1"/>
          </p:cNvSpPr>
          <p:nvPr/>
        </p:nvSpPr>
        <p:spPr>
          <a:xfrm xmlns:a="http://schemas.openxmlformats.org/drawingml/2006/main">
            <a:off x="1485900" y="452437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Use faculty feedback and versioned runs to improve project designs</a:t>
            </a:r>
          </a:p>
        </p:txBody>
      </p:sp>
      <p:sp>
        <p:nvSpPr>
          <p:cNvPr id="17" name="">
            <a:extLst xmlns:a="http://schemas.openxmlformats.org/drawingml/2006/main">
              <a:ext uri="{FF2B5EF4-FFF2-40B4-BE49-F238E27FC236}">
                <a16:creationId xmlns:a16="http://schemas.microsoft.com/office/drawing/2014/main" id="{F76502FF-6BE2-4C08-8B47-7B90BDE86A45}"/>
              </a:ext>
            </a:extLst>
          </p:cNvPr>
          <p:cNvSpPr>
            <a:spLocks xmlns:a="http://schemas.openxmlformats.org/drawingml/2006/main" noGrp="1"/>
          </p:cNvSpPr>
          <p:nvPr/>
        </p:nvSpPr>
        <p:spPr>
          <a:xfrm xmlns:a="http://schemas.openxmlformats.org/drawingml/2006/main">
            <a:off x="1238250" y="5267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3126DF1-F04B-4156-8B3C-E9ECFFF9D405}"/>
              </a:ext>
            </a:extLst>
          </p:cNvPr>
          <p:cNvSpPr>
            <a:spLocks xmlns:a="http://schemas.openxmlformats.org/drawingml/2006/main" noGrp="1"/>
          </p:cNvSpPr>
          <p:nvPr/>
        </p:nvSpPr>
        <p:spPr>
          <a:xfrm xmlns:a="http://schemas.openxmlformats.org/drawingml/2006/main">
            <a:off x="1485900" y="51911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Explore PID, MPC, RL, and other methods in an offline learning environment</a:t>
            </a:r>
          </a:p>
        </p:txBody>
      </p:sp>
    </p:spTree>
    <p:extLst>
      <p:ext uri="{BB962C8B-B14F-4D97-AF65-F5344CB8AC3E}">
        <p14:creationId xmlns:p14="http://schemas.microsoft.com/office/powerpoint/2010/main" val="1994937024"/>
      </p:ext>
    </p:extLst>
  </p:cSld>
</p:sld>
</file>

<file path=ppt/slides/slide1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CD4905-DF40-48BC-9C43-99798227C4C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F1F10F-0BE3-4BE4-84EC-30E172764697}"/>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Operational and economic value</a:t>
            </a:r>
          </a:p>
        </p:txBody>
      </p:sp>
      <p:sp>
        <p:nvSpPr>
          <p:cNvPr id="3" name="">
            <a:extLst xmlns:a="http://schemas.openxmlformats.org/drawingml/2006/main">
              <a:ext uri="{FF2B5EF4-FFF2-40B4-BE49-F238E27FC236}">
                <a16:creationId xmlns:a16="http://schemas.microsoft.com/office/drawing/2014/main" id="{A8CECB91-C8B4-444F-9FA2-25509C30796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Scenario comparisons support climate and energy research</a:t>
            </a:r>
          </a:p>
        </p:txBody>
      </p:sp>
      <p:sp>
        <p:nvSpPr>
          <p:cNvPr id="4" name="">
            <a:extLst xmlns:a="http://schemas.openxmlformats.org/drawingml/2006/main">
              <a:ext uri="{FF2B5EF4-FFF2-40B4-BE49-F238E27FC236}">
                <a16:creationId xmlns:a16="http://schemas.microsoft.com/office/drawing/2014/main" id="{85B96C29-7D05-4C03-9997-89E77CF1F6B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31A1ADA8-239D-4966-80AC-D4F48E831C5B}"/>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14</a:t>
            </a:r>
          </a:p>
        </p:txBody>
      </p:sp>
      <p:sp>
        <p:nvSpPr>
          <p:cNvPr id="6" name="">
            <a:extLst xmlns:a="http://schemas.openxmlformats.org/drawingml/2006/main">
              <a:ext uri="{FF2B5EF4-FFF2-40B4-BE49-F238E27FC236}">
                <a16:creationId xmlns:a16="http://schemas.microsoft.com/office/drawing/2014/main" id="{9F0A6B31-2668-427B-947C-2E649D50FA02}"/>
              </a:ext>
            </a:extLst>
          </p:cNvPr>
          <p:cNvSpPr>
            <a:spLocks xmlns:a="http://schemas.openxmlformats.org/drawingml/2006/main" noGrp="1"/>
          </p:cNvSpPr>
          <p:nvPr/>
        </p:nvSpPr>
        <p:spPr>
          <a:xfrm xmlns:a="http://schemas.openxmlformats.org/drawingml/2006/main">
            <a:off x="914400" y="1619250"/>
            <a:ext cx="1036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225" b="1" i="0">
                <a:solidFill>
                  <a:srgbClr val="167A55"/>
                </a:solidFill>
                <a:latin typeface="Arimo"/>
                <a:ea typeface="Arimo"/>
                <a:cs typeface="Arimo"/>
              </a:defRPr>
            </a:pPr>
            <a:r>
              <a:rPr sz="3225" b="1" i="0">
                <a:solidFill>
                  <a:srgbClr val="167A55"/>
                </a:solidFill>
                <a:latin typeface="Arimo"/>
                <a:ea typeface="Arimo"/>
                <a:cs typeface="Arimo"/>
              </a:rPr>
              <a:t>Energy-cost-saving potential</a:t>
            </a:r>
          </a:p>
        </p:txBody>
      </p:sp>
      <p:sp>
        <p:nvSpPr>
          <p:cNvPr id="7" name="">
            <a:extLst xmlns:a="http://schemas.openxmlformats.org/drawingml/2006/main">
              <a:ext uri="{FF2B5EF4-FFF2-40B4-BE49-F238E27FC236}">
                <a16:creationId xmlns:a16="http://schemas.microsoft.com/office/drawing/2014/main" id="{F81C6470-6BD1-4BA9-B3D1-1AF2D722AB00}"/>
              </a:ext>
            </a:extLst>
          </p:cNvPr>
          <p:cNvSpPr>
            <a:spLocks xmlns:a="http://schemas.openxmlformats.org/drawingml/2006/main" noGrp="1"/>
          </p:cNvSpPr>
          <p:nvPr/>
        </p:nvSpPr>
        <p:spPr>
          <a:xfrm xmlns:a="http://schemas.openxmlformats.org/drawingml/2006/main">
            <a:off x="2076450" y="2209800"/>
            <a:ext cx="8039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0" i="0">
                <a:solidFill>
                  <a:srgbClr val="5E7068"/>
                </a:solidFill>
                <a:latin typeface="Arimo"/>
                <a:ea typeface="Arimo"/>
                <a:cs typeface="Arimo"/>
              </a:defRPr>
            </a:pPr>
            <a:r>
              <a:rPr sz="1650" b="0" i="0">
                <a:solidFill>
                  <a:srgbClr val="5E7068"/>
                </a:solidFill>
                <a:latin typeface="Arimo"/>
                <a:ea typeface="Arimo"/>
                <a:cs typeface="Arimo"/>
              </a:rPr>
              <a:t>requires calibrated evidence before a percentage or dollar claim</a:t>
            </a:r>
          </a:p>
        </p:txBody>
      </p:sp>
      <p:sp>
        <p:nvSpPr>
          <p:cNvPr id="8" name="">
            <a:extLst xmlns:a="http://schemas.openxmlformats.org/drawingml/2006/main">
              <a:ext uri="{FF2B5EF4-FFF2-40B4-BE49-F238E27FC236}">
                <a16:creationId xmlns:a16="http://schemas.microsoft.com/office/drawing/2014/main" id="{95AF115F-B68B-4CE6-B7E7-DC19AF644B63}"/>
              </a:ext>
            </a:extLst>
          </p:cNvPr>
          <p:cNvSpPr>
            <a:spLocks xmlns:a="http://schemas.openxmlformats.org/drawingml/2006/main" noGrp="1"/>
          </p:cNvSpPr>
          <p:nvPr/>
        </p:nvSpPr>
        <p:spPr>
          <a:xfrm xmlns:a="http://schemas.openxmlformats.org/drawingml/2006/main">
            <a:off x="1047750" y="3143250"/>
            <a:ext cx="2667000" cy="1200150"/>
          </a:xfrm>
          <a:prstGeom xmlns:a="http://schemas.openxmlformats.org/drawingml/2006/main" prst="roundRect">
            <a:avLst>
              <a:gd name="adj" fmla="val 12698"/>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665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Protect required</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climate conditions</a:t>
            </a:r>
          </a:p>
        </p:txBody>
      </p:sp>
      <p:sp>
        <p:nvSpPr>
          <p:cNvPr id="9" name="">
            <a:extLst xmlns:a="http://schemas.openxmlformats.org/drawingml/2006/main">
              <a:ext uri="{FF2B5EF4-FFF2-40B4-BE49-F238E27FC236}">
                <a16:creationId xmlns:a16="http://schemas.microsoft.com/office/drawing/2014/main" id="{2EE4BE0F-B044-4FE7-9EE5-4C8BE4249E08}"/>
              </a:ext>
            </a:extLst>
          </p:cNvPr>
          <p:cNvSpPr>
            <a:spLocks xmlns:a="http://schemas.openxmlformats.org/drawingml/2006/main" noGrp="1"/>
          </p:cNvSpPr>
          <p:nvPr/>
        </p:nvSpPr>
        <p:spPr>
          <a:xfrm xmlns:a="http://schemas.openxmlformats.org/drawingml/2006/main">
            <a:off x="4762500" y="3143250"/>
            <a:ext cx="2667000" cy="1200150"/>
          </a:xfrm>
          <a:prstGeom xmlns:a="http://schemas.openxmlformats.org/drawingml/2006/main" prst="roundRect">
            <a:avLst>
              <a:gd name="adj" fmla="val 12698"/>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4084"/>
          </a:bodyPr>
          <a:lstStyle xmlns:a="http://schemas.openxmlformats.org/drawingml/2006/main"/>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Compare strategies</a:t>
            </a:r>
          </a:p>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under the same scenario</a:t>
            </a:r>
          </a:p>
        </p:txBody>
      </p:sp>
      <p:sp>
        <p:nvSpPr>
          <p:cNvPr id="10" name="">
            <a:extLst xmlns:a="http://schemas.openxmlformats.org/drawingml/2006/main">
              <a:ext uri="{FF2B5EF4-FFF2-40B4-BE49-F238E27FC236}">
                <a16:creationId xmlns:a16="http://schemas.microsoft.com/office/drawing/2014/main" id="{6C41B5FE-97E4-4028-81D1-41234FAED80B}"/>
              </a:ext>
            </a:extLst>
          </p:cNvPr>
          <p:cNvSpPr>
            <a:spLocks xmlns:a="http://schemas.openxmlformats.org/drawingml/2006/main" noGrp="1"/>
          </p:cNvSpPr>
          <p:nvPr/>
        </p:nvSpPr>
        <p:spPr>
          <a:xfrm xmlns:a="http://schemas.openxmlformats.org/drawingml/2006/main">
            <a:off x="8477250" y="3143250"/>
            <a:ext cx="2667000" cy="1200150"/>
          </a:xfrm>
          <a:prstGeom xmlns:a="http://schemas.openxmlformats.org/drawingml/2006/main" prst="roundRect">
            <a:avLst>
              <a:gd name="adj" fmla="val 12698"/>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638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Explore energy</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and equipment use</a:t>
            </a:r>
          </a:p>
        </p:txBody>
      </p:sp>
      <p:cxnSp>
        <p:nvCxnSpPr>
          <p:cNvPr id="24" name=""/>
          <p:cNvCxnSpPr>
            <a:stCxn xmlns:a="http://schemas.openxmlformats.org/drawingml/2006/main" id="8" idx="3"/>
            <a:endCxn xmlns:a="http://schemas.openxmlformats.org/drawingml/2006/main" id="9" idx="1"/>
          </p:cNvCxnSpPr>
          <p:nvPr/>
        </p:nvCxnSpPr>
        <p:spPr>
          <a:xfrm xmlns:a="http://schemas.openxmlformats.org/drawingml/2006/main">
            <a:off x="3714750" y="3743325"/>
            <a:ext cx="1047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5" name=""/>
          <p:cNvCxnSpPr>
            <a:stCxn xmlns:a="http://schemas.openxmlformats.org/drawingml/2006/main" id="9" idx="3"/>
            <a:endCxn xmlns:a="http://schemas.openxmlformats.org/drawingml/2006/main" id="10" idx="1"/>
          </p:cNvCxnSpPr>
          <p:nvPr/>
        </p:nvCxnSpPr>
        <p:spPr>
          <a:xfrm xmlns:a="http://schemas.openxmlformats.org/drawingml/2006/main">
            <a:off x="7429500" y="3743325"/>
            <a:ext cx="104775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3" name="">
            <a:extLst xmlns:a="http://schemas.openxmlformats.org/drawingml/2006/main">
              <a:ext uri="{FF2B5EF4-FFF2-40B4-BE49-F238E27FC236}">
                <a16:creationId xmlns:a16="http://schemas.microsoft.com/office/drawing/2014/main" id="{BE609062-5015-47F2-ADBD-5E4400475338}"/>
              </a:ext>
            </a:extLst>
          </p:cNvPr>
          <p:cNvSpPr>
            <a:spLocks xmlns:a="http://schemas.openxmlformats.org/drawingml/2006/main" noGrp="1"/>
          </p:cNvSpPr>
          <p:nvPr/>
        </p:nvSpPr>
        <p:spPr>
          <a:xfrm xmlns:a="http://schemas.openxmlformats.org/drawingml/2006/main">
            <a:off x="1476375" y="5238750"/>
            <a:ext cx="923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93"/>
          </a:bodyPr>
          <a:lstStyle xmlns:a="http://schemas.openxmlformats.org/drawingml/2006/main"/>
          <a:p xmlns:a="http://schemas.openxmlformats.org/drawingml/2006/main">
            <a:pPr algn="ctr">
              <a:lnSpc>
                <a:spcPct val="104000"/>
              </a:lnSpc>
              <a:buNone/>
              <a:defRPr sz="1725" b="1" i="0">
                <a:solidFill>
                  <a:srgbClr val="10251D"/>
                </a:solidFill>
                <a:latin typeface="Arimo"/>
                <a:ea typeface="Arimo"/>
                <a:cs typeface="Arimo"/>
              </a:defRPr>
            </a:pPr>
            <a:r>
              <a:rPr sz="1725" b="1" i="0">
                <a:solidFill>
                  <a:srgbClr val="10251D"/>
                </a:solidFill>
                <a:latin typeface="Arimo"/>
                <a:ea typeface="Arimo"/>
                <a:cs typeface="Arimo"/>
              </a:rPr>
              <a:t>Operational planning  /  focused field trials  /  grant evidence  /  reusable research benchmarks</a:t>
            </a:r>
          </a:p>
        </p:txBody>
      </p:sp>
    </p:spTree>
    <p:extLst>
      <p:ext uri="{BB962C8B-B14F-4D97-AF65-F5344CB8AC3E}">
        <p14:creationId xmlns:p14="http://schemas.microsoft.com/office/powerpoint/2010/main" val="1303721941"/>
      </p:ext>
    </p:extLst>
  </p:cSld>
</p:sld>
</file>

<file path=ppt/slides/slide1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17E151-E8EE-4A72-BECD-DE8597875A7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CAE2B87-5C2E-4BBF-B3B7-5C329EAB4B94}"/>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Sixteen-week Proof of Concept</a:t>
            </a:r>
          </a:p>
        </p:txBody>
      </p:sp>
      <p:sp>
        <p:nvSpPr>
          <p:cNvPr id="3" name="">
            <a:extLst xmlns:a="http://schemas.openxmlformats.org/drawingml/2006/main">
              <a:ext uri="{FF2B5EF4-FFF2-40B4-BE49-F238E27FC236}">
                <a16:creationId xmlns:a16="http://schemas.microsoft.com/office/drawing/2014/main" id="{7FF6EE0F-35F9-4C02-A990-2FFFFB941E1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ends with an evidence-based decision on Phase 2</a:t>
            </a:r>
          </a:p>
        </p:txBody>
      </p:sp>
      <p:sp>
        <p:nvSpPr>
          <p:cNvPr id="4" name="">
            <a:extLst xmlns:a="http://schemas.openxmlformats.org/drawingml/2006/main">
              <a:ext uri="{FF2B5EF4-FFF2-40B4-BE49-F238E27FC236}">
                <a16:creationId xmlns:a16="http://schemas.microsoft.com/office/drawing/2014/main" id="{50688057-B327-4A91-AAD7-8E47C22F8AE9}"/>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BF49FD5F-2F55-4C70-8F4B-FD53C6A66A9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15</a:t>
            </a:r>
          </a:p>
        </p:txBody>
      </p:sp>
      <p:sp>
        <p:nvSpPr>
          <p:cNvPr id="6" name="">
            <a:extLst xmlns:a="http://schemas.openxmlformats.org/drawingml/2006/main">
              <a:ext uri="{FF2B5EF4-FFF2-40B4-BE49-F238E27FC236}">
                <a16:creationId xmlns:a16="http://schemas.microsoft.com/office/drawing/2014/main" id="{CA8A513B-E100-404B-9CAE-D3529C36B628}"/>
              </a:ext>
            </a:extLst>
          </p:cNvPr>
          <p:cNvSpPr>
            <a:spLocks xmlns:a="http://schemas.openxmlformats.org/drawingml/2006/main" noGrp="1"/>
          </p:cNvSpPr>
          <p:nvPr/>
        </p:nvSpPr>
        <p:spPr>
          <a:xfrm xmlns:a="http://schemas.openxmlformats.org/drawingml/2006/main">
            <a:off x="1257300" y="2838450"/>
            <a:ext cx="96202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1D2740AE-02C1-4DD2-ADFA-5CA03C12E182}"/>
              </a:ext>
            </a:extLst>
          </p:cNvPr>
          <p:cNvSpPr>
            <a:spLocks xmlns:a="http://schemas.openxmlformats.org/drawingml/2006/main" noGrp="1"/>
          </p:cNvSpPr>
          <p:nvPr/>
        </p:nvSpPr>
        <p:spPr>
          <a:xfrm xmlns:a="http://schemas.openxmlformats.org/drawingml/2006/main">
            <a:off x="1314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90B0F75D-FA73-4B31-8C77-B4E4FCD082FF}"/>
              </a:ext>
            </a:extLst>
          </p:cNvPr>
          <p:cNvSpPr>
            <a:spLocks xmlns:a="http://schemas.openxmlformats.org/drawingml/2006/main" noGrp="1"/>
          </p:cNvSpPr>
          <p:nvPr/>
        </p:nvSpPr>
        <p:spPr>
          <a:xfrm xmlns:a="http://schemas.openxmlformats.org/drawingml/2006/main">
            <a:off x="1314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167A55"/>
                </a:solidFill>
                <a:latin typeface="Arimo"/>
                <a:ea typeface="Arimo"/>
                <a:cs typeface="Arimo"/>
              </a:defRPr>
            </a:pPr>
            <a:r>
              <a:rPr sz="2025" b="1" i="0">
                <a:solidFill>
                  <a:srgbClr val="167A55"/>
                </a:solidFill>
                <a:latin typeface="Arimo"/>
                <a:ea typeface="Arimo"/>
                <a:cs typeface="Arimo"/>
              </a:rPr>
              <a:t>01</a:t>
            </a:r>
          </a:p>
        </p:txBody>
      </p:sp>
      <p:sp>
        <p:nvSpPr>
          <p:cNvPr id="9" name="">
            <a:extLst xmlns:a="http://schemas.openxmlformats.org/drawingml/2006/main">
              <a:ext uri="{FF2B5EF4-FFF2-40B4-BE49-F238E27FC236}">
                <a16:creationId xmlns:a16="http://schemas.microsoft.com/office/drawing/2014/main" id="{93E65BE7-E0E5-4C9C-9542-81ABE8B82BE3}"/>
              </a:ext>
            </a:extLst>
          </p:cNvPr>
          <p:cNvSpPr>
            <a:spLocks xmlns:a="http://schemas.openxmlformats.org/drawingml/2006/main" noGrp="1"/>
          </p:cNvSpPr>
          <p:nvPr/>
        </p:nvSpPr>
        <p:spPr>
          <a:xfrm xmlns:a="http://schemas.openxmlformats.org/drawingml/2006/main">
            <a:off x="666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167A55"/>
                </a:solidFill>
                <a:latin typeface="Arimo"/>
                <a:ea typeface="Arimo"/>
                <a:cs typeface="Arimo"/>
              </a:defRPr>
            </a:pPr>
            <a:r>
              <a:rPr sz="1275" b="1" i="0">
                <a:solidFill>
                  <a:srgbClr val="167A55"/>
                </a:solidFill>
                <a:latin typeface="Arimo"/>
                <a:ea typeface="Arimo"/>
                <a:cs typeface="Arimo"/>
              </a:rPr>
              <a:t>WEEKS 1-4</a:t>
            </a:r>
          </a:p>
        </p:txBody>
      </p:sp>
      <p:sp>
        <p:nvSpPr>
          <p:cNvPr id="10" name="">
            <a:extLst xmlns:a="http://schemas.openxmlformats.org/drawingml/2006/main">
              <a:ext uri="{FF2B5EF4-FFF2-40B4-BE49-F238E27FC236}">
                <a16:creationId xmlns:a16="http://schemas.microsoft.com/office/drawing/2014/main" id="{151D9B37-F421-4CF1-87D0-6629A42FDB68}"/>
              </a:ext>
            </a:extLst>
          </p:cNvPr>
          <p:cNvSpPr>
            <a:spLocks xmlns:a="http://schemas.openxmlformats.org/drawingml/2006/main" noGrp="1"/>
          </p:cNvSpPr>
          <p:nvPr/>
        </p:nvSpPr>
        <p:spPr>
          <a:xfrm xmlns:a="http://schemas.openxmlformats.org/drawingml/2006/main">
            <a:off x="666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49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Data synchronization</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constraints</a:t>
            </a:r>
          </a:p>
        </p:txBody>
      </p:sp>
      <p:sp>
        <p:nvSpPr>
          <p:cNvPr id="11" name="">
            <a:extLst xmlns:a="http://schemas.openxmlformats.org/drawingml/2006/main">
              <a:ext uri="{FF2B5EF4-FFF2-40B4-BE49-F238E27FC236}">
                <a16:creationId xmlns:a16="http://schemas.microsoft.com/office/drawing/2014/main" id="{42E0BCE8-2F19-4942-997A-FEFBF16DDE8F}"/>
              </a:ext>
            </a:extLst>
          </p:cNvPr>
          <p:cNvSpPr>
            <a:spLocks xmlns:a="http://schemas.openxmlformats.org/drawingml/2006/main" noGrp="1"/>
          </p:cNvSpPr>
          <p:nvPr/>
        </p:nvSpPr>
        <p:spPr>
          <a:xfrm xmlns:a="http://schemas.openxmlformats.org/drawingml/2006/main">
            <a:off x="4171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292E794F-382E-4421-B151-AF4A80456417}"/>
              </a:ext>
            </a:extLst>
          </p:cNvPr>
          <p:cNvSpPr>
            <a:spLocks xmlns:a="http://schemas.openxmlformats.org/drawingml/2006/main" noGrp="1"/>
          </p:cNvSpPr>
          <p:nvPr/>
        </p:nvSpPr>
        <p:spPr>
          <a:xfrm xmlns:a="http://schemas.openxmlformats.org/drawingml/2006/main">
            <a:off x="4171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30AFC2"/>
                </a:solidFill>
                <a:latin typeface="Arimo"/>
                <a:ea typeface="Arimo"/>
                <a:cs typeface="Arimo"/>
              </a:defRPr>
            </a:pPr>
            <a:r>
              <a:rPr sz="2025" b="1" i="0">
                <a:solidFill>
                  <a:srgbClr val="30AFC2"/>
                </a:solidFill>
                <a:latin typeface="Arimo"/>
                <a:ea typeface="Arimo"/>
                <a:cs typeface="Arimo"/>
              </a:rPr>
              <a:t>02</a:t>
            </a:r>
          </a:p>
        </p:txBody>
      </p:sp>
      <p:sp>
        <p:nvSpPr>
          <p:cNvPr id="13" name="">
            <a:extLst xmlns:a="http://schemas.openxmlformats.org/drawingml/2006/main">
              <a:ext uri="{FF2B5EF4-FFF2-40B4-BE49-F238E27FC236}">
                <a16:creationId xmlns:a16="http://schemas.microsoft.com/office/drawing/2014/main" id="{B95F2A81-85D6-4C93-8C4E-AF72FB0829EE}"/>
              </a:ext>
            </a:extLst>
          </p:cNvPr>
          <p:cNvSpPr>
            <a:spLocks xmlns:a="http://schemas.openxmlformats.org/drawingml/2006/main" noGrp="1"/>
          </p:cNvSpPr>
          <p:nvPr/>
        </p:nvSpPr>
        <p:spPr>
          <a:xfrm xmlns:a="http://schemas.openxmlformats.org/drawingml/2006/main">
            <a:off x="3524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30AFC2"/>
                </a:solidFill>
                <a:latin typeface="Arimo"/>
                <a:ea typeface="Arimo"/>
                <a:cs typeface="Arimo"/>
              </a:defRPr>
            </a:pPr>
            <a:r>
              <a:rPr sz="1275" b="1" i="0">
                <a:solidFill>
                  <a:srgbClr val="30AFC2"/>
                </a:solidFill>
                <a:latin typeface="Arimo"/>
                <a:ea typeface="Arimo"/>
                <a:cs typeface="Arimo"/>
              </a:rPr>
              <a:t>WEEKS 5-8</a:t>
            </a:r>
          </a:p>
        </p:txBody>
      </p:sp>
      <p:sp>
        <p:nvSpPr>
          <p:cNvPr id="14" name="">
            <a:extLst xmlns:a="http://schemas.openxmlformats.org/drawingml/2006/main">
              <a:ext uri="{FF2B5EF4-FFF2-40B4-BE49-F238E27FC236}">
                <a16:creationId xmlns:a16="http://schemas.microsoft.com/office/drawing/2014/main" id="{F3B9FCAC-C0D9-4A47-A013-E4989FA41E89}"/>
              </a:ext>
            </a:extLst>
          </p:cNvPr>
          <p:cNvSpPr>
            <a:spLocks xmlns:a="http://schemas.openxmlformats.org/drawingml/2006/main" noGrp="1"/>
          </p:cNvSpPr>
          <p:nvPr/>
        </p:nvSpPr>
        <p:spPr>
          <a:xfrm xmlns:a="http://schemas.openxmlformats.org/drawingml/2006/main">
            <a:off x="3524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Engine benchmark</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uncertainty</a:t>
            </a:r>
          </a:p>
        </p:txBody>
      </p:sp>
      <p:sp>
        <p:nvSpPr>
          <p:cNvPr id="15" name="">
            <a:extLst xmlns:a="http://schemas.openxmlformats.org/drawingml/2006/main">
              <a:ext uri="{FF2B5EF4-FFF2-40B4-BE49-F238E27FC236}">
                <a16:creationId xmlns:a16="http://schemas.microsoft.com/office/drawing/2014/main" id="{E3AA35B5-CA43-4B73-B97F-A12E4CAFBF97}"/>
              </a:ext>
            </a:extLst>
          </p:cNvPr>
          <p:cNvSpPr>
            <a:spLocks xmlns:a="http://schemas.openxmlformats.org/drawingml/2006/main" noGrp="1"/>
          </p:cNvSpPr>
          <p:nvPr/>
        </p:nvSpPr>
        <p:spPr>
          <a:xfrm xmlns:a="http://schemas.openxmlformats.org/drawingml/2006/main">
            <a:off x="7029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144A3668-BE47-435A-B12C-206941906B7D}"/>
              </a:ext>
            </a:extLst>
          </p:cNvPr>
          <p:cNvSpPr>
            <a:spLocks xmlns:a="http://schemas.openxmlformats.org/drawingml/2006/main" noGrp="1"/>
          </p:cNvSpPr>
          <p:nvPr/>
        </p:nvSpPr>
        <p:spPr>
          <a:xfrm xmlns:a="http://schemas.openxmlformats.org/drawingml/2006/main">
            <a:off x="7029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E69B3A"/>
                </a:solidFill>
                <a:latin typeface="Arimo"/>
                <a:ea typeface="Arimo"/>
                <a:cs typeface="Arimo"/>
              </a:defRPr>
            </a:pPr>
            <a:r>
              <a:rPr sz="2025" b="1" i="0">
                <a:solidFill>
                  <a:srgbClr val="E69B3A"/>
                </a:solidFill>
                <a:latin typeface="Arimo"/>
                <a:ea typeface="Arimo"/>
                <a:cs typeface="Arimo"/>
              </a:rPr>
              <a:t>03</a:t>
            </a:r>
          </a:p>
        </p:txBody>
      </p:sp>
      <p:sp>
        <p:nvSpPr>
          <p:cNvPr id="17" name="">
            <a:extLst xmlns:a="http://schemas.openxmlformats.org/drawingml/2006/main">
              <a:ext uri="{FF2B5EF4-FFF2-40B4-BE49-F238E27FC236}">
                <a16:creationId xmlns:a16="http://schemas.microsoft.com/office/drawing/2014/main" id="{27F56B3F-8ECB-41AF-8F2E-195A6D983D48}"/>
              </a:ext>
            </a:extLst>
          </p:cNvPr>
          <p:cNvSpPr>
            <a:spLocks xmlns:a="http://schemas.openxmlformats.org/drawingml/2006/main" noGrp="1"/>
          </p:cNvSpPr>
          <p:nvPr/>
        </p:nvSpPr>
        <p:spPr>
          <a:xfrm xmlns:a="http://schemas.openxmlformats.org/drawingml/2006/main">
            <a:off x="6381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E69B3A"/>
                </a:solidFill>
                <a:latin typeface="Arimo"/>
                <a:ea typeface="Arimo"/>
                <a:cs typeface="Arimo"/>
              </a:defRPr>
            </a:pPr>
            <a:r>
              <a:rPr sz="1275" b="1" i="0">
                <a:solidFill>
                  <a:srgbClr val="E69B3A"/>
                </a:solidFill>
                <a:latin typeface="Arimo"/>
                <a:ea typeface="Arimo"/>
                <a:cs typeface="Arimo"/>
              </a:rPr>
              <a:t>WEEKS 9-12</a:t>
            </a:r>
          </a:p>
        </p:txBody>
      </p:sp>
      <p:sp>
        <p:nvSpPr>
          <p:cNvPr id="18" name="">
            <a:extLst xmlns:a="http://schemas.openxmlformats.org/drawingml/2006/main">
              <a:ext uri="{FF2B5EF4-FFF2-40B4-BE49-F238E27FC236}">
                <a16:creationId xmlns:a16="http://schemas.microsoft.com/office/drawing/2014/main" id="{267E0356-1928-4CA7-832F-ECED96E47FA8}"/>
              </a:ext>
            </a:extLst>
          </p:cNvPr>
          <p:cNvSpPr>
            <a:spLocks xmlns:a="http://schemas.openxmlformats.org/drawingml/2006/main" noGrp="1"/>
          </p:cNvSpPr>
          <p:nvPr/>
        </p:nvSpPr>
        <p:spPr>
          <a:xfrm xmlns:a="http://schemas.openxmlformats.org/drawingml/2006/main">
            <a:off x="6381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Module API, scenarios,</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KPIs, and interface</a:t>
            </a:r>
          </a:p>
        </p:txBody>
      </p:sp>
      <p:sp>
        <p:nvSpPr>
          <p:cNvPr id="19" name="">
            <a:extLst xmlns:a="http://schemas.openxmlformats.org/drawingml/2006/main">
              <a:ext uri="{FF2B5EF4-FFF2-40B4-BE49-F238E27FC236}">
                <a16:creationId xmlns:a16="http://schemas.microsoft.com/office/drawing/2014/main" id="{377EFF3B-EE38-47E1-9960-F31D0A3C3A54}"/>
              </a:ext>
            </a:extLst>
          </p:cNvPr>
          <p:cNvSpPr>
            <a:spLocks xmlns:a="http://schemas.openxmlformats.org/drawingml/2006/main" noGrp="1"/>
          </p:cNvSpPr>
          <p:nvPr/>
        </p:nvSpPr>
        <p:spPr>
          <a:xfrm xmlns:a="http://schemas.openxmlformats.org/drawingml/2006/main">
            <a:off x="9886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BBBA77F6-8B8E-4EF1-B187-66539722BAB6}"/>
              </a:ext>
            </a:extLst>
          </p:cNvPr>
          <p:cNvSpPr>
            <a:spLocks xmlns:a="http://schemas.openxmlformats.org/drawingml/2006/main" noGrp="1"/>
          </p:cNvSpPr>
          <p:nvPr/>
        </p:nvSpPr>
        <p:spPr>
          <a:xfrm xmlns:a="http://schemas.openxmlformats.org/drawingml/2006/main">
            <a:off x="9886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B85246"/>
                </a:solidFill>
                <a:latin typeface="Arimo"/>
                <a:ea typeface="Arimo"/>
                <a:cs typeface="Arimo"/>
              </a:defRPr>
            </a:pPr>
            <a:r>
              <a:rPr sz="2025" b="1" i="0">
                <a:solidFill>
                  <a:srgbClr val="B85246"/>
                </a:solidFill>
                <a:latin typeface="Arimo"/>
                <a:ea typeface="Arimo"/>
                <a:cs typeface="Arimo"/>
              </a:rPr>
              <a:t>04</a:t>
            </a:r>
          </a:p>
        </p:txBody>
      </p:sp>
      <p:sp>
        <p:nvSpPr>
          <p:cNvPr id="21" name="">
            <a:extLst xmlns:a="http://schemas.openxmlformats.org/drawingml/2006/main">
              <a:ext uri="{FF2B5EF4-FFF2-40B4-BE49-F238E27FC236}">
                <a16:creationId xmlns:a16="http://schemas.microsoft.com/office/drawing/2014/main" id="{0C07D882-F848-4DED-92B0-617B2A9439BF}"/>
              </a:ext>
            </a:extLst>
          </p:cNvPr>
          <p:cNvSpPr>
            <a:spLocks xmlns:a="http://schemas.openxmlformats.org/drawingml/2006/main" noGrp="1"/>
          </p:cNvSpPr>
          <p:nvPr/>
        </p:nvSpPr>
        <p:spPr>
          <a:xfrm xmlns:a="http://schemas.openxmlformats.org/drawingml/2006/main">
            <a:off x="9239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B85246"/>
                </a:solidFill>
                <a:latin typeface="Arimo"/>
                <a:ea typeface="Arimo"/>
                <a:cs typeface="Arimo"/>
              </a:defRPr>
            </a:pPr>
            <a:r>
              <a:rPr sz="1275" b="1" i="0">
                <a:solidFill>
                  <a:srgbClr val="B85246"/>
                </a:solidFill>
                <a:latin typeface="Arimo"/>
                <a:ea typeface="Arimo"/>
                <a:cs typeface="Arimo"/>
              </a:rPr>
              <a:t>WEEKS 13-16</a:t>
            </a:r>
          </a:p>
        </p:txBody>
      </p:sp>
      <p:sp>
        <p:nvSpPr>
          <p:cNvPr id="22" name="">
            <a:extLst xmlns:a="http://schemas.openxmlformats.org/drawingml/2006/main">
              <a:ext uri="{FF2B5EF4-FFF2-40B4-BE49-F238E27FC236}">
                <a16:creationId xmlns:a16="http://schemas.microsoft.com/office/drawing/2014/main" id="{C70D7B84-84B5-4577-84CC-AACC53728E29}"/>
              </a:ext>
            </a:extLst>
          </p:cNvPr>
          <p:cNvSpPr>
            <a:spLocks xmlns:a="http://schemas.openxmlformats.org/drawingml/2006/main" noGrp="1"/>
          </p:cNvSpPr>
          <p:nvPr/>
        </p:nvSpPr>
        <p:spPr>
          <a:xfrm xmlns:a="http://schemas.openxmlformats.org/drawingml/2006/main">
            <a:off x="9239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Historical replay, review,</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acceptance</a:t>
            </a:r>
          </a:p>
        </p:txBody>
      </p:sp>
      <p:sp>
        <p:nvSpPr>
          <p:cNvPr id="23" name="">
            <a:extLst xmlns:a="http://schemas.openxmlformats.org/drawingml/2006/main">
              <a:ext uri="{FF2B5EF4-FFF2-40B4-BE49-F238E27FC236}">
                <a16:creationId xmlns:a16="http://schemas.microsoft.com/office/drawing/2014/main" id="{150E5F6F-F9B2-4D99-A272-BDA08146FBE4}"/>
              </a:ext>
            </a:extLst>
          </p:cNvPr>
          <p:cNvSpPr>
            <a:spLocks xmlns:a="http://schemas.openxmlformats.org/drawingml/2006/main" noGrp="1"/>
          </p:cNvSpPr>
          <p:nvPr/>
        </p:nvSpPr>
        <p:spPr>
          <a:xfrm xmlns:a="http://schemas.openxmlformats.org/drawingml/2006/main">
            <a:off x="1619250" y="5381625"/>
            <a:ext cx="8953500" cy="609600"/>
          </a:xfrm>
          <a:prstGeom xmlns:a="http://schemas.openxmlformats.org/drawingml/2006/main" prst="roundRect">
            <a:avLst>
              <a:gd name="adj" fmla="val 25000"/>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9323"/>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Exit package: offline testbed, validation report, limitations, and Phase 2 recommendation</a:t>
            </a:r>
          </a:p>
        </p:txBody>
      </p:sp>
    </p:spTree>
    <p:extLst>
      <p:ext uri="{BB962C8B-B14F-4D97-AF65-F5344CB8AC3E}">
        <p14:creationId xmlns:p14="http://schemas.microsoft.com/office/powerpoint/2010/main" val="1958476446"/>
      </p:ext>
    </p:extLst>
  </p:cSld>
</p:sld>
</file>

<file path=ppt/slides/slide16.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9C47948-0C20-4AFC-A8AB-394956BB2F2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FFFFFF"/>
                </a:solidFill>
                <a:latin typeface="Arimo"/>
                <a:ea typeface="Arimo"/>
                <a:cs typeface="Arimo"/>
              </a:defRPr>
            </a:pPr>
            <a:r>
              <a:rPr sz="3225" b="1" i="0">
                <a:solidFill>
                  <a:srgbClr val="FFFFFF"/>
                </a:solidFill>
                <a:latin typeface="Arimo"/>
                <a:ea typeface="Arimo"/>
                <a:cs typeface="Arimo"/>
              </a:rPr>
              <a:t>Decision requested</a:t>
            </a:r>
          </a:p>
        </p:txBody>
      </p:sp>
      <p:sp>
        <p:nvSpPr>
          <p:cNvPr id="2" name="">
            <a:extLst xmlns:a="http://schemas.openxmlformats.org/drawingml/2006/main">
              <a:ext uri="{FF2B5EF4-FFF2-40B4-BE49-F238E27FC236}">
                <a16:creationId xmlns:a16="http://schemas.microsoft.com/office/drawing/2014/main" id="{337E7AA4-C95D-4694-B36D-52C882A8EFD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Approve a scoped offline PoC with operational access and review</a:t>
            </a:r>
          </a:p>
        </p:txBody>
      </p:sp>
      <p:sp>
        <p:nvSpPr>
          <p:cNvPr id="3" name="">
            <a:extLst xmlns:a="http://schemas.openxmlformats.org/drawingml/2006/main">
              <a:ext uri="{FF2B5EF4-FFF2-40B4-BE49-F238E27FC236}">
                <a16:creationId xmlns:a16="http://schemas.microsoft.com/office/drawing/2014/main" id="{3E49FBCD-AA3C-4FD7-815E-E48A3DEDDF9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0AFA276A-4149-464C-AAA5-DFBBBD09DBED}"/>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16</a:t>
            </a:r>
          </a:p>
        </p:txBody>
      </p:sp>
      <p:sp>
        <p:nvSpPr>
          <p:cNvPr id="5" name="">
            <a:extLst xmlns:a="http://schemas.openxmlformats.org/drawingml/2006/main">
              <a:ext uri="{FF2B5EF4-FFF2-40B4-BE49-F238E27FC236}">
                <a16:creationId xmlns:a16="http://schemas.microsoft.com/office/drawing/2014/main" id="{4D35D7AD-3F48-405E-82F0-4D727D013744}"/>
              </a:ext>
            </a:extLst>
          </p:cNvPr>
          <p:cNvSpPr>
            <a:spLocks xmlns:a="http://schemas.openxmlformats.org/drawingml/2006/main" noGrp="1"/>
          </p:cNvSpPr>
          <p:nvPr/>
        </p:nvSpPr>
        <p:spPr>
          <a:xfrm xmlns:a="http://schemas.openxmlformats.org/drawingml/2006/main">
            <a:off x="857250" y="16383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37"/>
          </a:bodyPr>
          <a:lstStyle xmlns:a="http://schemas.openxmlformats.org/drawingml/2006/main"/>
          <a:p xmlns:a="http://schemas.openxmlformats.org/drawingml/2006/main">
            <a:pPr algn="l">
              <a:lnSpc>
                <a:spcPct val="100000"/>
              </a:lnSpc>
              <a:buNone/>
              <a:defRPr sz="3375" b="1" i="0">
                <a:solidFill>
                  <a:srgbClr val="FFFFFF"/>
                </a:solidFill>
                <a:latin typeface="Arimo"/>
                <a:ea typeface="Arimo"/>
                <a:cs typeface="Arimo"/>
              </a:defRPr>
            </a:pPr>
            <a:r>
              <a:rPr sz="3375" b="1" i="0">
                <a:solidFill>
                  <a:srgbClr val="FFFFFF"/>
                </a:solidFill>
                <a:latin typeface="Arimo"/>
                <a:ea typeface="Arimo"/>
                <a:cs typeface="Arimo"/>
              </a:rPr>
              <a:t>Approve the 16-week offline Proof of Concept</a:t>
            </a:r>
          </a:p>
        </p:txBody>
      </p:sp>
      <p:sp>
        <p:nvSpPr>
          <p:cNvPr id="6" name="">
            <a:extLst xmlns:a="http://schemas.openxmlformats.org/drawingml/2006/main">
              <a:ext uri="{FF2B5EF4-FFF2-40B4-BE49-F238E27FC236}">
                <a16:creationId xmlns:a16="http://schemas.microsoft.com/office/drawing/2014/main" id="{9163570E-10BF-4B3F-9CF2-C76E8371A9FE}"/>
              </a:ext>
            </a:extLst>
          </p:cNvPr>
          <p:cNvSpPr>
            <a:spLocks xmlns:a="http://schemas.openxmlformats.org/drawingml/2006/main" noGrp="1"/>
          </p:cNvSpPr>
          <p:nvPr/>
        </p:nvSpPr>
        <p:spPr>
          <a:xfrm xmlns:a="http://schemas.openxmlformats.org/drawingml/2006/main">
            <a:off x="1000125" y="29527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A6132A0-734C-4EDF-96E6-D52BF18C1B1F}"/>
              </a:ext>
            </a:extLst>
          </p:cNvPr>
          <p:cNvSpPr>
            <a:spLocks xmlns:a="http://schemas.openxmlformats.org/drawingml/2006/main" noGrp="1"/>
          </p:cNvSpPr>
          <p:nvPr/>
        </p:nvSpPr>
        <p:spPr>
          <a:xfrm xmlns:a="http://schemas.openxmlformats.org/drawingml/2006/main">
            <a:off x="1247775" y="28765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Assign a Biosphere 2 operations liaison</a:t>
            </a:r>
          </a:p>
        </p:txBody>
      </p:sp>
      <p:sp>
        <p:nvSpPr>
          <p:cNvPr id="8" name="">
            <a:extLst xmlns:a="http://schemas.openxmlformats.org/drawingml/2006/main">
              <a:ext uri="{FF2B5EF4-FFF2-40B4-BE49-F238E27FC236}">
                <a16:creationId xmlns:a16="http://schemas.microsoft.com/office/drawing/2014/main" id="{654DB201-48F3-4B3C-A09D-E9947E16B335}"/>
              </a:ext>
            </a:extLst>
          </p:cNvPr>
          <p:cNvSpPr>
            <a:spLocks xmlns:a="http://schemas.openxmlformats.org/drawingml/2006/main" noGrp="1"/>
          </p:cNvSpPr>
          <p:nvPr/>
        </p:nvSpPr>
        <p:spPr>
          <a:xfrm xmlns:a="http://schemas.openxmlformats.org/drawingml/2006/main">
            <a:off x="1000125" y="3790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8B5AC28-AF0F-4E86-AF6D-0EFBC72D79BC}"/>
              </a:ext>
            </a:extLst>
          </p:cNvPr>
          <p:cNvSpPr>
            <a:spLocks xmlns:a="http://schemas.openxmlformats.org/drawingml/2006/main" noGrp="1"/>
          </p:cNvSpPr>
          <p:nvPr/>
        </p:nvSpPr>
        <p:spPr>
          <a:xfrm xmlns:a="http://schemas.openxmlformats.org/drawingml/2006/main">
            <a:off x="1247775" y="37147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Authorize synchronized control, climate, weather, energy, and constraint data</a:t>
            </a:r>
          </a:p>
        </p:txBody>
      </p:sp>
      <p:sp>
        <p:nvSpPr>
          <p:cNvPr id="10" name="">
            <a:extLst xmlns:a="http://schemas.openxmlformats.org/drawingml/2006/main">
              <a:ext uri="{FF2B5EF4-FFF2-40B4-BE49-F238E27FC236}">
                <a16:creationId xmlns:a16="http://schemas.microsoft.com/office/drawing/2014/main" id="{7D9A6255-6AE0-4D39-9D67-B2A078F9831B}"/>
              </a:ext>
            </a:extLst>
          </p:cNvPr>
          <p:cNvSpPr>
            <a:spLocks xmlns:a="http://schemas.openxmlformats.org/drawingml/2006/main" noGrp="1"/>
          </p:cNvSpPr>
          <p:nvPr/>
        </p:nvSpPr>
        <p:spPr>
          <a:xfrm xmlns:a="http://schemas.openxmlformats.org/drawingml/2006/main">
            <a:off x="1000125" y="46291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21DF25B-8CAA-4CF4-A5EC-79B81B5FB055}"/>
              </a:ext>
            </a:extLst>
          </p:cNvPr>
          <p:cNvSpPr>
            <a:spLocks xmlns:a="http://schemas.openxmlformats.org/drawingml/2006/main" noGrp="1"/>
          </p:cNvSpPr>
          <p:nvPr/>
        </p:nvSpPr>
        <p:spPr>
          <a:xfrm xmlns:a="http://schemas.openxmlformats.org/drawingml/2006/main">
            <a:off x="1247775" y="45529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Review acceptance evidence before any Phase 2 or field trial</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425121ef3764253"/>
          <a:stretch xmlns:a="http://schemas.openxmlformats.org/drawingml/2006/main"/>
        </p:blipFill>
        <p:spPr>
          <a:xfrm xmlns:a="http://schemas.openxmlformats.org/drawingml/2006/main">
            <a:off x="9096375" y="2000250"/>
            <a:ext cx="2000250" cy="20002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7AB415F-CB8E-44B7-BE1D-2719D11DD304}"/>
              </a:ext>
            </a:extLst>
          </p:cNvPr>
          <p:cNvSpPr>
            <a:spLocks xmlns:a="http://schemas.openxmlformats.org/drawingml/2006/main" noGrp="1"/>
          </p:cNvSpPr>
          <p:nvPr/>
        </p:nvSpPr>
        <p:spPr>
          <a:xfrm xmlns:a="http://schemas.openxmlformats.org/drawingml/2006/main">
            <a:off x="8896350" y="41719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rPr>
              <a:t>Live illustrative interface</a:t>
            </a:r>
          </a:p>
        </p:txBody>
      </p:sp>
      <p:sp>
        <p:nvSpPr>
          <p:cNvPr id="14" name="">
            <a:extLst xmlns:a="http://schemas.openxmlformats.org/drawingml/2006/main">
              <a:ext uri="{FF2B5EF4-FFF2-40B4-BE49-F238E27FC236}">
                <a16:creationId xmlns:a16="http://schemas.microsoft.com/office/drawing/2014/main" id="{74B6489F-FC6C-40D5-A9B7-0FB18B7F623E}"/>
              </a:ext>
            </a:extLst>
          </p:cNvPr>
          <p:cNvSpPr>
            <a:spLocks xmlns:a="http://schemas.openxmlformats.org/drawingml/2006/main" noGrp="1"/>
          </p:cNvSpPr>
          <p:nvPr/>
        </p:nvSpPr>
        <p:spPr>
          <a:xfrm xmlns:a="http://schemas.openxmlformats.org/drawingml/2006/main">
            <a:off x="8553450" y="4953000"/>
            <a:ext cx="31813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Dimitri Bolt</a:t>
            </a:r>
          </a:p>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Academic supervision: Dr. Ildar Gabitov</a:t>
            </a:r>
          </a:p>
        </p:txBody>
      </p:sp>
    </p:spTree>
    <p:extLst>
      <p:ext uri="{BB962C8B-B14F-4D97-AF65-F5344CB8AC3E}">
        <p14:creationId xmlns:p14="http://schemas.microsoft.com/office/powerpoint/2010/main" val="1514706316"/>
      </p:ext>
    </p:extLst>
  </p:cSld>
</p:sld>
</file>

<file path=ppt/slides/slide1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5D80350-BD8D-428F-8235-36E2A5012B9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A828A19-142A-43A7-BA6B-BC6901C2342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Our prototype and planned development</a:t>
            </a:r>
          </a:p>
        </p:txBody>
      </p:sp>
      <p:sp>
        <p:nvSpPr>
          <p:cNvPr id="3" name="">
            <a:extLst xmlns:a="http://schemas.openxmlformats.org/drawingml/2006/main">
              <a:ext uri="{FF2B5EF4-FFF2-40B4-BE49-F238E27FC236}">
                <a16:creationId xmlns:a16="http://schemas.microsoft.com/office/drawing/2014/main" id="{A4CEEB6B-D5A1-4AC7-8BC7-26EEF093F66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current interface is illustrative and our PoC includes engine validation</a:t>
            </a:r>
          </a:p>
        </p:txBody>
      </p:sp>
      <p:sp>
        <p:nvSpPr>
          <p:cNvPr id="4" name="">
            <a:extLst xmlns:a="http://schemas.openxmlformats.org/drawingml/2006/main">
              <a:ext uri="{FF2B5EF4-FFF2-40B4-BE49-F238E27FC236}">
                <a16:creationId xmlns:a16="http://schemas.microsoft.com/office/drawing/2014/main" id="{E0769F59-6C5D-4C05-B4EA-91AE8B192384}"/>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498CB1D2-4E7B-47F7-BA3C-DCA911C51DC8}"/>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17</a:t>
            </a:r>
          </a:p>
        </p:txBody>
      </p:sp>
      <p:sp>
        <p:nvSpPr>
          <p:cNvPr id="6" name="">
            <a:extLst xmlns:a="http://schemas.openxmlformats.org/drawingml/2006/main">
              <a:ext uri="{FF2B5EF4-FFF2-40B4-BE49-F238E27FC236}">
                <a16:creationId xmlns:a16="http://schemas.microsoft.com/office/drawing/2014/main" id="{930730B4-A266-4724-B707-F18E59322D50}"/>
              </a:ext>
            </a:extLst>
          </p:cNvPr>
          <p:cNvSpPr>
            <a:spLocks xmlns:a="http://schemas.openxmlformats.org/drawingml/2006/main" noGrp="1"/>
          </p:cNvSpPr>
          <p:nvPr/>
        </p:nvSpPr>
        <p:spPr>
          <a:xfrm xmlns:a="http://schemas.openxmlformats.org/drawingml/2006/main">
            <a:off x="80010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OUR CURRENT PROTOTYPE</a:t>
            </a:r>
          </a:p>
        </p:txBody>
      </p:sp>
      <p:sp>
        <p:nvSpPr>
          <p:cNvPr id="7" name="">
            <a:extLst xmlns:a="http://schemas.openxmlformats.org/drawingml/2006/main">
              <a:ext uri="{FF2B5EF4-FFF2-40B4-BE49-F238E27FC236}">
                <a16:creationId xmlns:a16="http://schemas.microsoft.com/office/drawing/2014/main" id="{F25B5F17-6934-463C-862B-A70964A99450}"/>
              </a:ext>
            </a:extLst>
          </p:cNvPr>
          <p:cNvSpPr>
            <a:spLocks xmlns:a="http://schemas.openxmlformats.org/drawingml/2006/main" noGrp="1"/>
          </p:cNvSpPr>
          <p:nvPr/>
        </p:nvSpPr>
        <p:spPr>
          <a:xfrm xmlns:a="http://schemas.openxmlformats.org/drawingml/2006/main">
            <a:off x="857250"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15A141-01E8-4E5D-96C5-FDACC77B2B9F}"/>
              </a:ext>
            </a:extLst>
          </p:cNvPr>
          <p:cNvSpPr>
            <a:spLocks xmlns:a="http://schemas.openxmlformats.org/drawingml/2006/main" noGrp="1"/>
          </p:cNvSpPr>
          <p:nvPr/>
        </p:nvSpPr>
        <p:spPr>
          <a:xfrm xmlns:a="http://schemas.openxmlformats.org/drawingml/2006/main">
            <a:off x="1104900" y="20955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64-control inventory</a:t>
            </a:r>
          </a:p>
        </p:txBody>
      </p:sp>
      <p:sp>
        <p:nvSpPr>
          <p:cNvPr id="9" name="">
            <a:extLst xmlns:a="http://schemas.openxmlformats.org/drawingml/2006/main">
              <a:ext uri="{FF2B5EF4-FFF2-40B4-BE49-F238E27FC236}">
                <a16:creationId xmlns:a16="http://schemas.microsoft.com/office/drawing/2014/main" id="{D5B7A2FF-5E3D-43D0-9E78-B3095D7E9EC6}"/>
              </a:ext>
            </a:extLst>
          </p:cNvPr>
          <p:cNvSpPr>
            <a:spLocks xmlns:a="http://schemas.openxmlformats.org/drawingml/2006/main" noGrp="1"/>
          </p:cNvSpPr>
          <p:nvPr/>
        </p:nvSpPr>
        <p:spPr>
          <a:xfrm xmlns:a="http://schemas.openxmlformats.org/drawingml/2006/main">
            <a:off x="857250" y="27717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37623C-8E8C-46F7-82E9-53597DA48771}"/>
              </a:ext>
            </a:extLst>
          </p:cNvPr>
          <p:cNvSpPr>
            <a:spLocks xmlns:a="http://schemas.openxmlformats.org/drawingml/2006/main" noGrp="1"/>
          </p:cNvSpPr>
          <p:nvPr/>
        </p:nvSpPr>
        <p:spPr>
          <a:xfrm xmlns:a="http://schemas.openxmlformats.org/drawingml/2006/main">
            <a:off x="1104900" y="269557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measurement schema</a:t>
            </a:r>
          </a:p>
        </p:txBody>
      </p:sp>
      <p:sp>
        <p:nvSpPr>
          <p:cNvPr id="11" name="">
            <a:extLst xmlns:a="http://schemas.openxmlformats.org/drawingml/2006/main">
              <a:ext uri="{FF2B5EF4-FFF2-40B4-BE49-F238E27FC236}">
                <a16:creationId xmlns:a16="http://schemas.microsoft.com/office/drawing/2014/main" id="{54030FCF-911E-4D96-A7D2-4EC95C53D8CC}"/>
              </a:ext>
            </a:extLst>
          </p:cNvPr>
          <p:cNvSpPr>
            <a:spLocks xmlns:a="http://schemas.openxmlformats.org/drawingml/2006/main" noGrp="1"/>
          </p:cNvSpPr>
          <p:nvPr/>
        </p:nvSpPr>
        <p:spPr>
          <a:xfrm xmlns:a="http://schemas.openxmlformats.org/drawingml/2006/main">
            <a:off x="857250" y="33718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A290EA-10B4-4F78-8CE7-7B44F7539E35}"/>
              </a:ext>
            </a:extLst>
          </p:cNvPr>
          <p:cNvSpPr>
            <a:spLocks xmlns:a="http://schemas.openxmlformats.org/drawingml/2006/main" noGrp="1"/>
          </p:cNvSpPr>
          <p:nvPr/>
        </p:nvSpPr>
        <p:spPr>
          <a:xfrm xmlns:a="http://schemas.openxmlformats.org/drawingml/2006/main">
            <a:off x="1104900" y="329565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Data-pipeline code</a:t>
            </a:r>
          </a:p>
        </p:txBody>
      </p:sp>
      <p:sp>
        <p:nvSpPr>
          <p:cNvPr id="13" name="">
            <a:extLst xmlns:a="http://schemas.openxmlformats.org/drawingml/2006/main">
              <a:ext uri="{FF2B5EF4-FFF2-40B4-BE49-F238E27FC236}">
                <a16:creationId xmlns:a16="http://schemas.microsoft.com/office/drawing/2014/main" id="{BAD2395D-C86F-4356-AE9E-DDA53CDE5255}"/>
              </a:ext>
            </a:extLst>
          </p:cNvPr>
          <p:cNvSpPr>
            <a:spLocks xmlns:a="http://schemas.openxmlformats.org/drawingml/2006/main" noGrp="1"/>
          </p:cNvSpPr>
          <p:nvPr/>
        </p:nvSpPr>
        <p:spPr>
          <a:xfrm xmlns:a="http://schemas.openxmlformats.org/drawingml/2006/main">
            <a:off x="857250" y="39719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0917ED-E42A-45B5-BFC7-BAE3173C42DA}"/>
              </a:ext>
            </a:extLst>
          </p:cNvPr>
          <p:cNvSpPr>
            <a:spLocks xmlns:a="http://schemas.openxmlformats.org/drawingml/2006/main" noGrp="1"/>
          </p:cNvSpPr>
          <p:nvPr/>
        </p:nvSpPr>
        <p:spPr>
          <a:xfrm xmlns:a="http://schemas.openxmlformats.org/drawingml/2006/main">
            <a:off x="1104900" y="389572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Timestamped strategy contract</a:t>
            </a:r>
          </a:p>
        </p:txBody>
      </p:sp>
      <p:sp>
        <p:nvSpPr>
          <p:cNvPr id="15" name="">
            <a:extLst xmlns:a="http://schemas.openxmlformats.org/drawingml/2006/main">
              <a:ext uri="{FF2B5EF4-FFF2-40B4-BE49-F238E27FC236}">
                <a16:creationId xmlns:a16="http://schemas.microsoft.com/office/drawing/2014/main" id="{DAA24348-CD89-4D20-ADFD-35D460492723}"/>
              </a:ext>
            </a:extLst>
          </p:cNvPr>
          <p:cNvSpPr>
            <a:spLocks xmlns:a="http://schemas.openxmlformats.org/drawingml/2006/main" noGrp="1"/>
          </p:cNvSpPr>
          <p:nvPr/>
        </p:nvSpPr>
        <p:spPr>
          <a:xfrm xmlns:a="http://schemas.openxmlformats.org/drawingml/2006/main">
            <a:off x="857250" y="45720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085AFE0-3AF2-40FD-9C6C-552C1E25ABF7}"/>
              </a:ext>
            </a:extLst>
          </p:cNvPr>
          <p:cNvSpPr>
            <a:spLocks xmlns:a="http://schemas.openxmlformats.org/drawingml/2006/main" noGrp="1"/>
          </p:cNvSpPr>
          <p:nvPr/>
        </p:nvSpPr>
        <p:spPr>
          <a:xfrm xmlns:a="http://schemas.openxmlformats.org/drawingml/2006/main">
            <a:off x="1104900" y="44958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Working illustrative 3D interface</a:t>
            </a:r>
          </a:p>
        </p:txBody>
      </p:sp>
      <p:sp>
        <p:nvSpPr>
          <p:cNvPr id="17" name="">
            <a:extLst xmlns:a="http://schemas.openxmlformats.org/drawingml/2006/main">
              <a:ext uri="{FF2B5EF4-FFF2-40B4-BE49-F238E27FC236}">
                <a16:creationId xmlns:a16="http://schemas.microsoft.com/office/drawing/2014/main" id="{C93C418B-6E87-41BC-8310-0EC0E6F72A99}"/>
              </a:ext>
            </a:extLst>
          </p:cNvPr>
          <p:cNvSpPr>
            <a:spLocks xmlns:a="http://schemas.openxmlformats.org/drawingml/2006/main" noGrp="1"/>
          </p:cNvSpPr>
          <p:nvPr/>
        </p:nvSpPr>
        <p:spPr>
          <a:xfrm xmlns:a="http://schemas.openxmlformats.org/drawingml/2006/main">
            <a:off x="5981700" y="1600200"/>
            <a:ext cx="0" cy="381000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8" name="">
            <a:extLst xmlns:a="http://schemas.openxmlformats.org/drawingml/2006/main">
              <a:ext uri="{FF2B5EF4-FFF2-40B4-BE49-F238E27FC236}">
                <a16:creationId xmlns:a16="http://schemas.microsoft.com/office/drawing/2014/main" id="{490B0742-F562-46DE-8536-0DA6E91574D1}"/>
              </a:ext>
            </a:extLst>
          </p:cNvPr>
          <p:cNvSpPr>
            <a:spLocks xmlns:a="http://schemas.openxmlformats.org/drawingml/2006/main" noGrp="1"/>
          </p:cNvSpPr>
          <p:nvPr/>
        </p:nvSpPr>
        <p:spPr>
          <a:xfrm xmlns:a="http://schemas.openxmlformats.org/drawingml/2006/main">
            <a:off x="676275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OUR PLANNED POC WORK</a:t>
            </a:r>
          </a:p>
        </p:txBody>
      </p:sp>
      <p:sp>
        <p:nvSpPr>
          <p:cNvPr id="19" name="">
            <a:extLst xmlns:a="http://schemas.openxmlformats.org/drawingml/2006/main">
              <a:ext uri="{FF2B5EF4-FFF2-40B4-BE49-F238E27FC236}">
                <a16:creationId xmlns:a16="http://schemas.microsoft.com/office/drawing/2014/main" id="{99489A50-14DD-438F-A1E6-48A866A303EE}"/>
              </a:ext>
            </a:extLst>
          </p:cNvPr>
          <p:cNvSpPr>
            <a:spLocks xmlns:a="http://schemas.openxmlformats.org/drawingml/2006/main" noGrp="1"/>
          </p:cNvSpPr>
          <p:nvPr/>
        </p:nvSpPr>
        <p:spPr>
          <a:xfrm xmlns:a="http://schemas.openxmlformats.org/drawingml/2006/main">
            <a:off x="68199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0717CF4-D933-4921-B5F7-337AC36CD13B}"/>
              </a:ext>
            </a:extLst>
          </p:cNvPr>
          <p:cNvSpPr>
            <a:spLocks xmlns:a="http://schemas.openxmlformats.org/drawingml/2006/main" noGrp="1"/>
          </p:cNvSpPr>
          <p:nvPr/>
        </p:nvSpPr>
        <p:spPr>
          <a:xfrm xmlns:a="http://schemas.openxmlformats.org/drawingml/2006/main">
            <a:off x="7067550" y="20955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Synchronized causal dataset</a:t>
            </a:r>
          </a:p>
        </p:txBody>
      </p:sp>
      <p:sp>
        <p:nvSpPr>
          <p:cNvPr id="21" name="">
            <a:extLst xmlns:a="http://schemas.openxmlformats.org/drawingml/2006/main">
              <a:ext uri="{FF2B5EF4-FFF2-40B4-BE49-F238E27FC236}">
                <a16:creationId xmlns:a16="http://schemas.microsoft.com/office/drawing/2014/main" id="{E20DAB2D-E742-4D19-804A-C46DBC31CBD2}"/>
              </a:ext>
            </a:extLst>
          </p:cNvPr>
          <p:cNvSpPr>
            <a:spLocks xmlns:a="http://schemas.openxmlformats.org/drawingml/2006/main" noGrp="1"/>
          </p:cNvSpPr>
          <p:nvPr/>
        </p:nvSpPr>
        <p:spPr>
          <a:xfrm xmlns:a="http://schemas.openxmlformats.org/drawingml/2006/main">
            <a:off x="6819900" y="27717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6249A03-FCDB-4D09-B719-0C6D5ABE63AE}"/>
              </a:ext>
            </a:extLst>
          </p:cNvPr>
          <p:cNvSpPr>
            <a:spLocks xmlns:a="http://schemas.openxmlformats.org/drawingml/2006/main" noGrp="1"/>
          </p:cNvSpPr>
          <p:nvPr/>
        </p:nvSpPr>
        <p:spPr>
          <a:xfrm xmlns:a="http://schemas.openxmlformats.org/drawingml/2006/main">
            <a:off x="7067550" y="269557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Validated and versioned engine</a:t>
            </a:r>
          </a:p>
        </p:txBody>
      </p:sp>
      <p:sp>
        <p:nvSpPr>
          <p:cNvPr id="23" name="">
            <a:extLst xmlns:a="http://schemas.openxmlformats.org/drawingml/2006/main">
              <a:ext uri="{FF2B5EF4-FFF2-40B4-BE49-F238E27FC236}">
                <a16:creationId xmlns:a16="http://schemas.microsoft.com/office/drawing/2014/main" id="{DF1A923A-2DBC-4BAD-A1E5-A97901A433DD}"/>
              </a:ext>
            </a:extLst>
          </p:cNvPr>
          <p:cNvSpPr>
            <a:spLocks xmlns:a="http://schemas.openxmlformats.org/drawingml/2006/main" noGrp="1"/>
          </p:cNvSpPr>
          <p:nvPr/>
        </p:nvSpPr>
        <p:spPr>
          <a:xfrm xmlns:a="http://schemas.openxmlformats.org/drawingml/2006/main">
            <a:off x="6819900" y="33718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5417CE2-6FDB-4DAF-BF8A-9732387A5382}"/>
              </a:ext>
            </a:extLst>
          </p:cNvPr>
          <p:cNvSpPr>
            <a:spLocks xmlns:a="http://schemas.openxmlformats.org/drawingml/2006/main" noGrp="1"/>
          </p:cNvSpPr>
          <p:nvPr/>
        </p:nvSpPr>
        <p:spPr>
          <a:xfrm xmlns:a="http://schemas.openxmlformats.org/drawingml/2006/main">
            <a:off x="7067550" y="329565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unsupported-region checks</a:t>
            </a:r>
          </a:p>
        </p:txBody>
      </p:sp>
      <p:sp>
        <p:nvSpPr>
          <p:cNvPr id="25" name="">
            <a:extLst xmlns:a="http://schemas.openxmlformats.org/drawingml/2006/main">
              <a:ext uri="{FF2B5EF4-FFF2-40B4-BE49-F238E27FC236}">
                <a16:creationId xmlns:a16="http://schemas.microsoft.com/office/drawing/2014/main" id="{9CF740C4-142F-41A4-8EBA-F1154B1886F2}"/>
              </a:ext>
            </a:extLst>
          </p:cNvPr>
          <p:cNvSpPr>
            <a:spLocks xmlns:a="http://schemas.openxmlformats.org/drawingml/2006/main" noGrp="1"/>
          </p:cNvSpPr>
          <p:nvPr/>
        </p:nvSpPr>
        <p:spPr>
          <a:xfrm xmlns:a="http://schemas.openxmlformats.org/drawingml/2006/main">
            <a:off x="6819900" y="39719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2FE98B4-1E36-42A0-AAEE-1B95368F8CDC}"/>
              </a:ext>
            </a:extLst>
          </p:cNvPr>
          <p:cNvSpPr>
            <a:spLocks xmlns:a="http://schemas.openxmlformats.org/drawingml/2006/main" noGrp="1"/>
          </p:cNvSpPr>
          <p:nvPr/>
        </p:nvSpPr>
        <p:spPr>
          <a:xfrm xmlns:a="http://schemas.openxmlformats.org/drawingml/2006/main">
            <a:off x="7067550" y="389572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indicators and operating constraints</a:t>
            </a:r>
          </a:p>
        </p:txBody>
      </p:sp>
      <p:sp>
        <p:nvSpPr>
          <p:cNvPr id="27" name="">
            <a:extLst xmlns:a="http://schemas.openxmlformats.org/drawingml/2006/main">
              <a:ext uri="{FF2B5EF4-FFF2-40B4-BE49-F238E27FC236}">
                <a16:creationId xmlns:a16="http://schemas.microsoft.com/office/drawing/2014/main" id="{C314C9BF-0A83-46EA-B56A-045270ADC684}"/>
              </a:ext>
            </a:extLst>
          </p:cNvPr>
          <p:cNvSpPr>
            <a:spLocks xmlns:a="http://schemas.openxmlformats.org/drawingml/2006/main" noGrp="1"/>
          </p:cNvSpPr>
          <p:nvPr/>
        </p:nvSpPr>
        <p:spPr>
          <a:xfrm xmlns:a="http://schemas.openxmlformats.org/drawingml/2006/main">
            <a:off x="6819900" y="45720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4C36DE2-DAFD-4377-8E4E-8483C2B3FDE9}"/>
              </a:ext>
            </a:extLst>
          </p:cNvPr>
          <p:cNvSpPr>
            <a:spLocks xmlns:a="http://schemas.openxmlformats.org/drawingml/2006/main" noGrp="1"/>
          </p:cNvSpPr>
          <p:nvPr/>
        </p:nvSpPr>
        <p:spPr>
          <a:xfrm xmlns:a="http://schemas.openxmlformats.org/drawingml/2006/main">
            <a:off x="7067550" y="44958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Historical replay and operator acceptance</a:t>
            </a:r>
          </a:p>
        </p:txBody>
      </p:sp>
      <p:sp>
        <p:nvSpPr>
          <p:cNvPr id="29" name="">
            <a:extLst xmlns:a="http://schemas.openxmlformats.org/drawingml/2006/main">
              <a:ext uri="{FF2B5EF4-FFF2-40B4-BE49-F238E27FC236}">
                <a16:creationId xmlns:a16="http://schemas.microsoft.com/office/drawing/2014/main" id="{5D8CE290-06FA-46D0-A4BC-AD6BC860696F}"/>
              </a:ext>
            </a:extLst>
          </p:cNvPr>
          <p:cNvSpPr>
            <a:spLocks xmlns:a="http://schemas.openxmlformats.org/drawingml/2006/main" noGrp="1"/>
          </p:cNvSpPr>
          <p:nvPr/>
        </p:nvSpPr>
        <p:spPr>
          <a:xfrm xmlns:a="http://schemas.openxmlformats.org/drawingml/2006/main">
            <a:off x="1571625" y="5619750"/>
            <a:ext cx="9048750" cy="476250"/>
          </a:xfrm>
          <a:prstGeom xmlns:a="http://schemas.openxmlformats.org/drawingml/2006/main" prst="roundRect">
            <a:avLst>
              <a:gd name="adj" fmla="val 32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0698"/>
          </a:bodyPr>
          <a:lstStyle xmlns:a="http://schemas.openxmlformats.org/drawingml/2006/main"/>
          <a:p xmlns:a="http://schemas.openxmlformats.org/drawingml/2006/main">
            <a:pPr algn="ctr">
              <a:lnSpc>
                <a:spcPct val="100000"/>
              </a:lnSpc>
              <a:buNone/>
              <a:defRPr sz="1575" b="1">
                <a:solidFill>
                  <a:srgbClr val="10251D"/>
                </a:solidFill>
                <a:latin typeface="Arimo"/>
                <a:ea typeface="Arimo"/>
                <a:cs typeface="Arimo"/>
              </a:defRPr>
            </a:pPr>
            <a:r>
              <a:rPr sz="1575" b="1">
                <a:solidFill>
                  <a:srgbClr val="10251D"/>
                </a:solidFill>
                <a:latin typeface="Arimo"/>
                <a:ea typeface="Arimo"/>
                <a:cs typeface="Arimo"/>
              </a:rPr>
              <a:t>No survey-grade CAD, E57 conversion, equipment write access, or autonomous control in this phase</a:t>
            </a:r>
          </a:p>
        </p:txBody>
      </p:sp>
    </p:spTree>
    <p:extLst>
      <p:ext uri="{BB962C8B-B14F-4D97-AF65-F5344CB8AC3E}">
        <p14:creationId xmlns:p14="http://schemas.microsoft.com/office/powerpoint/2010/main" val="1560837805"/>
      </p:ext>
    </p:extLst>
  </p:cSld>
</p:sld>
</file>

<file path=ppt/slides/slide1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A56F959-5C19-486A-BBF2-2858558ED50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1A2610F-582E-44ED-AAA5-CD172C70B157}"/>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Required data and validation gates</a:t>
            </a:r>
          </a:p>
        </p:txBody>
      </p:sp>
      <p:sp>
        <p:nvSpPr>
          <p:cNvPr id="3" name="">
            <a:extLst xmlns:a="http://schemas.openxmlformats.org/drawingml/2006/main">
              <a:ext uri="{FF2B5EF4-FFF2-40B4-BE49-F238E27FC236}">
                <a16:creationId xmlns:a16="http://schemas.microsoft.com/office/drawing/2014/main" id="{4C7314F0-186B-4D19-9A97-F5D5B8E47B0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engine evaluation requires aligned histories and protected holdout periods</a:t>
            </a:r>
          </a:p>
        </p:txBody>
      </p:sp>
      <p:sp>
        <p:nvSpPr>
          <p:cNvPr id="4" name="">
            <a:extLst xmlns:a="http://schemas.openxmlformats.org/drawingml/2006/main">
              <a:ext uri="{FF2B5EF4-FFF2-40B4-BE49-F238E27FC236}">
                <a16:creationId xmlns:a16="http://schemas.microsoft.com/office/drawing/2014/main" id="{5E30FB87-CA84-4591-9C52-46FB3FF3758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CB2DFA8C-63AD-40D2-B0E5-04ADB4188F6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18</a:t>
            </a:r>
          </a:p>
        </p:txBody>
      </p:sp>
      <p:sp>
        <p:nvSpPr>
          <p:cNvPr id="6" name="">
            <a:extLst xmlns:a="http://schemas.openxmlformats.org/drawingml/2006/main">
              <a:ext uri="{FF2B5EF4-FFF2-40B4-BE49-F238E27FC236}">
                <a16:creationId xmlns:a16="http://schemas.microsoft.com/office/drawing/2014/main" id="{C4DB33D7-7ECD-46A9-8F34-4BE902F15AD5}"/>
              </a:ext>
            </a:extLst>
          </p:cNvPr>
          <p:cNvSpPr>
            <a:spLocks xmlns:a="http://schemas.openxmlformats.org/drawingml/2006/main" noGrp="1"/>
          </p:cNvSpPr>
          <p:nvPr/>
        </p:nvSpPr>
        <p:spPr>
          <a:xfrm xmlns:a="http://schemas.openxmlformats.org/drawingml/2006/main">
            <a:off x="723900" y="1619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REQUIRED EVIDENCE</a:t>
            </a:r>
          </a:p>
        </p:txBody>
      </p:sp>
      <p:sp>
        <p:nvSpPr>
          <p:cNvPr id="7" name="">
            <a:extLst xmlns:a="http://schemas.openxmlformats.org/drawingml/2006/main">
              <a:ext uri="{FF2B5EF4-FFF2-40B4-BE49-F238E27FC236}">
                <a16:creationId xmlns:a16="http://schemas.microsoft.com/office/drawing/2014/main" id="{7B0ED57E-1806-47AF-838B-81EDB018C49C}"/>
              </a:ext>
            </a:extLst>
          </p:cNvPr>
          <p:cNvSpPr>
            <a:spLocks xmlns:a="http://schemas.openxmlformats.org/drawingml/2006/main" noGrp="1"/>
          </p:cNvSpPr>
          <p:nvPr/>
        </p:nvSpPr>
        <p:spPr>
          <a:xfrm xmlns:a="http://schemas.openxmlformats.org/drawingml/2006/main">
            <a:off x="809625"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3759F5-13E7-491D-9F4D-08073DC11A15}"/>
              </a:ext>
            </a:extLst>
          </p:cNvPr>
          <p:cNvSpPr>
            <a:spLocks xmlns:a="http://schemas.openxmlformats.org/drawingml/2006/main" noGrp="1"/>
          </p:cNvSpPr>
          <p:nvPr/>
        </p:nvSpPr>
        <p:spPr>
          <a:xfrm xmlns:a="http://schemas.openxmlformats.org/drawingml/2006/main">
            <a:off x="1057275" y="20955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Commands + actual actuator states</a:t>
            </a:r>
          </a:p>
        </p:txBody>
      </p:sp>
      <p:sp>
        <p:nvSpPr>
          <p:cNvPr id="9" name="">
            <a:extLst xmlns:a="http://schemas.openxmlformats.org/drawingml/2006/main">
              <a:ext uri="{FF2B5EF4-FFF2-40B4-BE49-F238E27FC236}">
                <a16:creationId xmlns:a16="http://schemas.microsoft.com/office/drawing/2014/main" id="{5187C0EB-9D05-447B-A493-E6282BC720DA}"/>
              </a:ext>
            </a:extLst>
          </p:cNvPr>
          <p:cNvSpPr>
            <a:spLocks xmlns:a="http://schemas.openxmlformats.org/drawingml/2006/main" noGrp="1"/>
          </p:cNvSpPr>
          <p:nvPr/>
        </p:nvSpPr>
        <p:spPr>
          <a:xfrm xmlns:a="http://schemas.openxmlformats.org/drawingml/2006/main">
            <a:off x="809625" y="2790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8E2ABF-50B2-42B4-9E96-20489A5ECFB9}"/>
              </a:ext>
            </a:extLst>
          </p:cNvPr>
          <p:cNvSpPr>
            <a:spLocks xmlns:a="http://schemas.openxmlformats.org/drawingml/2006/main" noGrp="1"/>
          </p:cNvSpPr>
          <p:nvPr/>
        </p:nvSpPr>
        <p:spPr>
          <a:xfrm xmlns:a="http://schemas.openxmlformats.org/drawingml/2006/main">
            <a:off x="1057275" y="271462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T/RH + quality flags</a:t>
            </a:r>
          </a:p>
        </p:txBody>
      </p:sp>
      <p:sp>
        <p:nvSpPr>
          <p:cNvPr id="11" name="">
            <a:extLst xmlns:a="http://schemas.openxmlformats.org/drawingml/2006/main">
              <a:ext uri="{FF2B5EF4-FFF2-40B4-BE49-F238E27FC236}">
                <a16:creationId xmlns:a16="http://schemas.microsoft.com/office/drawing/2014/main" id="{AACEFDD2-248B-43C8-854E-6ECC4A76BE6A}"/>
              </a:ext>
            </a:extLst>
          </p:cNvPr>
          <p:cNvSpPr>
            <a:spLocks xmlns:a="http://schemas.openxmlformats.org/drawingml/2006/main" noGrp="1"/>
          </p:cNvSpPr>
          <p:nvPr/>
        </p:nvSpPr>
        <p:spPr>
          <a:xfrm xmlns:a="http://schemas.openxmlformats.org/drawingml/2006/main">
            <a:off x="809625" y="3409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9BB40FF-EBB2-4510-91C7-7F4EF5801982}"/>
              </a:ext>
            </a:extLst>
          </p:cNvPr>
          <p:cNvSpPr>
            <a:spLocks xmlns:a="http://schemas.openxmlformats.org/drawingml/2006/main" noGrp="1"/>
          </p:cNvSpPr>
          <p:nvPr/>
        </p:nvSpPr>
        <p:spPr>
          <a:xfrm xmlns:a="http://schemas.openxmlformats.org/drawingml/2006/main">
            <a:off x="1057275" y="333375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Weather + operating modes</a:t>
            </a:r>
          </a:p>
        </p:txBody>
      </p:sp>
      <p:sp>
        <p:nvSpPr>
          <p:cNvPr id="13" name="">
            <a:extLst xmlns:a="http://schemas.openxmlformats.org/drawingml/2006/main">
              <a:ext uri="{FF2B5EF4-FFF2-40B4-BE49-F238E27FC236}">
                <a16:creationId xmlns:a16="http://schemas.microsoft.com/office/drawing/2014/main" id="{085150CD-68DB-4F71-9D10-3772063BA788}"/>
              </a:ext>
            </a:extLst>
          </p:cNvPr>
          <p:cNvSpPr>
            <a:spLocks xmlns:a="http://schemas.openxmlformats.org/drawingml/2006/main" noGrp="1"/>
          </p:cNvSpPr>
          <p:nvPr/>
        </p:nvSpPr>
        <p:spPr>
          <a:xfrm xmlns:a="http://schemas.openxmlformats.org/drawingml/2006/main">
            <a:off x="809625" y="40290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E9C5D1-5CBD-4808-8B10-E8479290D21B}"/>
              </a:ext>
            </a:extLst>
          </p:cNvPr>
          <p:cNvSpPr>
            <a:spLocks xmlns:a="http://schemas.openxmlformats.org/drawingml/2006/main" noGrp="1"/>
          </p:cNvSpPr>
          <p:nvPr/>
        </p:nvSpPr>
        <p:spPr>
          <a:xfrm xmlns:a="http://schemas.openxmlformats.org/drawingml/2006/main">
            <a:off x="1057275" y="395287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or equipment power</a:t>
            </a:r>
          </a:p>
        </p:txBody>
      </p:sp>
      <p:sp>
        <p:nvSpPr>
          <p:cNvPr id="15" name="">
            <a:extLst xmlns:a="http://schemas.openxmlformats.org/drawingml/2006/main">
              <a:ext uri="{FF2B5EF4-FFF2-40B4-BE49-F238E27FC236}">
                <a16:creationId xmlns:a16="http://schemas.microsoft.com/office/drawing/2014/main" id="{822690CB-88FB-4D6E-A4EE-EAB0446FBA84}"/>
              </a:ext>
            </a:extLst>
          </p:cNvPr>
          <p:cNvSpPr>
            <a:spLocks xmlns:a="http://schemas.openxmlformats.org/drawingml/2006/main" noGrp="1"/>
          </p:cNvSpPr>
          <p:nvPr/>
        </p:nvSpPr>
        <p:spPr>
          <a:xfrm xmlns:a="http://schemas.openxmlformats.org/drawingml/2006/main">
            <a:off x="809625" y="46482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C4E0806-8FB6-49EF-846B-FD8A838BBFA4}"/>
              </a:ext>
            </a:extLst>
          </p:cNvPr>
          <p:cNvSpPr>
            <a:spLocks xmlns:a="http://schemas.openxmlformats.org/drawingml/2006/main" noGrp="1"/>
          </p:cNvSpPr>
          <p:nvPr/>
        </p:nvSpPr>
        <p:spPr>
          <a:xfrm xmlns:a="http://schemas.openxmlformats.org/drawingml/2006/main">
            <a:off x="1057275" y="45720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Maintenance and schedule events</a:t>
            </a:r>
          </a:p>
        </p:txBody>
      </p:sp>
      <p:sp>
        <p:nvSpPr>
          <p:cNvPr id="17" name="">
            <a:extLst xmlns:a="http://schemas.openxmlformats.org/drawingml/2006/main">
              <a:ext uri="{FF2B5EF4-FFF2-40B4-BE49-F238E27FC236}">
                <a16:creationId xmlns:a16="http://schemas.microsoft.com/office/drawing/2014/main" id="{AD5D2B52-76B9-4320-B285-6D8F81204C81}"/>
              </a:ext>
            </a:extLst>
          </p:cNvPr>
          <p:cNvSpPr>
            <a:spLocks xmlns:a="http://schemas.openxmlformats.org/drawingml/2006/main" noGrp="1"/>
          </p:cNvSpPr>
          <p:nvPr/>
        </p:nvSpPr>
        <p:spPr>
          <a:xfrm xmlns:a="http://schemas.openxmlformats.org/drawingml/2006/main">
            <a:off x="5095875" y="2905125"/>
            <a:ext cx="1952625" cy="1028700"/>
          </a:xfrm>
          <a:prstGeom xmlns:a="http://schemas.openxmlformats.org/drawingml/2006/main" prst="roundRect">
            <a:avLst>
              <a:gd name="adj" fmla="val 14815"/>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VALIDATION</a:t>
            </a:r>
          </a:p>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GATE</a:t>
            </a:r>
          </a:p>
        </p:txBody>
      </p:sp>
      <p:sp>
        <p:nvSpPr>
          <p:cNvPr id="18" name="">
            <a:extLst xmlns:a="http://schemas.openxmlformats.org/drawingml/2006/main">
              <a:ext uri="{FF2B5EF4-FFF2-40B4-BE49-F238E27FC236}">
                <a16:creationId xmlns:a16="http://schemas.microsoft.com/office/drawing/2014/main" id="{E1EEEA8D-BAEC-4F0C-92CB-2A400C556F02}"/>
              </a:ext>
            </a:extLst>
          </p:cNvPr>
          <p:cNvSpPr>
            <a:spLocks xmlns:a="http://schemas.openxmlformats.org/drawingml/2006/main" noGrp="1"/>
          </p:cNvSpPr>
          <p:nvPr/>
        </p:nvSpPr>
        <p:spPr>
          <a:xfrm xmlns:a="http://schemas.openxmlformats.org/drawingml/2006/main">
            <a:off x="7334250" y="16192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ACCEPTANCE CHECKS</a:t>
            </a:r>
          </a:p>
        </p:txBody>
      </p:sp>
      <p:sp>
        <p:nvSpPr>
          <p:cNvPr id="19" name="">
            <a:extLst xmlns:a="http://schemas.openxmlformats.org/drawingml/2006/main">
              <a:ext uri="{FF2B5EF4-FFF2-40B4-BE49-F238E27FC236}">
                <a16:creationId xmlns:a16="http://schemas.microsoft.com/office/drawing/2014/main" id="{DF69E10C-D0C3-4F25-A15F-F1C3AB2DF9EB}"/>
              </a:ext>
            </a:extLst>
          </p:cNvPr>
          <p:cNvSpPr>
            <a:spLocks xmlns:a="http://schemas.openxmlformats.org/drawingml/2006/main" noGrp="1"/>
          </p:cNvSpPr>
          <p:nvPr/>
        </p:nvSpPr>
        <p:spPr>
          <a:xfrm xmlns:a="http://schemas.openxmlformats.org/drawingml/2006/main">
            <a:off x="73533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18C22B8-B0BE-456B-9B44-575AEFB60925}"/>
              </a:ext>
            </a:extLst>
          </p:cNvPr>
          <p:cNvSpPr>
            <a:spLocks xmlns:a="http://schemas.openxmlformats.org/drawingml/2006/main" noGrp="1"/>
          </p:cNvSpPr>
          <p:nvPr/>
        </p:nvSpPr>
        <p:spPr>
          <a:xfrm xmlns:a="http://schemas.openxmlformats.org/drawingml/2006/main">
            <a:off x="7600950" y="20955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Chronological holdout periods</a:t>
            </a:r>
          </a:p>
        </p:txBody>
      </p:sp>
      <p:sp>
        <p:nvSpPr>
          <p:cNvPr id="21" name="">
            <a:extLst xmlns:a="http://schemas.openxmlformats.org/drawingml/2006/main">
              <a:ext uri="{FF2B5EF4-FFF2-40B4-BE49-F238E27FC236}">
                <a16:creationId xmlns:a16="http://schemas.microsoft.com/office/drawing/2014/main" id="{95167683-FC9C-4E15-A566-1295F8B555F9}"/>
              </a:ext>
            </a:extLst>
          </p:cNvPr>
          <p:cNvSpPr>
            <a:spLocks xmlns:a="http://schemas.openxmlformats.org/drawingml/2006/main" noGrp="1"/>
          </p:cNvSpPr>
          <p:nvPr/>
        </p:nvSpPr>
        <p:spPr>
          <a:xfrm xmlns:a="http://schemas.openxmlformats.org/drawingml/2006/main">
            <a:off x="7353300" y="27908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C72FFA2-A5D1-4074-84DB-C5CE50FA7A76}"/>
              </a:ext>
            </a:extLst>
          </p:cNvPr>
          <p:cNvSpPr>
            <a:spLocks xmlns:a="http://schemas.openxmlformats.org/drawingml/2006/main" noGrp="1"/>
          </p:cNvSpPr>
          <p:nvPr/>
        </p:nvSpPr>
        <p:spPr>
          <a:xfrm xmlns:a="http://schemas.openxmlformats.org/drawingml/2006/main">
            <a:off x="7600950" y="271462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Error by channel and horizon</a:t>
            </a:r>
          </a:p>
        </p:txBody>
      </p:sp>
      <p:sp>
        <p:nvSpPr>
          <p:cNvPr id="23" name="">
            <a:extLst xmlns:a="http://schemas.openxmlformats.org/drawingml/2006/main">
              <a:ext uri="{FF2B5EF4-FFF2-40B4-BE49-F238E27FC236}">
                <a16:creationId xmlns:a16="http://schemas.microsoft.com/office/drawing/2014/main" id="{2C0E33F6-9AD5-4C48-B7C9-FE4A13357362}"/>
              </a:ext>
            </a:extLst>
          </p:cNvPr>
          <p:cNvSpPr>
            <a:spLocks xmlns:a="http://schemas.openxmlformats.org/drawingml/2006/main" noGrp="1"/>
          </p:cNvSpPr>
          <p:nvPr/>
        </p:nvSpPr>
        <p:spPr>
          <a:xfrm xmlns:a="http://schemas.openxmlformats.org/drawingml/2006/main">
            <a:off x="7353300" y="34099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7CA6059-BD57-4F57-9FC3-B0A8DFE603CC}"/>
              </a:ext>
            </a:extLst>
          </p:cNvPr>
          <p:cNvSpPr>
            <a:spLocks xmlns:a="http://schemas.openxmlformats.org/drawingml/2006/main" noGrp="1"/>
          </p:cNvSpPr>
          <p:nvPr/>
        </p:nvSpPr>
        <p:spPr>
          <a:xfrm xmlns:a="http://schemas.openxmlformats.org/drawingml/2006/main">
            <a:off x="7600950" y="333375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Constraint-event detection</a:t>
            </a:r>
          </a:p>
        </p:txBody>
      </p:sp>
      <p:sp>
        <p:nvSpPr>
          <p:cNvPr id="25" name="">
            <a:extLst xmlns:a="http://schemas.openxmlformats.org/drawingml/2006/main">
              <a:ext uri="{FF2B5EF4-FFF2-40B4-BE49-F238E27FC236}">
                <a16:creationId xmlns:a16="http://schemas.microsoft.com/office/drawing/2014/main" id="{9333CF27-CA17-4583-A782-E55386078704}"/>
              </a:ext>
            </a:extLst>
          </p:cNvPr>
          <p:cNvSpPr>
            <a:spLocks xmlns:a="http://schemas.openxmlformats.org/drawingml/2006/main" noGrp="1"/>
          </p:cNvSpPr>
          <p:nvPr/>
        </p:nvSpPr>
        <p:spPr>
          <a:xfrm xmlns:a="http://schemas.openxmlformats.org/drawingml/2006/main">
            <a:off x="7353300" y="40290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4A7DFA-B512-4077-98CB-CB0A7FB197EF}"/>
              </a:ext>
            </a:extLst>
          </p:cNvPr>
          <p:cNvSpPr>
            <a:spLocks xmlns:a="http://schemas.openxmlformats.org/drawingml/2006/main" noGrp="1"/>
          </p:cNvSpPr>
          <p:nvPr/>
        </p:nvSpPr>
        <p:spPr>
          <a:xfrm xmlns:a="http://schemas.openxmlformats.org/drawingml/2006/main">
            <a:off x="7600950" y="395287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calibration</a:t>
            </a:r>
          </a:p>
        </p:txBody>
      </p:sp>
      <p:sp>
        <p:nvSpPr>
          <p:cNvPr id="27" name="">
            <a:extLst xmlns:a="http://schemas.openxmlformats.org/drawingml/2006/main">
              <a:ext uri="{FF2B5EF4-FFF2-40B4-BE49-F238E27FC236}">
                <a16:creationId xmlns:a16="http://schemas.microsoft.com/office/drawing/2014/main" id="{0100CAA1-7876-42D3-86DB-82AAF32FD7A8}"/>
              </a:ext>
            </a:extLst>
          </p:cNvPr>
          <p:cNvSpPr>
            <a:spLocks xmlns:a="http://schemas.openxmlformats.org/drawingml/2006/main" noGrp="1"/>
          </p:cNvSpPr>
          <p:nvPr/>
        </p:nvSpPr>
        <p:spPr>
          <a:xfrm xmlns:a="http://schemas.openxmlformats.org/drawingml/2006/main">
            <a:off x="73533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37123ED-24A0-4D4C-AE7C-43A6FBAB59F8}"/>
              </a:ext>
            </a:extLst>
          </p:cNvPr>
          <p:cNvSpPr>
            <a:spLocks xmlns:a="http://schemas.openxmlformats.org/drawingml/2006/main" noGrp="1"/>
          </p:cNvSpPr>
          <p:nvPr/>
        </p:nvSpPr>
        <p:spPr>
          <a:xfrm xmlns:a="http://schemas.openxmlformats.org/drawingml/2006/main">
            <a:off x="7600950" y="45720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Reject unsupported scenarios</a:t>
            </a:r>
          </a:p>
        </p:txBody>
      </p:sp>
      <p:sp>
        <p:nvSpPr>
          <p:cNvPr id="29" name="">
            <a:extLst xmlns:a="http://schemas.openxmlformats.org/drawingml/2006/main">
              <a:ext uri="{FF2B5EF4-FFF2-40B4-BE49-F238E27FC236}">
                <a16:creationId xmlns:a16="http://schemas.microsoft.com/office/drawing/2014/main" id="{CFEC4415-1D61-474F-95F9-94E5D152F728}"/>
              </a:ext>
            </a:extLst>
          </p:cNvPr>
          <p:cNvSpPr>
            <a:spLocks xmlns:a="http://schemas.openxmlformats.org/drawingml/2006/main" noGrp="1"/>
          </p:cNvSpPr>
          <p:nvPr/>
        </p:nvSpPr>
        <p:spPr>
          <a:xfrm xmlns:a="http://schemas.openxmlformats.org/drawingml/2006/main">
            <a:off x="5619750" y="2190750"/>
            <a:ext cx="0" cy="4953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30" name="">
            <a:extLst xmlns:a="http://schemas.openxmlformats.org/drawingml/2006/main">
              <a:ext uri="{FF2B5EF4-FFF2-40B4-BE49-F238E27FC236}">
                <a16:creationId xmlns:a16="http://schemas.microsoft.com/office/drawing/2014/main" id="{F006A863-911F-4FD3-9431-CB0FC720CA10}"/>
              </a:ext>
            </a:extLst>
          </p:cNvPr>
          <p:cNvSpPr>
            <a:spLocks xmlns:a="http://schemas.openxmlformats.org/drawingml/2006/main" noGrp="1"/>
          </p:cNvSpPr>
          <p:nvPr/>
        </p:nvSpPr>
        <p:spPr>
          <a:xfrm xmlns:a="http://schemas.openxmlformats.org/drawingml/2006/main">
            <a:off x="6496050" y="3981450"/>
            <a:ext cx="0" cy="714375"/>
          </a:xfrm>
          <a:prstGeom xmlns:a="http://schemas.openxmlformats.org/drawingml/2006/main" prst="line">
            <a:avLst/>
          </a:prstGeom>
          <a:noFill xmlns:a="http://schemas.openxmlformats.org/drawingml/2006/main"/>
          <a:ln xmlns:a="http://schemas.openxmlformats.org/drawingml/2006/main" w="28575">
            <a:solidFill>
              <a:srgbClr val="E69B3A"/>
            </a:solidFill>
            <a:prstDash val="solid"/>
          </a:ln>
        </p:spPr>
      </p:sp>
      <p:sp>
        <p:nvSpPr>
          <p:cNvPr id="31" name="">
            <a:extLst xmlns:a="http://schemas.openxmlformats.org/drawingml/2006/main">
              <a:ext uri="{FF2B5EF4-FFF2-40B4-BE49-F238E27FC236}">
                <a16:creationId xmlns:a16="http://schemas.microsoft.com/office/drawing/2014/main" id="{861CE341-3D46-4F16-A683-F2E564C0F65E}"/>
              </a:ext>
            </a:extLst>
          </p:cNvPr>
          <p:cNvSpPr>
            <a:spLocks xmlns:a="http://schemas.openxmlformats.org/drawingml/2006/main" noGrp="1"/>
          </p:cNvSpPr>
          <p:nvPr/>
        </p:nvSpPr>
        <p:spPr>
          <a:xfrm xmlns:a="http://schemas.openxmlformats.org/drawingml/2006/main">
            <a:off x="3676650" y="5314950"/>
            <a:ext cx="4857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B85246"/>
                </a:solidFill>
                <a:latin typeface="Arimo"/>
                <a:ea typeface="Arimo"/>
                <a:cs typeface="Arimo"/>
              </a:defRPr>
            </a:pPr>
            <a:r>
              <a:rPr sz="1875" b="1" i="0">
                <a:solidFill>
                  <a:srgbClr val="B85246"/>
                </a:solidFill>
                <a:latin typeface="Arimo"/>
                <a:ea typeface="Arimo"/>
                <a:cs typeface="Arimo"/>
              </a:rPr>
              <a:t>Data alignment is the first technical risk</a:t>
            </a:r>
          </a:p>
        </p:txBody>
      </p:sp>
    </p:spTree>
    <p:extLst>
      <p:ext uri="{BB962C8B-B14F-4D97-AF65-F5344CB8AC3E}">
        <p14:creationId xmlns:p14="http://schemas.microsoft.com/office/powerpoint/2010/main" val="1462364832"/>
      </p:ext>
    </p:extLst>
  </p:cSld>
</p:sld>
</file>

<file path=ppt/slides/slide1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C3506B-C4DD-456A-9B92-4F333ABFC08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A1E8543-A5D7-47DE-AEFB-176E5FF3224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accuracy and observability</a:t>
            </a:r>
          </a:p>
        </p:txBody>
      </p:sp>
      <p:sp>
        <p:nvSpPr>
          <p:cNvPr id="3" name="">
            <a:extLst xmlns:a="http://schemas.openxmlformats.org/drawingml/2006/main">
              <a:ext uri="{FF2B5EF4-FFF2-40B4-BE49-F238E27FC236}">
                <a16:creationId xmlns:a16="http://schemas.microsoft.com/office/drawing/2014/main" id="{F33ABB51-7942-42BC-AAF7-6CC1507C5DB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Prediction quality must be reported by use case, horizon, and operating region</a:t>
            </a:r>
          </a:p>
        </p:txBody>
      </p:sp>
      <p:sp>
        <p:nvSpPr>
          <p:cNvPr id="4" name="">
            <a:extLst xmlns:a="http://schemas.openxmlformats.org/drawingml/2006/main">
              <a:ext uri="{FF2B5EF4-FFF2-40B4-BE49-F238E27FC236}">
                <a16:creationId xmlns:a16="http://schemas.microsoft.com/office/drawing/2014/main" id="{BC2247F8-B6B7-4A88-925C-252E2AB5B1C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EE1FB8F4-1870-4129-8046-63F48894FD4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19</a:t>
            </a:r>
          </a:p>
        </p:txBody>
      </p:sp>
      <p:sp>
        <p:nvSpPr>
          <p:cNvPr id="6" name="">
            <a:extLst xmlns:a="http://schemas.openxmlformats.org/drawingml/2006/main">
              <a:ext uri="{FF2B5EF4-FFF2-40B4-BE49-F238E27FC236}">
                <a16:creationId xmlns:a16="http://schemas.microsoft.com/office/drawing/2014/main" id="{33995630-8602-4DC6-B37E-BE81E5B79C0B}"/>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01</a:t>
            </a:r>
          </a:p>
        </p:txBody>
      </p:sp>
      <p:sp>
        <p:nvSpPr>
          <p:cNvPr id="7" name="">
            <a:extLst xmlns:a="http://schemas.openxmlformats.org/drawingml/2006/main">
              <a:ext uri="{FF2B5EF4-FFF2-40B4-BE49-F238E27FC236}">
                <a16:creationId xmlns:a16="http://schemas.microsoft.com/office/drawing/2014/main" id="{03A0842E-84DF-46C6-BD8A-6B5FFB372286}"/>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accurate must the simulator be?</a:t>
            </a:r>
          </a:p>
        </p:txBody>
      </p:sp>
      <p:sp>
        <p:nvSpPr>
          <p:cNvPr id="8" name="">
            <a:extLst xmlns:a="http://schemas.openxmlformats.org/drawingml/2006/main">
              <a:ext uri="{FF2B5EF4-FFF2-40B4-BE49-F238E27FC236}">
                <a16:creationId xmlns:a16="http://schemas.microsoft.com/office/drawing/2014/main" id="{81E6B811-BCC2-4EDB-A082-B5E556549DEF}"/>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Use-case thresholds. Report error by channel, horizon, season, and operating region.</a:t>
            </a:r>
          </a:p>
        </p:txBody>
      </p:sp>
      <p:sp>
        <p:nvSpPr>
          <p:cNvPr id="9" name="">
            <a:extLst xmlns:a="http://schemas.openxmlformats.org/drawingml/2006/main">
              <a:ext uri="{FF2B5EF4-FFF2-40B4-BE49-F238E27FC236}">
                <a16:creationId xmlns:a16="http://schemas.microsoft.com/office/drawing/2014/main" id="{DB90D3F6-6BFC-46F6-8E1A-CE8B525EA605}"/>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D131F18C-DFB5-45CD-95BF-76DB855463B0}"/>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02</a:t>
            </a:r>
          </a:p>
        </p:txBody>
      </p:sp>
      <p:sp>
        <p:nvSpPr>
          <p:cNvPr id="11" name="">
            <a:extLst xmlns:a="http://schemas.openxmlformats.org/drawingml/2006/main">
              <a:ext uri="{FF2B5EF4-FFF2-40B4-BE49-F238E27FC236}">
                <a16:creationId xmlns:a16="http://schemas.microsoft.com/office/drawing/2014/main" id="{C2421FFC-B653-4946-B170-E822D1FA0638}"/>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if sensors are missing or unreliable?</a:t>
            </a:r>
          </a:p>
        </p:txBody>
      </p:sp>
      <p:sp>
        <p:nvSpPr>
          <p:cNvPr id="12" name="">
            <a:extLst xmlns:a="http://schemas.openxmlformats.org/drawingml/2006/main">
              <a:ext uri="{FF2B5EF4-FFF2-40B4-BE49-F238E27FC236}">
                <a16:creationId xmlns:a16="http://schemas.microsoft.com/office/drawing/2014/main" id="{AD7DD766-0B94-4D0B-81BE-553E9243B49A}"/>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Flag degraded operation. Reject the run or widen uncertainty when evidence is insufficient.</a:t>
            </a:r>
          </a:p>
        </p:txBody>
      </p:sp>
      <p:sp>
        <p:nvSpPr>
          <p:cNvPr id="13" name="">
            <a:extLst xmlns:a="http://schemas.openxmlformats.org/drawingml/2006/main">
              <a:ext uri="{FF2B5EF4-FFF2-40B4-BE49-F238E27FC236}">
                <a16:creationId xmlns:a16="http://schemas.microsoft.com/office/drawing/2014/main" id="{A6106A1B-F125-4A0B-8162-49DB57FA6EC8}"/>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5FE2771E-C23C-43FE-AFD6-281A9C8D21E0}"/>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03</a:t>
            </a:r>
          </a:p>
        </p:txBody>
      </p:sp>
      <p:sp>
        <p:nvSpPr>
          <p:cNvPr id="15" name="">
            <a:extLst xmlns:a="http://schemas.openxmlformats.org/drawingml/2006/main">
              <a:ext uri="{FF2B5EF4-FFF2-40B4-BE49-F238E27FC236}">
                <a16:creationId xmlns:a16="http://schemas.microsoft.com/office/drawing/2014/main" id="{477B0A06-AA76-4091-8F85-A9BA2AA15A73}"/>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causal response be validated?</a:t>
            </a:r>
          </a:p>
        </p:txBody>
      </p:sp>
      <p:sp>
        <p:nvSpPr>
          <p:cNvPr id="16" name="">
            <a:extLst xmlns:a="http://schemas.openxmlformats.org/drawingml/2006/main">
              <a:ext uri="{FF2B5EF4-FFF2-40B4-BE49-F238E27FC236}">
                <a16:creationId xmlns:a16="http://schemas.microsoft.com/office/drawing/2014/main" id="{97FC34BC-93ED-4BB1-93D1-4BEEB04D5312}"/>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Align controls, actuator states, context, and protected chronological holdout periods.</a:t>
            </a:r>
          </a:p>
        </p:txBody>
      </p:sp>
      <p:sp>
        <p:nvSpPr>
          <p:cNvPr id="17" name="">
            <a:extLst xmlns:a="http://schemas.openxmlformats.org/drawingml/2006/main">
              <a:ext uri="{FF2B5EF4-FFF2-40B4-BE49-F238E27FC236}">
                <a16:creationId xmlns:a16="http://schemas.microsoft.com/office/drawing/2014/main" id="{E045D124-2CD7-42C1-B662-5E8A2201CBC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845857735"/>
      </p:ext>
    </p:extLst>
  </p:cSld>
</p:sld>
</file>

<file path=ppt/slides/slide2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8800B75-6014-4D13-A47C-A49CEDDB56B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C95032-18DE-453D-A763-B59B6F9E123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safety and operational authority</a:t>
            </a:r>
          </a:p>
        </p:txBody>
      </p:sp>
      <p:sp>
        <p:nvSpPr>
          <p:cNvPr id="3" name="">
            <a:extLst xmlns:a="http://schemas.openxmlformats.org/drawingml/2006/main">
              <a:ext uri="{FF2B5EF4-FFF2-40B4-BE49-F238E27FC236}">
                <a16:creationId xmlns:a16="http://schemas.microsoft.com/office/drawing/2014/main" id="{E8E90F9D-5037-4DEA-A88C-23446E3F28C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Simulation evidence supports operators and does not bypass them</a:t>
            </a:r>
          </a:p>
        </p:txBody>
      </p:sp>
      <p:sp>
        <p:nvSpPr>
          <p:cNvPr id="4" name="">
            <a:extLst xmlns:a="http://schemas.openxmlformats.org/drawingml/2006/main">
              <a:ext uri="{FF2B5EF4-FFF2-40B4-BE49-F238E27FC236}">
                <a16:creationId xmlns:a16="http://schemas.microsoft.com/office/drawing/2014/main" id="{8818C454-5552-4A26-ACEF-667D9FB6975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706DA99D-07CD-4FBB-ADA3-1986A319980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20</a:t>
            </a:r>
          </a:p>
        </p:txBody>
      </p:sp>
      <p:sp>
        <p:nvSpPr>
          <p:cNvPr id="6" name="">
            <a:extLst xmlns:a="http://schemas.openxmlformats.org/drawingml/2006/main">
              <a:ext uri="{FF2B5EF4-FFF2-40B4-BE49-F238E27FC236}">
                <a16:creationId xmlns:a16="http://schemas.microsoft.com/office/drawing/2014/main" id="{64080F08-D103-48C8-8330-B850AA707B99}"/>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04</a:t>
            </a:r>
          </a:p>
        </p:txBody>
      </p:sp>
      <p:sp>
        <p:nvSpPr>
          <p:cNvPr id="7" name="">
            <a:extLst xmlns:a="http://schemas.openxmlformats.org/drawingml/2006/main">
              <a:ext uri="{FF2B5EF4-FFF2-40B4-BE49-F238E27FC236}">
                <a16:creationId xmlns:a16="http://schemas.microsoft.com/office/drawing/2014/main" id="{6076AAE5-C45F-4315-BAC2-435CD69D0B32}"/>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Could the simulator damage equipment?</a:t>
            </a:r>
          </a:p>
        </p:txBody>
      </p:sp>
      <p:sp>
        <p:nvSpPr>
          <p:cNvPr id="8" name="">
            <a:extLst xmlns:a="http://schemas.openxmlformats.org/drawingml/2006/main">
              <a:ext uri="{FF2B5EF4-FFF2-40B4-BE49-F238E27FC236}">
                <a16:creationId xmlns:a16="http://schemas.microsoft.com/office/drawing/2014/main" id="{19FFF817-B1B4-4411-A3D6-1EAA1E3AA74F}"/>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No. The PoC has no write path to equipment.</a:t>
            </a:r>
          </a:p>
        </p:txBody>
      </p:sp>
      <p:sp>
        <p:nvSpPr>
          <p:cNvPr id="9" name="">
            <a:extLst xmlns:a="http://schemas.openxmlformats.org/drawingml/2006/main">
              <a:ext uri="{FF2B5EF4-FFF2-40B4-BE49-F238E27FC236}">
                <a16:creationId xmlns:a16="http://schemas.microsoft.com/office/drawing/2014/main" id="{8BA18758-39B9-4247-824C-7727F980D973}"/>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8B9EA731-0E77-4262-BF67-A21B35DA4C56}"/>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05</a:t>
            </a:r>
          </a:p>
        </p:txBody>
      </p:sp>
      <p:sp>
        <p:nvSpPr>
          <p:cNvPr id="11" name="">
            <a:extLst xmlns:a="http://schemas.openxmlformats.org/drawingml/2006/main">
              <a:ext uri="{FF2B5EF4-FFF2-40B4-BE49-F238E27FC236}">
                <a16:creationId xmlns:a16="http://schemas.microsoft.com/office/drawing/2014/main" id="{7DAE2DB2-04B4-4D7D-A199-5512244980FA}"/>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authorizes a field trial?</a:t>
            </a:r>
          </a:p>
        </p:txBody>
      </p:sp>
      <p:sp>
        <p:nvSpPr>
          <p:cNvPr id="12" name="">
            <a:extLst xmlns:a="http://schemas.openxmlformats.org/drawingml/2006/main">
              <a:ext uri="{FF2B5EF4-FFF2-40B4-BE49-F238E27FC236}">
                <a16:creationId xmlns:a16="http://schemas.microsoft.com/office/drawing/2014/main" id="{05A28596-4958-413B-9D0F-6A3B4C5E5EDA}"/>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Biosphere 2 operations retains authority for every field trial.</a:t>
            </a:r>
          </a:p>
        </p:txBody>
      </p:sp>
      <p:sp>
        <p:nvSpPr>
          <p:cNvPr id="13" name="">
            <a:extLst xmlns:a="http://schemas.openxmlformats.org/drawingml/2006/main">
              <a:ext uri="{FF2B5EF4-FFF2-40B4-BE49-F238E27FC236}">
                <a16:creationId xmlns:a16="http://schemas.microsoft.com/office/drawing/2014/main" id="{6105E05A-0846-4E21-98B7-A4CDF4195941}"/>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27AF235B-0C54-4C12-AEF8-84BE17B7FAAE}"/>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06</a:t>
            </a:r>
          </a:p>
        </p:txBody>
      </p:sp>
      <p:sp>
        <p:nvSpPr>
          <p:cNvPr id="15" name="">
            <a:extLst xmlns:a="http://schemas.openxmlformats.org/drawingml/2006/main">
              <a:ext uri="{FF2B5EF4-FFF2-40B4-BE49-F238E27FC236}">
                <a16:creationId xmlns:a16="http://schemas.microsoft.com/office/drawing/2014/main" id="{C001F71A-4C14-4A53-B3B9-348CAF0EC5E2}"/>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cybersecurity handled?</a:t>
            </a:r>
          </a:p>
        </p:txBody>
      </p:sp>
      <p:sp>
        <p:nvSpPr>
          <p:cNvPr id="16" name="">
            <a:extLst xmlns:a="http://schemas.openxmlformats.org/drawingml/2006/main">
              <a:ext uri="{FF2B5EF4-FFF2-40B4-BE49-F238E27FC236}">
                <a16:creationId xmlns:a16="http://schemas.microsoft.com/office/drawing/2014/main" id="{56B4AC1A-0A20-44B4-8633-E17E31940FF5}"/>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 offline copies, least privilege, versioning, and network separation.</a:t>
            </a:r>
          </a:p>
        </p:txBody>
      </p:sp>
      <p:sp>
        <p:nvSpPr>
          <p:cNvPr id="17" name="">
            <a:extLst xmlns:a="http://schemas.openxmlformats.org/drawingml/2006/main">
              <a:ext uri="{FF2B5EF4-FFF2-40B4-BE49-F238E27FC236}">
                <a16:creationId xmlns:a16="http://schemas.microsoft.com/office/drawing/2014/main" id="{C88C0927-F5F8-4EF8-9D6C-9FDA4B3E60D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216204258"/>
      </p:ext>
    </p:extLst>
  </p:cSld>
</p:sld>
</file>

<file path=ppt/slides/slide2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D6301CF-6050-40FE-BFE9-04151DC4D62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0923235-111F-46B8-9B0C-5451B56EE7A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model and platform choices</a:t>
            </a:r>
          </a:p>
        </p:txBody>
      </p:sp>
      <p:sp>
        <p:nvSpPr>
          <p:cNvPr id="3" name="">
            <a:extLst xmlns:a="http://schemas.openxmlformats.org/drawingml/2006/main">
              <a:ext uri="{FF2B5EF4-FFF2-40B4-BE49-F238E27FC236}">
                <a16:creationId xmlns:a16="http://schemas.microsoft.com/office/drawing/2014/main" id="{21C40CAA-1166-474E-8C09-E713B09C745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contract stays stable while evidence determines the engine</a:t>
            </a:r>
          </a:p>
        </p:txBody>
      </p:sp>
      <p:sp>
        <p:nvSpPr>
          <p:cNvPr id="4" name="">
            <a:extLst xmlns:a="http://schemas.openxmlformats.org/drawingml/2006/main">
              <a:ext uri="{FF2B5EF4-FFF2-40B4-BE49-F238E27FC236}">
                <a16:creationId xmlns:a16="http://schemas.microsoft.com/office/drawing/2014/main" id="{83FA4701-919F-48F6-98A5-1C07ACF9BEF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3B1522EB-E2B4-4C59-ACBA-5FC4E6D322DD}"/>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21</a:t>
            </a:r>
          </a:p>
        </p:txBody>
      </p:sp>
      <p:sp>
        <p:nvSpPr>
          <p:cNvPr id="6" name="">
            <a:extLst xmlns:a="http://schemas.openxmlformats.org/drawingml/2006/main">
              <a:ext uri="{FF2B5EF4-FFF2-40B4-BE49-F238E27FC236}">
                <a16:creationId xmlns:a16="http://schemas.microsoft.com/office/drawing/2014/main" id="{37ACA6C6-8B1D-4713-9D0D-C9E11E287E79}"/>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07</a:t>
            </a:r>
          </a:p>
        </p:txBody>
      </p:sp>
      <p:sp>
        <p:nvSpPr>
          <p:cNvPr id="7" name="">
            <a:extLst xmlns:a="http://schemas.openxmlformats.org/drawingml/2006/main">
              <a:ext uri="{FF2B5EF4-FFF2-40B4-BE49-F238E27FC236}">
                <a16:creationId xmlns:a16="http://schemas.microsoft.com/office/drawing/2014/main" id="{711B8226-CCB4-4659-8753-0D36D983C5D0}"/>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not use EnergyPlus alone?</a:t>
            </a:r>
          </a:p>
        </p:txBody>
      </p:sp>
      <p:sp>
        <p:nvSpPr>
          <p:cNvPr id="8" name="">
            <a:extLst xmlns:a="http://schemas.openxmlformats.org/drawingml/2006/main">
              <a:ext uri="{FF2B5EF4-FFF2-40B4-BE49-F238E27FC236}">
                <a16:creationId xmlns:a16="http://schemas.microsoft.com/office/drawing/2014/main" id="{354EAFB9-4356-46F7-A8CA-BBFAE5A504B3}"/>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EnergyPlus still needs RainForest-specific representation, calibration, and validation.</a:t>
            </a:r>
          </a:p>
        </p:txBody>
      </p:sp>
      <p:sp>
        <p:nvSpPr>
          <p:cNvPr id="9" name="">
            <a:extLst xmlns:a="http://schemas.openxmlformats.org/drawingml/2006/main">
              <a:ext uri="{FF2B5EF4-FFF2-40B4-BE49-F238E27FC236}">
                <a16:creationId xmlns:a16="http://schemas.microsoft.com/office/drawing/2014/main" id="{88B55D5C-4DC1-49D0-A670-EB91A9AA366D}"/>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2D7FE435-ECD3-40CC-877C-C81C7E049FC2}"/>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08</a:t>
            </a:r>
          </a:p>
        </p:txBody>
      </p:sp>
      <p:sp>
        <p:nvSpPr>
          <p:cNvPr id="11" name="">
            <a:extLst xmlns:a="http://schemas.openxmlformats.org/drawingml/2006/main">
              <a:ext uri="{FF2B5EF4-FFF2-40B4-BE49-F238E27FC236}">
                <a16:creationId xmlns:a16="http://schemas.microsoft.com/office/drawing/2014/main" id="{2A220A67-BF30-481B-9969-5EBD3F73B09C}"/>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consider an LSTM?</a:t>
            </a:r>
          </a:p>
        </p:txBody>
      </p:sp>
      <p:sp>
        <p:nvSpPr>
          <p:cNvPr id="12" name="">
            <a:extLst xmlns:a="http://schemas.openxmlformats.org/drawingml/2006/main">
              <a:ext uri="{FF2B5EF4-FFF2-40B4-BE49-F238E27FC236}">
                <a16:creationId xmlns:a16="http://schemas.microsoft.com/office/drawing/2014/main" id="{DF4CC51E-31AD-4160-A57E-5692D307D1CD}"/>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An LSTM can learn delayed nonlinear behavior, but it must pass coverage and uncertainty checks.</a:t>
            </a:r>
          </a:p>
        </p:txBody>
      </p:sp>
      <p:sp>
        <p:nvSpPr>
          <p:cNvPr id="13" name="">
            <a:extLst xmlns:a="http://schemas.openxmlformats.org/drawingml/2006/main">
              <a:ext uri="{FF2B5EF4-FFF2-40B4-BE49-F238E27FC236}">
                <a16:creationId xmlns:a16="http://schemas.microsoft.com/office/drawing/2014/main" id="{DFEE3801-8011-4FE7-8421-8E225EACEDA7}"/>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8261AF8B-8ECC-4AC5-86A7-155FDE69F03B}"/>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09</a:t>
            </a:r>
          </a:p>
        </p:txBody>
      </p:sp>
      <p:sp>
        <p:nvSpPr>
          <p:cNvPr id="15" name="">
            <a:extLst xmlns:a="http://schemas.openxmlformats.org/drawingml/2006/main">
              <a:ext uri="{FF2B5EF4-FFF2-40B4-BE49-F238E27FC236}">
                <a16:creationId xmlns:a16="http://schemas.microsoft.com/office/drawing/2014/main" id="{4199F57C-AD6D-44C4-BD60-6D3DAF3887B8}"/>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can a new engine be added?</a:t>
            </a:r>
          </a:p>
        </p:txBody>
      </p:sp>
      <p:sp>
        <p:nvSpPr>
          <p:cNvPr id="16" name="">
            <a:extLst xmlns:a="http://schemas.openxmlformats.org/drawingml/2006/main">
              <a:ext uri="{FF2B5EF4-FFF2-40B4-BE49-F238E27FC236}">
                <a16:creationId xmlns:a16="http://schemas.microsoft.com/office/drawing/2014/main" id="{BDA0774D-F672-45B7-8572-8F77C85B67B8}"/>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 common input/output contract and adapters isolate every engine.</a:t>
            </a:r>
          </a:p>
        </p:txBody>
      </p:sp>
      <p:sp>
        <p:nvSpPr>
          <p:cNvPr id="17" name="">
            <a:extLst xmlns:a="http://schemas.openxmlformats.org/drawingml/2006/main">
              <a:ext uri="{FF2B5EF4-FFF2-40B4-BE49-F238E27FC236}">
                <a16:creationId xmlns:a16="http://schemas.microsoft.com/office/drawing/2014/main" id="{7094C098-7670-4231-AE6B-3D844B587D55}"/>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59957579"/>
      </p:ext>
    </p:extLst>
  </p:cSld>
</p:sld>
</file>

<file path=ppt/slides/slide2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6C20165-EDFA-4C9E-801F-797E3324AFD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80A066-EFC6-4F28-96DE-4EAFF8BC8A3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value and schedule</a:t>
            </a:r>
          </a:p>
        </p:txBody>
      </p:sp>
      <p:sp>
        <p:nvSpPr>
          <p:cNvPr id="3" name="">
            <a:extLst xmlns:a="http://schemas.openxmlformats.org/drawingml/2006/main">
              <a:ext uri="{FF2B5EF4-FFF2-40B4-BE49-F238E27FC236}">
                <a16:creationId xmlns:a16="http://schemas.microsoft.com/office/drawing/2014/main" id="{61D21A2C-BC09-4CAB-BEAF-B6D50AD7ED9C}"/>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measures whether a larger investment is justified</a:t>
            </a:r>
          </a:p>
        </p:txBody>
      </p:sp>
      <p:sp>
        <p:nvSpPr>
          <p:cNvPr id="4" name="">
            <a:extLst xmlns:a="http://schemas.openxmlformats.org/drawingml/2006/main">
              <a:ext uri="{FF2B5EF4-FFF2-40B4-BE49-F238E27FC236}">
                <a16:creationId xmlns:a16="http://schemas.microsoft.com/office/drawing/2014/main" id="{48549865-D2CF-417C-8EEB-F0F9B2D82AE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04869985-555C-4DA7-BE45-7BFFEF50B9E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22</a:t>
            </a:r>
          </a:p>
        </p:txBody>
      </p:sp>
      <p:sp>
        <p:nvSpPr>
          <p:cNvPr id="6" name="">
            <a:extLst xmlns:a="http://schemas.openxmlformats.org/drawingml/2006/main">
              <a:ext uri="{FF2B5EF4-FFF2-40B4-BE49-F238E27FC236}">
                <a16:creationId xmlns:a16="http://schemas.microsoft.com/office/drawing/2014/main" id="{124F183D-5202-4AF8-9600-8C4BA3E35FB6}"/>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10</a:t>
            </a:r>
          </a:p>
        </p:txBody>
      </p:sp>
      <p:sp>
        <p:nvSpPr>
          <p:cNvPr id="7" name="">
            <a:extLst xmlns:a="http://schemas.openxmlformats.org/drawingml/2006/main">
              <a:ext uri="{FF2B5EF4-FFF2-40B4-BE49-F238E27FC236}">
                <a16:creationId xmlns:a16="http://schemas.microsoft.com/office/drawing/2014/main" id="{A4602124-798E-45FF-BFC3-A3FD17D4249E}"/>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energy savings be proven?</a:t>
            </a:r>
          </a:p>
        </p:txBody>
      </p:sp>
      <p:sp>
        <p:nvSpPr>
          <p:cNvPr id="8" name="">
            <a:extLst xmlns:a="http://schemas.openxmlformats.org/drawingml/2006/main">
              <a:ext uri="{FF2B5EF4-FFF2-40B4-BE49-F238E27FC236}">
                <a16:creationId xmlns:a16="http://schemas.microsoft.com/office/drawing/2014/main" id="{C2884964-9756-4695-B0E0-647B12D660B3}"/>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Calibrate energy indicators, then validate them against an approved operational baseline.</a:t>
            </a:r>
          </a:p>
        </p:txBody>
      </p:sp>
      <p:sp>
        <p:nvSpPr>
          <p:cNvPr id="9" name="">
            <a:extLst xmlns:a="http://schemas.openxmlformats.org/drawingml/2006/main">
              <a:ext uri="{FF2B5EF4-FFF2-40B4-BE49-F238E27FC236}">
                <a16:creationId xmlns:a16="http://schemas.microsoft.com/office/drawing/2014/main" id="{3E923D34-EC9F-40A1-A3E7-39D82B39266F}"/>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99D82B82-9721-4EB9-8BD8-8C2FEAD17AC4}"/>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11</a:t>
            </a:r>
          </a:p>
        </p:txBody>
      </p:sp>
      <p:sp>
        <p:nvSpPr>
          <p:cNvPr id="11" name="">
            <a:extLst xmlns:a="http://schemas.openxmlformats.org/drawingml/2006/main">
              <a:ext uri="{FF2B5EF4-FFF2-40B4-BE49-F238E27FC236}">
                <a16:creationId xmlns:a16="http://schemas.microsoft.com/office/drawing/2014/main" id="{89F8256A-1493-4424-A5DC-14D5FA2538C8}"/>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resources does the PoC require?</a:t>
            </a:r>
          </a:p>
        </p:txBody>
      </p:sp>
      <p:sp>
        <p:nvSpPr>
          <p:cNvPr id="12" name="">
            <a:extLst xmlns:a="http://schemas.openxmlformats.org/drawingml/2006/main">
              <a:ext uri="{FF2B5EF4-FFF2-40B4-BE49-F238E27FC236}">
                <a16:creationId xmlns:a16="http://schemas.microsoft.com/office/drawing/2014/main" id="{E6036B8F-6CA0-45D2-8FAB-51541A000BAF}"/>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Authorized data, an operations liaison, implementation time, and ordinary compute.</a:t>
            </a:r>
          </a:p>
        </p:txBody>
      </p:sp>
      <p:sp>
        <p:nvSpPr>
          <p:cNvPr id="13" name="">
            <a:extLst xmlns:a="http://schemas.openxmlformats.org/drawingml/2006/main">
              <a:ext uri="{FF2B5EF4-FFF2-40B4-BE49-F238E27FC236}">
                <a16:creationId xmlns:a16="http://schemas.microsoft.com/office/drawing/2014/main" id="{93DA1A1A-5A09-4F14-9207-68D2FED4B9EF}"/>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B63E2ECE-043A-4D4E-9E49-53E2D15E2826}"/>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12</a:t>
            </a:r>
          </a:p>
        </p:txBody>
      </p:sp>
      <p:sp>
        <p:nvSpPr>
          <p:cNvPr id="15" name="">
            <a:extLst xmlns:a="http://schemas.openxmlformats.org/drawingml/2006/main">
              <a:ext uri="{FF2B5EF4-FFF2-40B4-BE49-F238E27FC236}">
                <a16:creationId xmlns:a16="http://schemas.microsoft.com/office/drawing/2014/main" id="{AD4A71E6-3C8B-47D5-8FAE-2D3F13995192}"/>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sixteen weeks?</a:t>
            </a:r>
          </a:p>
        </p:txBody>
      </p:sp>
      <p:sp>
        <p:nvSpPr>
          <p:cNvPr id="16" name="">
            <a:extLst xmlns:a="http://schemas.openxmlformats.org/drawingml/2006/main">
              <a:ext uri="{FF2B5EF4-FFF2-40B4-BE49-F238E27FC236}">
                <a16:creationId xmlns:a16="http://schemas.microsoft.com/office/drawing/2014/main" id="{7EFEAE73-8C13-44E7-B583-5C043EBE66A1}"/>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Four stages cover data, models, platform integration, and operator-reviewed validation.</a:t>
            </a:r>
          </a:p>
        </p:txBody>
      </p:sp>
      <p:sp>
        <p:nvSpPr>
          <p:cNvPr id="17" name="">
            <a:extLst xmlns:a="http://schemas.openxmlformats.org/drawingml/2006/main">
              <a:ext uri="{FF2B5EF4-FFF2-40B4-BE49-F238E27FC236}">
                <a16:creationId xmlns:a16="http://schemas.microsoft.com/office/drawing/2014/main" id="{3E7AD630-8970-49A2-A950-13647FA3392B}"/>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383526586"/>
      </p:ext>
    </p:extLst>
  </p:cSld>
</p:sld>
</file>

<file path=ppt/slides/slide2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6F27FA5-29A7-4DCB-BFA0-C30AB244014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4F7066-0B9D-4C3F-8F62-E24527F2506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students, publications, and governance</a:t>
            </a:r>
          </a:p>
        </p:txBody>
      </p:sp>
      <p:sp>
        <p:nvSpPr>
          <p:cNvPr id="3" name="">
            <a:extLst xmlns:a="http://schemas.openxmlformats.org/drawingml/2006/main">
              <a:ext uri="{FF2B5EF4-FFF2-40B4-BE49-F238E27FC236}">
                <a16:creationId xmlns:a16="http://schemas.microsoft.com/office/drawing/2014/main" id="{FF29C23C-FC90-4492-8F39-FE0897EC041C}"/>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Participation expands only after benchmark and review rules are stable</a:t>
            </a:r>
          </a:p>
        </p:txBody>
      </p:sp>
      <p:sp>
        <p:nvSpPr>
          <p:cNvPr id="4" name="">
            <a:extLst xmlns:a="http://schemas.openxmlformats.org/drawingml/2006/main">
              <a:ext uri="{FF2B5EF4-FFF2-40B4-BE49-F238E27FC236}">
                <a16:creationId xmlns:a16="http://schemas.microsoft.com/office/drawing/2014/main" id="{84A7A86D-E342-4480-84BF-08D62F32640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FC622142-BCB8-4D88-8169-42F2B833200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23</a:t>
            </a:r>
          </a:p>
        </p:txBody>
      </p:sp>
      <p:sp>
        <p:nvSpPr>
          <p:cNvPr id="6" name="">
            <a:extLst xmlns:a="http://schemas.openxmlformats.org/drawingml/2006/main">
              <a:ext uri="{FF2B5EF4-FFF2-40B4-BE49-F238E27FC236}">
                <a16:creationId xmlns:a16="http://schemas.microsoft.com/office/drawing/2014/main" id="{960CE24F-237D-481A-AA35-D4AAC99201FF}"/>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13</a:t>
            </a:r>
          </a:p>
        </p:txBody>
      </p:sp>
      <p:sp>
        <p:nvSpPr>
          <p:cNvPr id="7" name="">
            <a:extLst xmlns:a="http://schemas.openxmlformats.org/drawingml/2006/main">
              <a:ext uri="{FF2B5EF4-FFF2-40B4-BE49-F238E27FC236}">
                <a16:creationId xmlns:a16="http://schemas.microsoft.com/office/drawing/2014/main" id="{74D83C3A-01CD-4A0F-907D-8F00AE0753F1}"/>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student code isolated?</a:t>
            </a:r>
          </a:p>
        </p:txBody>
      </p:sp>
      <p:sp>
        <p:nvSpPr>
          <p:cNvPr id="8" name="">
            <a:extLst xmlns:a="http://schemas.openxmlformats.org/drawingml/2006/main">
              <a:ext uri="{FF2B5EF4-FFF2-40B4-BE49-F238E27FC236}">
                <a16:creationId xmlns:a16="http://schemas.microsoft.com/office/drawing/2014/main" id="{E36A13FF-F513-40D0-A338-43F6C4D92846}"/>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Student code runs offline in isolated environments, never on the operational network.</a:t>
            </a:r>
          </a:p>
        </p:txBody>
      </p:sp>
      <p:sp>
        <p:nvSpPr>
          <p:cNvPr id="9" name="">
            <a:extLst xmlns:a="http://schemas.openxmlformats.org/drawingml/2006/main">
              <a:ext uri="{FF2B5EF4-FFF2-40B4-BE49-F238E27FC236}">
                <a16:creationId xmlns:a16="http://schemas.microsoft.com/office/drawing/2014/main" id="{68259CBC-9BEA-4427-B18B-2E75CA817EFC}"/>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8DBEF44F-1A32-4B88-9456-1745EE58BBCF}"/>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14</a:t>
            </a:r>
          </a:p>
        </p:txBody>
      </p:sp>
      <p:sp>
        <p:nvSpPr>
          <p:cNvPr id="11" name="">
            <a:extLst xmlns:a="http://schemas.openxmlformats.org/drawingml/2006/main">
              <a:ext uri="{FF2B5EF4-FFF2-40B4-BE49-F238E27FC236}">
                <a16:creationId xmlns:a16="http://schemas.microsoft.com/office/drawing/2014/main" id="{44281A59-B2A6-4B21-8BB6-ABE2D8C3895A}"/>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are publications, data rights, and IP governed?</a:t>
            </a:r>
          </a:p>
        </p:txBody>
      </p:sp>
      <p:sp>
        <p:nvSpPr>
          <p:cNvPr id="12" name="">
            <a:extLst xmlns:a="http://schemas.openxmlformats.org/drawingml/2006/main">
              <a:ext uri="{FF2B5EF4-FFF2-40B4-BE49-F238E27FC236}">
                <a16:creationId xmlns:a16="http://schemas.microsoft.com/office/drawing/2014/main" id="{30534825-C95C-4501-A7B7-34D4B4384856}"/>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Written University and Biosphere 2 rules govern data, review, authorship, and IP.</a:t>
            </a:r>
          </a:p>
        </p:txBody>
      </p:sp>
      <p:sp>
        <p:nvSpPr>
          <p:cNvPr id="13" name="">
            <a:extLst xmlns:a="http://schemas.openxmlformats.org/drawingml/2006/main">
              <a:ext uri="{FF2B5EF4-FFF2-40B4-BE49-F238E27FC236}">
                <a16:creationId xmlns:a16="http://schemas.microsoft.com/office/drawing/2014/main" id="{630621B5-A1FD-4C79-B751-B0BA022E52A7}"/>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F128D8C6-19B9-4EA7-8519-B80887160127}"/>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15</a:t>
            </a:r>
          </a:p>
        </p:txBody>
      </p:sp>
      <p:sp>
        <p:nvSpPr>
          <p:cNvPr id="15" name="">
            <a:extLst xmlns:a="http://schemas.openxmlformats.org/drawingml/2006/main">
              <a:ext uri="{FF2B5EF4-FFF2-40B4-BE49-F238E27FC236}">
                <a16:creationId xmlns:a16="http://schemas.microsoft.com/office/drawing/2014/main" id="{18A55854-C68F-498F-8AFF-F9C5CDA9547A}"/>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owns and maintains the platform?</a:t>
            </a:r>
          </a:p>
        </p:txBody>
      </p:sp>
      <p:sp>
        <p:nvSpPr>
          <p:cNvPr id="16" name="">
            <a:extLst xmlns:a="http://schemas.openxmlformats.org/drawingml/2006/main">
              <a:ext uri="{FF2B5EF4-FFF2-40B4-BE49-F238E27FC236}">
                <a16:creationId xmlns:a16="http://schemas.microsoft.com/office/drawing/2014/main" id="{3C7FD61E-1615-46EE-9448-17B7F9C00E48}"/>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Phase 2 needs an operational owner, technical maintainer, and release process.</a:t>
            </a:r>
          </a:p>
        </p:txBody>
      </p:sp>
      <p:sp>
        <p:nvSpPr>
          <p:cNvPr id="17" name="">
            <a:extLst xmlns:a="http://schemas.openxmlformats.org/drawingml/2006/main">
              <a:ext uri="{FF2B5EF4-FFF2-40B4-BE49-F238E27FC236}">
                <a16:creationId xmlns:a16="http://schemas.microsoft.com/office/drawing/2014/main" id="{59918A46-383D-469A-9E80-FEF15865E041}"/>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857470711"/>
      </p:ext>
    </p:extLst>
  </p:cSld>
</p:sld>
</file>

<file path=ppt/slides/slide2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F913C6E-8239-4821-8114-99995912811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C93BEFE-B64C-485D-B68A-4329EAFF626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References and live demonstration</a:t>
            </a:r>
          </a:p>
        </p:txBody>
      </p:sp>
      <p:sp>
        <p:nvSpPr>
          <p:cNvPr id="3" name="">
            <a:extLst xmlns:a="http://schemas.openxmlformats.org/drawingml/2006/main">
              <a:ext uri="{FF2B5EF4-FFF2-40B4-BE49-F238E27FC236}">
                <a16:creationId xmlns:a16="http://schemas.microsoft.com/office/drawing/2014/main" id="{5A6095FD-D4D6-44E9-AF3C-42D0C2E87C44}"/>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Authoritative foundations and project resources</a:t>
            </a:r>
          </a:p>
        </p:txBody>
      </p:sp>
      <p:sp>
        <p:nvSpPr>
          <p:cNvPr id="4" name="">
            <a:extLst xmlns:a="http://schemas.openxmlformats.org/drawingml/2006/main">
              <a:ext uri="{FF2B5EF4-FFF2-40B4-BE49-F238E27FC236}">
                <a16:creationId xmlns:a16="http://schemas.microsoft.com/office/drawing/2014/main" id="{23ADF928-5031-43CD-9165-625C688F236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AA52A3B6-BF47-4550-B14C-B1A6155C949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24</a:t>
            </a:r>
          </a:p>
        </p:txBody>
      </p:sp>
      <p:sp>
        <p:nvSpPr>
          <p:cNvPr id="6" name="">
            <a:extLst xmlns:a="http://schemas.openxmlformats.org/drawingml/2006/main">
              <a:ext uri="{FF2B5EF4-FFF2-40B4-BE49-F238E27FC236}">
                <a16:creationId xmlns:a16="http://schemas.microsoft.com/office/drawing/2014/main" id="{E610C9A7-C189-40D3-8C21-B3677727E46E}"/>
              </a:ext>
            </a:extLst>
          </p:cNvPr>
          <p:cNvSpPr>
            <a:spLocks xmlns:a="http://schemas.openxmlformats.org/drawingml/2006/main" noGrp="1"/>
          </p:cNvSpPr>
          <p:nvPr/>
        </p:nvSpPr>
        <p:spPr>
          <a:xfrm xmlns:a="http://schemas.openxmlformats.org/drawingml/2006/main">
            <a:off x="6858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a:t>
            </a:r>
          </a:p>
        </p:txBody>
      </p:sp>
      <p:sp>
        <p:nvSpPr>
          <p:cNvPr id="7" name="">
            <a:extLst xmlns:a="http://schemas.openxmlformats.org/drawingml/2006/main">
              <a:ext uri="{FF2B5EF4-FFF2-40B4-BE49-F238E27FC236}">
                <a16:creationId xmlns:a16="http://schemas.microsoft.com/office/drawing/2014/main" id="{3285389A-2C1B-46CB-91AB-DD4107E798A5}"/>
              </a:ext>
            </a:extLst>
          </p:cNvPr>
          <p:cNvSpPr>
            <a:spLocks xmlns:a="http://schemas.openxmlformats.org/drawingml/2006/main" noGrp="1"/>
          </p:cNvSpPr>
          <p:nvPr/>
        </p:nvSpPr>
        <p:spPr>
          <a:xfrm xmlns:a="http://schemas.openxmlformats.org/drawingml/2006/main">
            <a:off x="6858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2af55264a0a746b8"/>
              </a:rPr>
              <a:t>biosphere2.org/about/about-biosphere-2</a:t>
            </a:r>
          </a:p>
        </p:txBody>
      </p:sp>
      <p:sp>
        <p:nvSpPr>
          <p:cNvPr id="8" name="">
            <a:extLst xmlns:a="http://schemas.openxmlformats.org/drawingml/2006/main">
              <a:ext uri="{FF2B5EF4-FFF2-40B4-BE49-F238E27FC236}">
                <a16:creationId xmlns:a16="http://schemas.microsoft.com/office/drawing/2014/main" id="{1E12CD9C-3A98-4450-8464-E049BE3E7C7E}"/>
              </a:ext>
            </a:extLst>
          </p:cNvPr>
          <p:cNvSpPr>
            <a:spLocks xmlns:a="http://schemas.openxmlformats.org/drawingml/2006/main" noGrp="1"/>
          </p:cNvSpPr>
          <p:nvPr/>
        </p:nvSpPr>
        <p:spPr>
          <a:xfrm xmlns:a="http://schemas.openxmlformats.org/drawingml/2006/main">
            <a:off x="6858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 energy and water</a:t>
            </a:r>
          </a:p>
        </p:txBody>
      </p:sp>
      <p:sp>
        <p:nvSpPr>
          <p:cNvPr id="9" name="">
            <a:extLst xmlns:a="http://schemas.openxmlformats.org/drawingml/2006/main">
              <a:ext uri="{FF2B5EF4-FFF2-40B4-BE49-F238E27FC236}">
                <a16:creationId xmlns:a16="http://schemas.microsoft.com/office/drawing/2014/main" id="{4007A283-6871-48AF-8311-D44C4DF6EA12}"/>
              </a:ext>
            </a:extLst>
          </p:cNvPr>
          <p:cNvSpPr>
            <a:spLocks xmlns:a="http://schemas.openxmlformats.org/drawingml/2006/main" noGrp="1"/>
          </p:cNvSpPr>
          <p:nvPr/>
        </p:nvSpPr>
        <p:spPr>
          <a:xfrm xmlns:a="http://schemas.openxmlformats.org/drawingml/2006/main">
            <a:off x="6858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c37c224b8f104fb7"/>
              </a:rPr>
              <a:t>biosphere2.org/research/user-facility-information/energy-and-water</a:t>
            </a:r>
          </a:p>
        </p:txBody>
      </p:sp>
      <p:sp>
        <p:nvSpPr>
          <p:cNvPr id="10" name="">
            <a:extLst xmlns:a="http://schemas.openxmlformats.org/drawingml/2006/main">
              <a:ext uri="{FF2B5EF4-FFF2-40B4-BE49-F238E27FC236}">
                <a16:creationId xmlns:a16="http://schemas.microsoft.com/office/drawing/2014/main" id="{0EA9D6B3-B059-48C2-9059-755B96F01A07}"/>
              </a:ext>
            </a:extLst>
          </p:cNvPr>
          <p:cNvSpPr>
            <a:spLocks xmlns:a="http://schemas.openxmlformats.org/drawingml/2006/main" noGrp="1"/>
          </p:cNvSpPr>
          <p:nvPr/>
        </p:nvSpPr>
        <p:spPr>
          <a:xfrm xmlns:a="http://schemas.openxmlformats.org/drawingml/2006/main">
            <a:off x="6858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BOPTEST</a:t>
            </a:r>
          </a:p>
        </p:txBody>
      </p:sp>
      <p:sp>
        <p:nvSpPr>
          <p:cNvPr id="11" name="">
            <a:extLst xmlns:a="http://schemas.openxmlformats.org/drawingml/2006/main">
              <a:ext uri="{FF2B5EF4-FFF2-40B4-BE49-F238E27FC236}">
                <a16:creationId xmlns:a16="http://schemas.microsoft.com/office/drawing/2014/main" id="{F3EC180F-C673-458E-9BE6-DE1294012652}"/>
              </a:ext>
            </a:extLst>
          </p:cNvPr>
          <p:cNvSpPr>
            <a:spLocks xmlns:a="http://schemas.openxmlformats.org/drawingml/2006/main" noGrp="1"/>
          </p:cNvSpPr>
          <p:nvPr/>
        </p:nvSpPr>
        <p:spPr>
          <a:xfrm xmlns:a="http://schemas.openxmlformats.org/drawingml/2006/main">
            <a:off x="6858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fc5357ee08c8408c"/>
              </a:rPr>
              <a:t>ibpsa.github.io/project1-boptest</a:t>
            </a:r>
          </a:p>
        </p:txBody>
      </p:sp>
      <p:sp>
        <p:nvSpPr>
          <p:cNvPr id="12" name="">
            <a:extLst xmlns:a="http://schemas.openxmlformats.org/drawingml/2006/main">
              <a:ext uri="{FF2B5EF4-FFF2-40B4-BE49-F238E27FC236}">
                <a16:creationId xmlns:a16="http://schemas.microsoft.com/office/drawing/2014/main" id="{DEA635AB-0610-40CE-BFF5-BCFA4B2E1969}"/>
              </a:ext>
            </a:extLst>
          </p:cNvPr>
          <p:cNvSpPr>
            <a:spLocks xmlns:a="http://schemas.openxmlformats.org/drawingml/2006/main" noGrp="1"/>
          </p:cNvSpPr>
          <p:nvPr/>
        </p:nvSpPr>
        <p:spPr>
          <a:xfrm xmlns:a="http://schemas.openxmlformats.org/drawingml/2006/main">
            <a:off x="685800" y="4581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EnergyPlus</a:t>
            </a:r>
          </a:p>
        </p:txBody>
      </p:sp>
      <p:sp>
        <p:nvSpPr>
          <p:cNvPr id="13" name="">
            <a:extLst xmlns:a="http://schemas.openxmlformats.org/drawingml/2006/main">
              <a:ext uri="{FF2B5EF4-FFF2-40B4-BE49-F238E27FC236}">
                <a16:creationId xmlns:a16="http://schemas.microsoft.com/office/drawing/2014/main" id="{DD5F74B9-3663-4822-9F96-94FDFD3C1DEF}"/>
              </a:ext>
            </a:extLst>
          </p:cNvPr>
          <p:cNvSpPr>
            <a:spLocks xmlns:a="http://schemas.openxmlformats.org/drawingml/2006/main" noGrp="1"/>
          </p:cNvSpPr>
          <p:nvPr/>
        </p:nvSpPr>
        <p:spPr>
          <a:xfrm xmlns:a="http://schemas.openxmlformats.org/drawingml/2006/main">
            <a:off x="685800" y="490537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071cb4309f004518"/>
              </a:rPr>
              <a:t>energyplus.net</a:t>
            </a:r>
          </a:p>
        </p:txBody>
      </p:sp>
      <p:sp>
        <p:nvSpPr>
          <p:cNvPr id="14" name="">
            <a:extLst xmlns:a="http://schemas.openxmlformats.org/drawingml/2006/main">
              <a:ext uri="{FF2B5EF4-FFF2-40B4-BE49-F238E27FC236}">
                <a16:creationId xmlns:a16="http://schemas.microsoft.com/office/drawing/2014/main" id="{B1CF6E71-7750-4B8A-BC87-24D6D1D242C3}"/>
              </a:ext>
            </a:extLst>
          </p:cNvPr>
          <p:cNvSpPr>
            <a:spLocks xmlns:a="http://schemas.openxmlformats.org/drawingml/2006/main" noGrp="1"/>
          </p:cNvSpPr>
          <p:nvPr/>
        </p:nvSpPr>
        <p:spPr>
          <a:xfrm xmlns:a="http://schemas.openxmlformats.org/drawingml/2006/main">
            <a:off x="49530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Modelica Buildings Library</a:t>
            </a:r>
          </a:p>
        </p:txBody>
      </p:sp>
      <p:sp>
        <p:nvSpPr>
          <p:cNvPr id="15" name="">
            <a:extLst xmlns:a="http://schemas.openxmlformats.org/drawingml/2006/main">
              <a:ext uri="{FF2B5EF4-FFF2-40B4-BE49-F238E27FC236}">
                <a16:creationId xmlns:a16="http://schemas.microsoft.com/office/drawing/2014/main" id="{99E7C6E1-0658-4FE1-9A0C-9E6D95ABBAF4}"/>
              </a:ext>
            </a:extLst>
          </p:cNvPr>
          <p:cNvSpPr>
            <a:spLocks xmlns:a="http://schemas.openxmlformats.org/drawingml/2006/main" noGrp="1"/>
          </p:cNvSpPr>
          <p:nvPr/>
        </p:nvSpPr>
        <p:spPr>
          <a:xfrm xmlns:a="http://schemas.openxmlformats.org/drawingml/2006/main">
            <a:off x="49530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6dbcec56198b4db8"/>
              </a:rPr>
              <a:t>simulationresearch.lbl.gov/modelica</a:t>
            </a:r>
          </a:p>
        </p:txBody>
      </p:sp>
      <p:sp>
        <p:nvSpPr>
          <p:cNvPr id="16" name="">
            <a:extLst xmlns:a="http://schemas.openxmlformats.org/drawingml/2006/main">
              <a:ext uri="{FF2B5EF4-FFF2-40B4-BE49-F238E27FC236}">
                <a16:creationId xmlns:a16="http://schemas.microsoft.com/office/drawing/2014/main" id="{143414C4-65B9-4BD2-A184-A27782711F1F}"/>
              </a:ext>
            </a:extLst>
          </p:cNvPr>
          <p:cNvSpPr>
            <a:spLocks xmlns:a="http://schemas.openxmlformats.org/drawingml/2006/main" noGrp="1"/>
          </p:cNvSpPr>
          <p:nvPr/>
        </p:nvSpPr>
        <p:spPr>
          <a:xfrm xmlns:a="http://schemas.openxmlformats.org/drawingml/2006/main">
            <a:off x="49530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Functional Mock-up Interface</a:t>
            </a:r>
          </a:p>
        </p:txBody>
      </p:sp>
      <p:sp>
        <p:nvSpPr>
          <p:cNvPr id="17" name="">
            <a:extLst xmlns:a="http://schemas.openxmlformats.org/drawingml/2006/main">
              <a:ext uri="{FF2B5EF4-FFF2-40B4-BE49-F238E27FC236}">
                <a16:creationId xmlns:a16="http://schemas.microsoft.com/office/drawing/2014/main" id="{FB73981E-7BC7-4AF8-8511-BDAEAC2296D9}"/>
              </a:ext>
            </a:extLst>
          </p:cNvPr>
          <p:cNvSpPr>
            <a:spLocks xmlns:a="http://schemas.openxmlformats.org/drawingml/2006/main" noGrp="1"/>
          </p:cNvSpPr>
          <p:nvPr/>
        </p:nvSpPr>
        <p:spPr>
          <a:xfrm xmlns:a="http://schemas.openxmlformats.org/drawingml/2006/main">
            <a:off x="49530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1932a0f60e00446c"/>
              </a:rPr>
              <a:t>fmi-standard.org</a:t>
            </a:r>
          </a:p>
        </p:txBody>
      </p:sp>
      <p:sp>
        <p:nvSpPr>
          <p:cNvPr id="18" name="">
            <a:extLst xmlns:a="http://schemas.openxmlformats.org/drawingml/2006/main">
              <a:ext uri="{FF2B5EF4-FFF2-40B4-BE49-F238E27FC236}">
                <a16:creationId xmlns:a16="http://schemas.microsoft.com/office/drawing/2014/main" id="{9228F281-C6F6-4911-8F21-CD86850FE386}"/>
              </a:ext>
            </a:extLst>
          </p:cNvPr>
          <p:cNvSpPr>
            <a:spLocks xmlns:a="http://schemas.openxmlformats.org/drawingml/2006/main" noGrp="1"/>
          </p:cNvSpPr>
          <p:nvPr/>
        </p:nvSpPr>
        <p:spPr>
          <a:xfrm xmlns:a="http://schemas.openxmlformats.org/drawingml/2006/main">
            <a:off x="49530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ASHRAE Standard 140</a:t>
            </a:r>
          </a:p>
        </p:txBody>
      </p:sp>
      <p:sp>
        <p:nvSpPr>
          <p:cNvPr id="19" name="">
            <a:extLst xmlns:a="http://schemas.openxmlformats.org/drawingml/2006/main">
              <a:ext uri="{FF2B5EF4-FFF2-40B4-BE49-F238E27FC236}">
                <a16:creationId xmlns:a16="http://schemas.microsoft.com/office/drawing/2014/main" id="{E757CE48-0AEA-446B-BB94-2C4EF3495F95}"/>
              </a:ext>
            </a:extLst>
          </p:cNvPr>
          <p:cNvSpPr>
            <a:spLocks xmlns:a="http://schemas.openxmlformats.org/drawingml/2006/main" noGrp="1"/>
          </p:cNvSpPr>
          <p:nvPr/>
        </p:nvSpPr>
        <p:spPr>
          <a:xfrm xmlns:a="http://schemas.openxmlformats.org/drawingml/2006/main">
            <a:off x="49530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15a9135d24d2480d"/>
              </a:rPr>
              <a:t>data.ashrae.org/standard140</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a53051f0a49342dd"/>
          <a:stretch xmlns:a="http://schemas.openxmlformats.org/drawingml/2006/main"/>
        </p:blipFill>
        <p:spPr>
          <a:xfrm xmlns:a="http://schemas.openxmlformats.org/drawingml/2006/main">
            <a:off x="9353550" y="1847850"/>
            <a:ext cx="1981200" cy="19812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414FE2F3-A153-491E-91F6-9BD36752A4AB}"/>
              </a:ext>
            </a:extLst>
          </p:cNvPr>
          <p:cNvSpPr>
            <a:spLocks xmlns:a="http://schemas.openxmlformats.org/drawingml/2006/main" noGrp="1"/>
          </p:cNvSpPr>
          <p:nvPr/>
        </p:nvSpPr>
        <p:spPr>
          <a:xfrm xmlns:a="http://schemas.openxmlformats.org/drawingml/2006/main">
            <a:off x="9048750" y="40767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LIVE ILLUSTRATIVE DEMO</a:t>
            </a:r>
          </a:p>
        </p:txBody>
      </p:sp>
      <p:sp>
        <p:nvSpPr>
          <p:cNvPr id="22" name="">
            <a:extLst xmlns:a="http://schemas.openxmlformats.org/drawingml/2006/main">
              <a:ext uri="{FF2B5EF4-FFF2-40B4-BE49-F238E27FC236}">
                <a16:creationId xmlns:a16="http://schemas.microsoft.com/office/drawing/2014/main" id="{79ECE56C-BDA3-479F-805A-9E49040E10E9}"/>
              </a:ext>
            </a:extLst>
          </p:cNvPr>
          <p:cNvSpPr>
            <a:spLocks xmlns:a="http://schemas.openxmlformats.org/drawingml/2006/main" noGrp="1"/>
          </p:cNvSpPr>
          <p:nvPr/>
        </p:nvSpPr>
        <p:spPr>
          <a:xfrm xmlns:a="http://schemas.openxmlformats.org/drawingml/2006/main">
            <a:off x="8972550" y="4457700"/>
            <a:ext cx="2724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hlinkClick xmlns:r="http://schemas.openxmlformats.org/officeDocument/2006/relationships" r:id="R95adadf794f74500"/>
              </a:rPr>
              <a:t>rainforest-virtual-proving-ground</a:t>
            </a:r>
          </a:p>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rPr>
              <a:t>.bolt.linkpc.net</a:t>
            </a:r>
          </a:p>
        </p:txBody>
      </p:sp>
      <p:sp>
        <p:nvSpPr>
          <p:cNvPr id="23" name="">
            <a:extLst xmlns:a="http://schemas.openxmlformats.org/drawingml/2006/main">
              <a:ext uri="{FF2B5EF4-FFF2-40B4-BE49-F238E27FC236}">
                <a16:creationId xmlns:a16="http://schemas.microsoft.com/office/drawing/2014/main" id="{188EA0B9-8622-48CF-981C-9769A753B69A}"/>
              </a:ext>
            </a:extLst>
          </p:cNvPr>
          <p:cNvSpPr>
            <a:spLocks xmlns:a="http://schemas.openxmlformats.org/drawingml/2006/main" noGrp="1"/>
          </p:cNvSpPr>
          <p:nvPr/>
        </p:nvSpPr>
        <p:spPr>
          <a:xfrm xmlns:a="http://schemas.openxmlformats.org/drawingml/2006/main">
            <a:off x="4953000" y="5295900"/>
            <a:ext cx="6667500" cy="609600"/>
          </a:xfrm>
          <a:prstGeom xmlns:a="http://schemas.openxmlformats.org/drawingml/2006/main" prst="roundRect">
            <a:avLst>
              <a:gd name="adj" fmla="val 25000"/>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84709"/>
          </a:bodyPr>
          <a:lstStyle xmlns:a="http://schemas.openxmlformats.org/drawingml/2006/main"/>
          <a:p xmlns:a="http://schemas.openxmlformats.org/drawingml/2006/main">
            <a:pPr algn="ctr">
              <a:lnSpc>
                <a:spcPct val="100000"/>
              </a:lnSpc>
              <a:buNone/>
              <a:defRPr sz="1425" b="1">
                <a:solidFill>
                  <a:srgbClr val="10251D"/>
                </a:solidFill>
                <a:latin typeface="Arimo"/>
                <a:ea typeface="Arimo"/>
                <a:cs typeface="Arimo"/>
              </a:defRPr>
            </a:pPr>
            <a:r>
              <a:rPr sz="1425" b="1">
                <a:solidFill>
                  <a:srgbClr val="10251D"/>
                </a:solidFill>
                <a:latin typeface="Arimo"/>
                <a:ea typeface="Arimo"/>
                <a:cs typeface="Arimo"/>
              </a:rPr>
              <a:t>Project sources: DigitalTwin control and sensor inventories, data-pipeline code, and current interface source</a:t>
            </a:r>
          </a:p>
        </p:txBody>
      </p:sp>
    </p:spTree>
    <p:extLst>
      <p:ext uri="{BB962C8B-B14F-4D97-AF65-F5344CB8AC3E}">
        <p14:creationId xmlns:p14="http://schemas.microsoft.com/office/powerpoint/2010/main" val="2028648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2026-09-08T03:59:28.5020000Z</dcterms:created>
  <dcterms:modified xsi:type="dcterms:W3CDTF">2026-09-08T03:59:28.5030000Z</dcterms:modified>
</coreProperties>
</file>